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hands a judge the listener phone.
"Every accessibility tool puts the burden on the deaf person. We built the other side. Hold this."
Fallback: if Deepgram acts up, switch to ?replay=demo2 — it reproduces the exact same cards deterministically.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Q1: Who's speaking for me — what if it says something I didn't mean?
You pick the line and can edit it before it sends. It's autocomplete for the moment you're locked out of, not autopilot.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Q10: Why family, and not work?
The numbers said so first: 56% say home with family is where hearing well matters most, against 21% for work. And a family will put their phones down for you in a way a client on a call never 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Lamp: their phone — "Go ahead" in green, "One at a time" in amber when two people overlap. No red state.
Listener: your phone — one sentence, the name, and the tone when it isn't neutral (e.g. Mom · TEASING). Say something is one tap.
Map: where the conversation went — who talked to whom, about what, and how it felt.
Q2: Doesn't the amber light shame the fast talker? It's amber; there is no red state — ambient light on their own phones, a mirror, not a scolding.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you know the tone is right?
It's the same classifier that knows the line was for you; we show it only when it isn't neutral, and voice loudness and speed feed it.
Sentence under 1 second. Tone in 0.7 s. Plans refreshed every 10 s. Laugh detection needs no audio model. Nothing is stored.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Q8: Why not just use Ava or Otter?
Ava gets you named mics from every phone — genuinely good, and we don't compete on it. Otter and Zoom summarize after the fact. Neither one has ever turned around and told the people talking to slow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Why not build for sign-first Deaf users?
Scoped out on purpose. Sign-first Deaf users are often better served by an interpreter or a full visual language — a different, well-served problem. We target hard-of-hearing and late-deafened adults in rooms full of hearing people.
Close: "One sentence. One word on their phones. One tap. Ava does the mics. We do the other side of the table." Then swipe to the map: "and this is where the conversation went."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ehima.com/wp-content/uploads/2024/03/Getting-the-numbers-right-on-Hearing-Loss-Hearing-Care-and-Hearing-Aid-Use-in-Europe-2024.pdf" TargetMode="External"/><Relationship Id="rId2" Type="http://schemas.openxmlformats.org/officeDocument/2006/relationships/hyperlink" Target="https://www.ehima.com/wp-content/uploads/2022/11/EuroTrak_Italy_2022.pdf" TargetMode="External"/><Relationship Id="rId3" Type="http://schemas.openxmlformats.org/officeDocument/2006/relationships/hyperlink" Target="https://pmc.ncbi.nlm.nih.gov/articles/PMC7040021/" TargetMode="External"/><Relationship Id="rId4" Type="http://schemas.openxmlformats.org/officeDocument/2006/relationships/hyperlink" Target="https://www.reddit.com/r/deaf/comments/1r2797f/" TargetMode="External"/><Relationship Id="rId5" Type="http://schemas.openxmlformats.org/officeDocument/2006/relationships/hyperlink" Target="https://www.reddit.com/r/deaf/comments/1fh8h7h/" TargetMode="External"/><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EEE2"/>
        </a:solidFill>
      </p:bgPr>
    </p:bg>
    <p:spTree>
      <p:nvGrpSpPr>
        <p:cNvPr id="1" name=""/>
        <p:cNvGrpSpPr/>
        <p:nvPr/>
      </p:nvGrpSpPr>
      <p:grpSpPr>
        <a:xfrm>
          <a:off x="0" y="0"/>
          <a:ext cx="0" cy="0"/>
          <a:chOff x="0" y="0"/>
          <a:chExt cx="0" cy="0"/>
        </a:xfrm>
      </p:grpSpPr>
      <p:sp>
        <p:nvSpPr>
          <p:cNvPr id="3" name="Text 0"/>
          <p:cNvSpPr/>
          <p:nvPr/>
        </p:nvSpPr>
        <p:spPr>
          <a:xfrm>
            <a:off x="685800" y="548640"/>
            <a:ext cx="9144000" cy="274320"/>
          </a:xfrm>
          <a:prstGeom prst="rect">
            <a:avLst/>
          </a:prstGeom>
          <a:noFill/>
          <a:ln/>
        </p:spPr>
        <p:txBody>
          <a:bodyPr wrap="square" lIns="0" tIns="0" rIns="0" bIns="0" rtlCol="0" anchor="t"/>
          <a:lstStyle/>
          <a:p>
            <a:pPr indent="0" marL="0">
              <a:buNone/>
            </a:pPr>
            <a:r>
              <a:rPr lang="en-US" sz="1100" spc="300" kern="0" dirty="0">
                <a:solidFill>
                  <a:srgbClr val="5E554B"/>
                </a:solidFill>
                <a:latin typeface="Consolas" pitchFamily="34" charset="0"/>
                <a:ea typeface="Consolas" pitchFamily="34" charset="-122"/>
                <a:cs typeface="Consolas" pitchFamily="34" charset="-120"/>
              </a:rPr>
              <a:t>BAINSA HACKATHON 2026</a:t>
            </a:r>
            <a:endParaRPr lang="en-US" sz="1100" dirty="0"/>
          </a:p>
        </p:txBody>
      </p:sp>
      <p:sp>
        <p:nvSpPr>
          <p:cNvPr id="4" name="Text 1"/>
          <p:cNvSpPr/>
          <p:nvPr/>
        </p:nvSpPr>
        <p:spPr>
          <a:xfrm>
            <a:off x="685800" y="1828800"/>
            <a:ext cx="10972800" cy="2011680"/>
          </a:xfrm>
          <a:prstGeom prst="rect">
            <a:avLst/>
          </a:prstGeom>
          <a:noFill/>
          <a:ln/>
        </p:spPr>
        <p:txBody>
          <a:bodyPr wrap="square" lIns="0" tIns="0" rIns="0" bIns="0" rtlCol="0" anchor="ctr"/>
          <a:lstStyle/>
          <a:p>
            <a:pPr indent="0" marL="0">
              <a:buNone/>
            </a:pPr>
            <a:r>
              <a:rPr lang="en-US" sz="11000" i="1" dirty="0">
                <a:solidFill>
                  <a:srgbClr val="17130F"/>
                </a:solidFill>
                <a:latin typeface="Georgia" pitchFamily="34" charset="0"/>
                <a:ea typeface="Georgia" pitchFamily="34" charset="-122"/>
                <a:cs typeface="Georgia" pitchFamily="34" charset="-120"/>
              </a:rPr>
              <a:t>One at a time.</a:t>
            </a:r>
            <a:endParaRPr lang="en-US" sz="11000" dirty="0"/>
          </a:p>
        </p:txBody>
      </p:sp>
      <p:sp>
        <p:nvSpPr>
          <p:cNvPr id="5" name="Text 2"/>
          <p:cNvSpPr/>
          <p:nvPr/>
        </p:nvSpPr>
        <p:spPr>
          <a:xfrm>
            <a:off x="685800" y="3977640"/>
            <a:ext cx="10058400" cy="731520"/>
          </a:xfrm>
          <a:prstGeom prst="rect">
            <a:avLst/>
          </a:prstGeom>
          <a:noFill/>
          <a:ln/>
        </p:spPr>
        <p:txBody>
          <a:bodyPr wrap="square" lIns="0" tIns="0" rIns="0" bIns="0" rtlCol="0" anchor="t"/>
          <a:lstStyle/>
          <a:p>
            <a:pPr indent="0" marL="0">
              <a:buNone/>
            </a:pPr>
            <a:r>
              <a:rPr lang="en-US" sz="2800" i="1" dirty="0">
                <a:solidFill>
                  <a:srgbClr val="5E554B"/>
                </a:solidFill>
                <a:latin typeface="Georgia" pitchFamily="34" charset="0"/>
                <a:ea typeface="Georgia" pitchFamily="34" charset="-122"/>
                <a:cs typeface="Georgia" pitchFamily="34" charset="-120"/>
              </a:rPr>
              <a:t>The first accessibility tool for the hearing side of the table.</a:t>
            </a:r>
            <a:endParaRPr lang="en-US" sz="2800" dirty="0"/>
          </a:p>
        </p:txBody>
      </p:sp>
      <p:sp>
        <p:nvSpPr>
          <p:cNvPr id="6" name="Shape 3"/>
          <p:cNvSpPr/>
          <p:nvPr/>
        </p:nvSpPr>
        <p:spPr>
          <a:xfrm>
            <a:off x="685800" y="5989320"/>
            <a:ext cx="10820095" cy="0"/>
          </a:xfrm>
          <a:prstGeom prst="line">
            <a:avLst/>
          </a:prstGeom>
          <a:noFill/>
          <a:ln w="9525">
            <a:solidFill>
              <a:srgbClr val="D9D0C0"/>
            </a:solidFill>
            <a:prstDash val="solid"/>
          </a:ln>
        </p:spPr>
      </p:sp>
      <p:sp>
        <p:nvSpPr>
          <p:cNvPr id="7" name="Text 4"/>
          <p:cNvSpPr/>
          <p:nvPr/>
        </p:nvSpPr>
        <p:spPr>
          <a:xfrm>
            <a:off x="685800" y="6144768"/>
            <a:ext cx="7315200" cy="274320"/>
          </a:xfrm>
          <a:prstGeom prst="rect">
            <a:avLst/>
          </a:prstGeom>
          <a:noFill/>
          <a:ln/>
        </p:spPr>
        <p:txBody>
          <a:bodyPr wrap="square" lIns="0" tIns="0" rIns="0" bIns="0" rtlCol="0" anchor="t"/>
          <a:lstStyle/>
          <a:p>
            <a:pPr indent="0" marL="0">
              <a:buNone/>
            </a:pPr>
            <a:r>
              <a:rPr lang="en-US" sz="1100" spc="300" kern="0" dirty="0">
                <a:solidFill>
                  <a:srgbClr val="5E554B"/>
                </a:solidFill>
                <a:latin typeface="Consolas" pitchFamily="34" charset="0"/>
                <a:ea typeface="Consolas" pitchFamily="34" charset="-122"/>
                <a:cs typeface="Consolas" pitchFamily="34" charset="-120"/>
              </a:rPr>
              <a:t>TEAM · [NAME] · [NAME] · [NAME] · [NAME]</a:t>
            </a:r>
            <a:endParaRPr lang="en-US" sz="1100" dirty="0"/>
          </a:p>
        </p:txBody>
      </p:sp>
      <p:sp>
        <p:nvSpPr>
          <p:cNvPr id="8" name="Text 5"/>
          <p:cNvSpPr/>
          <p:nvPr/>
        </p:nvSpPr>
        <p:spPr>
          <a:xfrm>
            <a:off x="8762695" y="6144768"/>
            <a:ext cx="2743200" cy="274320"/>
          </a:xfrm>
          <a:prstGeom prst="rect">
            <a:avLst/>
          </a:prstGeom>
          <a:noFill/>
          <a:ln/>
        </p:spPr>
        <p:txBody>
          <a:bodyPr wrap="square" lIns="0" tIns="0" rIns="0" bIns="0" rtlCol="0" anchor="t"/>
          <a:lstStyle/>
          <a:p>
            <a:pPr algn="r" indent="0" marL="0">
              <a:buNone/>
            </a:pPr>
            <a:r>
              <a:rPr lang="en-US" sz="1100" spc="300" kern="0" dirty="0">
                <a:solidFill>
                  <a:srgbClr val="5E554B"/>
                </a:solidFill>
                <a:latin typeface="Consolas" pitchFamily="34" charset="0"/>
                <a:ea typeface="Consolas" pitchFamily="34" charset="-122"/>
                <a:cs typeface="Consolas" pitchFamily="34" charset="-120"/>
              </a:rPr>
              <a:t>MILAN ·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EEE2"/>
        </a:solidFill>
      </p:bgPr>
    </p:bg>
    <p:spTree>
      <p:nvGrpSpPr>
        <p:cNvPr id="1" name=""/>
        <p:cNvGrpSpPr/>
        <p:nvPr/>
      </p:nvGrpSpPr>
      <p:grpSpPr>
        <a:xfrm>
          <a:off x="0" y="0"/>
          <a:ext cx="0" cy="0"/>
          <a:chOff x="0" y="0"/>
          <a:chExt cx="0" cy="0"/>
        </a:xfrm>
      </p:grpSpPr>
      <p:sp>
        <p:nvSpPr>
          <p:cNvPr id="3" name="Text 0"/>
          <p:cNvSpPr/>
          <p:nvPr/>
        </p:nvSpPr>
        <p:spPr>
          <a:xfrm>
            <a:off x="685800" y="457200"/>
            <a:ext cx="9144000" cy="274320"/>
          </a:xfrm>
          <a:prstGeom prst="rect">
            <a:avLst/>
          </a:prstGeom>
          <a:noFill/>
          <a:ln/>
        </p:spPr>
        <p:txBody>
          <a:bodyPr wrap="square" lIns="0" tIns="0" rIns="0" bIns="0" rtlCol="0" anchor="t"/>
          <a:lstStyle/>
          <a:p>
            <a:pPr indent="0" marL="0">
              <a:buNone/>
            </a:pPr>
            <a:r>
              <a:rPr lang="en-US" sz="1100" spc="300" kern="0" dirty="0">
                <a:solidFill>
                  <a:srgbClr val="5E554B"/>
                </a:solidFill>
                <a:latin typeface="Consolas" pitchFamily="34" charset="0"/>
                <a:ea typeface="Consolas" pitchFamily="34" charset="-122"/>
                <a:cs typeface="Consolas" pitchFamily="34" charset="-120"/>
              </a:rPr>
              <a:t>THE FLIP</a:t>
            </a:r>
            <a:endParaRPr lang="en-US" sz="1100" dirty="0"/>
          </a:p>
        </p:txBody>
      </p:sp>
      <p:sp>
        <p:nvSpPr>
          <p:cNvPr id="4" name="Text 1"/>
          <p:cNvSpPr/>
          <p:nvPr/>
        </p:nvSpPr>
        <p:spPr>
          <a:xfrm>
            <a:off x="685800" y="822960"/>
            <a:ext cx="10820095" cy="822960"/>
          </a:xfrm>
          <a:prstGeom prst="rect">
            <a:avLst/>
          </a:prstGeom>
          <a:noFill/>
          <a:ln/>
        </p:spPr>
        <p:txBody>
          <a:bodyPr wrap="square" lIns="0" tIns="0" rIns="0" bIns="0" rtlCol="0" anchor="t"/>
          <a:lstStyle/>
          <a:p>
            <a:pPr indent="0" marL="0">
              <a:buNone/>
            </a:pPr>
            <a:r>
              <a:rPr lang="en-US" sz="3200" i="1" dirty="0">
                <a:solidFill>
                  <a:srgbClr val="17130F"/>
                </a:solidFill>
                <a:latin typeface="Georgia" pitchFamily="34" charset="0"/>
                <a:ea typeface="Georgia" pitchFamily="34" charset="-122"/>
                <a:cs typeface="Georgia" pitchFamily="34" charset="-120"/>
              </a:rPr>
              <a:t>Every tool puts the work on the person who can't hear.</a:t>
            </a:r>
            <a:endParaRPr lang="en-US" sz="3200" dirty="0"/>
          </a:p>
        </p:txBody>
      </p:sp>
      <p:sp>
        <p:nvSpPr>
          <p:cNvPr id="5" name="Text 2"/>
          <p:cNvSpPr/>
          <p:nvPr/>
        </p:nvSpPr>
        <p:spPr>
          <a:xfrm>
            <a:off x="685800" y="1600200"/>
            <a:ext cx="10607040" cy="1005840"/>
          </a:xfrm>
          <a:prstGeom prst="rect">
            <a:avLst/>
          </a:prstGeom>
          <a:noFill/>
          <a:ln/>
        </p:spPr>
        <p:txBody>
          <a:bodyPr wrap="square" lIns="0" tIns="0" rIns="0" bIns="0" rtlCol="0" anchor="t"/>
          <a:lstStyle/>
          <a:p>
            <a:pPr indent="0" marL="0">
              <a:buNone/>
            </a:pPr>
            <a:r>
              <a:rPr lang="en-US" sz="2100" dirty="0">
                <a:solidFill>
                  <a:srgbClr val="17130F"/>
                </a:solidFill>
                <a:latin typeface="Calibri" pitchFamily="34" charset="0"/>
                <a:ea typeface="Calibri" pitchFamily="34" charset="-122"/>
                <a:cs typeface="Calibri" pitchFamily="34" charset="-120"/>
              </a:rPr>
              <a:t>They read faster, ask again, and get told “never mind.” Nobody asks the table to change anything. The people talking never find out they lost someone. </a:t>
            </a:r>
            <a:pPr indent="0" marL="0">
              <a:buNone/>
            </a:pPr>
            <a:r>
              <a:rPr lang="en-US" sz="2100" i="1" dirty="0">
                <a:solidFill>
                  <a:srgbClr val="17130F"/>
                </a:solidFill>
                <a:latin typeface="Georgia" pitchFamily="34" charset="0"/>
                <a:ea typeface="Georgia" pitchFamily="34" charset="-122"/>
                <a:cs typeface="Georgia" pitchFamily="34" charset="-120"/>
              </a:rPr>
              <a:t>We built the tool for the table.</a:t>
            </a:r>
            <a:endParaRPr lang="en-US" sz="2100" dirty="0"/>
          </a:p>
        </p:txBody>
      </p:sp>
      <p:sp>
        <p:nvSpPr>
          <p:cNvPr id="6" name="Shape 3"/>
          <p:cNvSpPr/>
          <p:nvPr/>
        </p:nvSpPr>
        <p:spPr>
          <a:xfrm>
            <a:off x="685800" y="2971800"/>
            <a:ext cx="10820095" cy="0"/>
          </a:xfrm>
          <a:prstGeom prst="line">
            <a:avLst/>
          </a:prstGeom>
          <a:noFill/>
          <a:ln w="9525">
            <a:solidFill>
              <a:srgbClr val="D9D0C0"/>
            </a:solidFill>
            <a:prstDash val="solid"/>
          </a:ln>
        </p:spPr>
      </p:sp>
      <p:sp>
        <p:nvSpPr>
          <p:cNvPr id="7" name="Text 4"/>
          <p:cNvSpPr/>
          <p:nvPr/>
        </p:nvSpPr>
        <p:spPr>
          <a:xfrm>
            <a:off x="685800" y="3246120"/>
            <a:ext cx="5120640" cy="2743200"/>
          </a:xfrm>
          <a:prstGeom prst="rect">
            <a:avLst/>
          </a:prstGeom>
          <a:noFill/>
          <a:ln/>
        </p:spPr>
        <p:txBody>
          <a:bodyPr wrap="square" lIns="0" tIns="0" rIns="0" bIns="0" rtlCol="0" anchor="t"/>
          <a:lstStyle/>
          <a:p>
            <a:pPr indent="0" marL="0">
              <a:lnSpc>
                <a:spcPct val="110000"/>
              </a:lnSpc>
              <a:buNone/>
            </a:pPr>
            <a:r>
              <a:rPr lang="en-US" sz="1900" i="1" dirty="0">
                <a:solidFill>
                  <a:srgbClr val="17130F"/>
                </a:solidFill>
                <a:latin typeface="Georgia" pitchFamily="34" charset="0"/>
                <a:ea typeface="Georgia" pitchFamily="34" charset="-122"/>
                <a:cs typeface="Georgia" pitchFamily="34" charset="-120"/>
              </a:rPr>
              <a:t>“I've started just nodding along even when I have no idea what was decided. My boss mentioned something about a new client project last Thursday and I smiled and agreed but I genuinely don't know what I signed up for.”</a:t>
            </a:r>
            <a:endParaRPr lang="en-US" sz="1900" dirty="0"/>
          </a:p>
        </p:txBody>
      </p:sp>
      <p:sp>
        <p:nvSpPr>
          <p:cNvPr id="8" name="Text 5"/>
          <p:cNvSpPr/>
          <p:nvPr/>
        </p:nvSpPr>
        <p:spPr>
          <a:xfrm>
            <a:off x="685800" y="5989320"/>
            <a:ext cx="5120640" cy="320040"/>
          </a:xfrm>
          <a:prstGeom prst="rect">
            <a:avLst/>
          </a:prstGeom>
          <a:noFill/>
          <a:ln/>
        </p:spPr>
        <p:txBody>
          <a:bodyPr wrap="square" lIns="0" tIns="0" rIns="0" bIns="0" rtlCol="0" anchor="ctr"/>
          <a:lstStyle/>
          <a:p>
            <a:pPr indent="0" marL="0">
              <a:buNone/>
            </a:pPr>
            <a:r>
              <a:rPr lang="en-US" sz="1100" spc="200" kern="0" dirty="0">
                <a:solidFill>
                  <a:srgbClr val="5E554B"/>
                </a:solidFill>
                <a:latin typeface="Consolas" pitchFamily="34" charset="0"/>
                <a:ea typeface="Consolas" pitchFamily="34" charset="-122"/>
                <a:cs typeface="Consolas" pitchFamily="34" charset="-120"/>
              </a:rPr>
              <a:t>R/DEAF · 35↑  </a:t>
            </a:r>
            <a:pPr indent="0" marL="0">
              <a:buNone/>
            </a:pPr>
            <a:r>
              <a:rPr lang="en-US" sz="1100" baseline="30000" spc="200" kern="0" dirty="0">
                <a:solidFill>
                  <a:srgbClr val="5E554B"/>
                </a:solidFill>
                <a:latin typeface="Consolas" pitchFamily="34" charset="0"/>
                <a:ea typeface="Consolas" pitchFamily="34" charset="-122"/>
                <a:cs typeface="Consolas" pitchFamily="34" charset="-120"/>
              </a:rPr>
              <a:t>5</a:t>
            </a:r>
            <a:endParaRPr lang="en-US" sz="1100" dirty="0"/>
          </a:p>
        </p:txBody>
      </p:sp>
      <p:sp>
        <p:nvSpPr>
          <p:cNvPr id="9" name="Text 6"/>
          <p:cNvSpPr/>
          <p:nvPr/>
        </p:nvSpPr>
        <p:spPr>
          <a:xfrm>
            <a:off x="6355080" y="3246120"/>
            <a:ext cx="5120640" cy="2743200"/>
          </a:xfrm>
          <a:prstGeom prst="rect">
            <a:avLst/>
          </a:prstGeom>
          <a:noFill/>
          <a:ln/>
        </p:spPr>
        <p:txBody>
          <a:bodyPr wrap="square" lIns="0" tIns="0" rIns="0" bIns="0" rtlCol="0" anchor="t"/>
          <a:lstStyle/>
          <a:p>
            <a:pPr indent="0" marL="0">
              <a:lnSpc>
                <a:spcPct val="110000"/>
              </a:lnSpc>
              <a:buNone/>
            </a:pPr>
            <a:r>
              <a:rPr lang="en-US" sz="1900" i="1" dirty="0">
                <a:solidFill>
                  <a:srgbClr val="17130F"/>
                </a:solidFill>
                <a:latin typeface="Georgia" pitchFamily="34" charset="0"/>
                <a:ea typeface="Georgia" pitchFamily="34" charset="-122"/>
                <a:cs typeface="Georgia" pitchFamily="34" charset="-120"/>
              </a:rPr>
              <a:t>“DTS - Dinner Table Syndrome. Deaf people in hearing families are too familiar with this, myself included. It's simply too much work to follow along. Thats why you feel like you could sleep for a week, we have to work much harder than a hearing person to understand verbal conversations.”</a:t>
            </a:r>
            <a:endParaRPr lang="en-US" sz="1900" dirty="0"/>
          </a:p>
        </p:txBody>
      </p:sp>
      <p:sp>
        <p:nvSpPr>
          <p:cNvPr id="10" name="Text 7"/>
          <p:cNvSpPr/>
          <p:nvPr/>
        </p:nvSpPr>
        <p:spPr>
          <a:xfrm>
            <a:off x="6355080" y="5989320"/>
            <a:ext cx="5120640" cy="320040"/>
          </a:xfrm>
          <a:prstGeom prst="rect">
            <a:avLst/>
          </a:prstGeom>
          <a:noFill/>
          <a:ln/>
        </p:spPr>
        <p:txBody>
          <a:bodyPr wrap="square" lIns="0" tIns="0" rIns="0" bIns="0" rtlCol="0" anchor="ctr"/>
          <a:lstStyle/>
          <a:p>
            <a:pPr indent="0" marL="0">
              <a:buNone/>
            </a:pPr>
            <a:r>
              <a:rPr lang="en-US" sz="1100" spc="200" kern="0" dirty="0">
                <a:solidFill>
                  <a:srgbClr val="5E554B"/>
                </a:solidFill>
                <a:latin typeface="Consolas" pitchFamily="34" charset="0"/>
                <a:ea typeface="Consolas" pitchFamily="34" charset="-122"/>
                <a:cs typeface="Consolas" pitchFamily="34" charset="-120"/>
              </a:rPr>
              <a:t>R/DEAF · FAMILY SUNDAY LUNCH THREAD, 36↑  </a:t>
            </a:r>
            <a:pPr indent="0" marL="0">
              <a:buNone/>
            </a:pPr>
            <a:r>
              <a:rPr lang="en-US" sz="1100" baseline="30000" spc="200" kern="0" dirty="0">
                <a:solidFill>
                  <a:srgbClr val="5E554B"/>
                </a:solidFill>
                <a:latin typeface="Consolas" pitchFamily="34" charset="0"/>
                <a:ea typeface="Consolas" pitchFamily="34" charset="-122"/>
                <a:cs typeface="Consolas" pitchFamily="34" charset="-120"/>
              </a:rPr>
              <a:t>6</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EEE2"/>
        </a:solidFill>
      </p:bgPr>
    </p:bg>
    <p:spTree>
      <p:nvGrpSpPr>
        <p:cNvPr id="1" name=""/>
        <p:cNvGrpSpPr/>
        <p:nvPr/>
      </p:nvGrpSpPr>
      <p:grpSpPr>
        <a:xfrm>
          <a:off x="0" y="0"/>
          <a:ext cx="0" cy="0"/>
          <a:chOff x="0" y="0"/>
          <a:chExt cx="0" cy="0"/>
        </a:xfrm>
      </p:grpSpPr>
      <p:sp>
        <p:nvSpPr>
          <p:cNvPr id="3" name="Text 0"/>
          <p:cNvSpPr/>
          <p:nvPr/>
        </p:nvSpPr>
        <p:spPr>
          <a:xfrm>
            <a:off x="685800" y="457200"/>
            <a:ext cx="9144000" cy="274320"/>
          </a:xfrm>
          <a:prstGeom prst="rect">
            <a:avLst/>
          </a:prstGeom>
          <a:noFill/>
          <a:ln/>
        </p:spPr>
        <p:txBody>
          <a:bodyPr wrap="square" lIns="0" tIns="0" rIns="0" bIns="0" rtlCol="0" anchor="t"/>
          <a:lstStyle/>
          <a:p>
            <a:pPr indent="0" marL="0">
              <a:buNone/>
            </a:pPr>
            <a:r>
              <a:rPr lang="en-US" sz="1100" spc="300" kern="0" dirty="0">
                <a:solidFill>
                  <a:srgbClr val="5E554B"/>
                </a:solidFill>
                <a:latin typeface="Consolas" pitchFamily="34" charset="0"/>
                <a:ea typeface="Consolas" pitchFamily="34" charset="-122"/>
                <a:cs typeface="Consolas" pitchFamily="34" charset="-120"/>
              </a:rPr>
              <a:t>THE NUMBERS</a:t>
            </a:r>
            <a:endParaRPr lang="en-US" sz="1100" dirty="0"/>
          </a:p>
        </p:txBody>
      </p:sp>
      <p:sp>
        <p:nvSpPr>
          <p:cNvPr id="4" name="Text 1"/>
          <p:cNvSpPr/>
          <p:nvPr/>
        </p:nvSpPr>
        <p:spPr>
          <a:xfrm>
            <a:off x="685800" y="822960"/>
            <a:ext cx="10820095" cy="822960"/>
          </a:xfrm>
          <a:prstGeom prst="rect">
            <a:avLst/>
          </a:prstGeom>
          <a:noFill/>
          <a:ln/>
        </p:spPr>
        <p:txBody>
          <a:bodyPr wrap="square" lIns="0" tIns="0" rIns="0" bIns="0" rtlCol="0" anchor="t"/>
          <a:lstStyle/>
          <a:p>
            <a:pPr indent="0" marL="0">
              <a:buNone/>
            </a:pPr>
            <a:r>
              <a:rPr lang="en-US" sz="3600" i="1" dirty="0">
                <a:solidFill>
                  <a:srgbClr val="17130F"/>
                </a:solidFill>
                <a:latin typeface="Georgia" pitchFamily="34" charset="0"/>
                <a:ea typeface="Georgia" pitchFamily="34" charset="-122"/>
                <a:cs typeface="Georgia" pitchFamily="34" charset="-120"/>
              </a:rPr>
              <a:t>Where they most want to hear is home.</a:t>
            </a:r>
            <a:endParaRPr lang="en-US" sz="3600" dirty="0"/>
          </a:p>
        </p:txBody>
      </p:sp>
      <p:sp>
        <p:nvSpPr>
          <p:cNvPr id="5" name="Shape 2"/>
          <p:cNvSpPr/>
          <p:nvPr/>
        </p:nvSpPr>
        <p:spPr>
          <a:xfrm>
            <a:off x="685800" y="1783080"/>
            <a:ext cx="5120640" cy="0"/>
          </a:xfrm>
          <a:prstGeom prst="line">
            <a:avLst/>
          </a:prstGeom>
          <a:noFill/>
          <a:ln w="9525">
            <a:solidFill>
              <a:srgbClr val="D9D0C0"/>
            </a:solidFill>
            <a:prstDash val="solid"/>
          </a:ln>
        </p:spPr>
      </p:sp>
      <p:sp>
        <p:nvSpPr>
          <p:cNvPr id="6" name="Text 3"/>
          <p:cNvSpPr/>
          <p:nvPr/>
        </p:nvSpPr>
        <p:spPr>
          <a:xfrm>
            <a:off x="685800" y="1920240"/>
            <a:ext cx="5120640" cy="914400"/>
          </a:xfrm>
          <a:prstGeom prst="rect">
            <a:avLst/>
          </a:prstGeom>
          <a:noFill/>
          <a:ln/>
        </p:spPr>
        <p:txBody>
          <a:bodyPr wrap="square" lIns="0" tIns="0" rIns="0" bIns="0" rtlCol="0" anchor="ctr"/>
          <a:lstStyle/>
          <a:p>
            <a:pPr indent="0" marL="0">
              <a:buNone/>
            </a:pPr>
            <a:r>
              <a:rPr lang="en-US" sz="5800" i="1" dirty="0">
                <a:solidFill>
                  <a:srgbClr val="17130F"/>
                </a:solidFill>
                <a:latin typeface="Georgia" pitchFamily="34" charset="0"/>
                <a:ea typeface="Georgia" pitchFamily="34" charset="-122"/>
                <a:cs typeface="Georgia" pitchFamily="34" charset="-120"/>
              </a:rPr>
              <a:t>50M</a:t>
            </a:r>
            <a:endParaRPr lang="en-US" sz="5800" dirty="0"/>
          </a:p>
        </p:txBody>
      </p:sp>
      <p:sp>
        <p:nvSpPr>
          <p:cNvPr id="7" name="Text 4"/>
          <p:cNvSpPr/>
          <p:nvPr/>
        </p:nvSpPr>
        <p:spPr>
          <a:xfrm>
            <a:off x="685800" y="2880360"/>
            <a:ext cx="5120640" cy="822960"/>
          </a:xfrm>
          <a:prstGeom prst="rect">
            <a:avLst/>
          </a:prstGeom>
          <a:noFill/>
          <a:ln/>
        </p:spPr>
        <p:txBody>
          <a:bodyPr wrap="square" lIns="0" tIns="0" rIns="0" bIns="0" rtlCol="0" anchor="t"/>
          <a:lstStyle/>
          <a:p>
            <a:pPr indent="0" marL="0">
              <a:buNone/>
            </a:pPr>
            <a:r>
              <a:rPr lang="en-US" sz="1800" dirty="0">
                <a:solidFill>
                  <a:srgbClr val="17130F"/>
                </a:solidFill>
                <a:latin typeface="Calibri" pitchFamily="34" charset="0"/>
                <a:ea typeface="Calibri" pitchFamily="34" charset="-122"/>
                <a:cs typeface="Calibri" pitchFamily="34" charset="-120"/>
              </a:rPr>
              <a:t>people in the EU report trouble hearing. About </a:t>
            </a:r>
            <a:pPr indent="0" marL="0">
              <a:buNone/>
            </a:pPr>
            <a:r>
              <a:rPr lang="en-US" sz="1800" b="1" dirty="0">
                <a:solidFill>
                  <a:srgbClr val="17130F"/>
                </a:solidFill>
                <a:latin typeface="Calibri" pitchFamily="34" charset="0"/>
                <a:ea typeface="Calibri" pitchFamily="34" charset="-122"/>
                <a:cs typeface="Calibri" pitchFamily="34" charset="-120"/>
              </a:rPr>
              <a:t>1 in 9</a:t>
            </a:r>
            <a:pPr indent="0" marL="0">
              <a:buNone/>
            </a:pPr>
            <a:r>
              <a:rPr lang="en-US" sz="1800" dirty="0">
                <a:solidFill>
                  <a:srgbClr val="17130F"/>
                </a:solidFill>
                <a:latin typeface="Calibri" pitchFamily="34" charset="0"/>
                <a:ea typeface="Calibri" pitchFamily="34" charset="-122"/>
                <a:cs typeface="Calibri" pitchFamily="34" charset="-120"/>
              </a:rPr>
              <a:t>.</a:t>
            </a:r>
            <a:pPr indent="0" marL="0">
              <a:buNone/>
            </a:pPr>
            <a:r>
              <a:rPr lang="en-US" sz="1800" baseline="30000" dirty="0">
                <a:solidFill>
                  <a:srgbClr val="5E554B"/>
                </a:solidFill>
                <a:latin typeface="Consolas" pitchFamily="34" charset="0"/>
                <a:ea typeface="Consolas" pitchFamily="34" charset="-122"/>
                <a:cs typeface="Consolas" pitchFamily="34" charset="-120"/>
              </a:rPr>
              <a:t>1</a:t>
            </a:r>
            <a:endParaRPr lang="en-US" sz="1800" dirty="0"/>
          </a:p>
        </p:txBody>
      </p:sp>
      <p:sp>
        <p:nvSpPr>
          <p:cNvPr id="8" name="Shape 5"/>
          <p:cNvSpPr/>
          <p:nvPr/>
        </p:nvSpPr>
        <p:spPr>
          <a:xfrm>
            <a:off x="6355080" y="1783080"/>
            <a:ext cx="5120640" cy="0"/>
          </a:xfrm>
          <a:prstGeom prst="line">
            <a:avLst/>
          </a:prstGeom>
          <a:noFill/>
          <a:ln w="9525">
            <a:solidFill>
              <a:srgbClr val="D9D0C0"/>
            </a:solidFill>
            <a:prstDash val="solid"/>
          </a:ln>
        </p:spPr>
      </p:sp>
      <p:sp>
        <p:nvSpPr>
          <p:cNvPr id="9" name="Text 6"/>
          <p:cNvSpPr/>
          <p:nvPr/>
        </p:nvSpPr>
        <p:spPr>
          <a:xfrm>
            <a:off x="6355080" y="1920240"/>
            <a:ext cx="5120640" cy="914400"/>
          </a:xfrm>
          <a:prstGeom prst="rect">
            <a:avLst/>
          </a:prstGeom>
          <a:noFill/>
          <a:ln/>
        </p:spPr>
        <p:txBody>
          <a:bodyPr wrap="square" lIns="0" tIns="0" rIns="0" bIns="0" rtlCol="0" anchor="ctr"/>
          <a:lstStyle/>
          <a:p>
            <a:pPr indent="0" marL="0">
              <a:buNone/>
            </a:pPr>
            <a:r>
              <a:rPr lang="en-US" sz="5800" i="1" dirty="0">
                <a:solidFill>
                  <a:srgbClr val="E4A73A"/>
                </a:solidFill>
                <a:latin typeface="Georgia" pitchFamily="34" charset="0"/>
                <a:ea typeface="Georgia" pitchFamily="34" charset="-122"/>
                <a:cs typeface="Georgia" pitchFamily="34" charset="-120"/>
              </a:rPr>
              <a:t>56%</a:t>
            </a:r>
            <a:pPr indent="0" marL="0">
              <a:buNone/>
            </a:pPr>
            <a:r>
              <a:rPr lang="en-US" sz="3400" i="1" dirty="0">
                <a:solidFill>
                  <a:srgbClr val="5E554B"/>
                </a:solidFill>
                <a:latin typeface="Georgia" pitchFamily="34" charset="0"/>
                <a:ea typeface="Georgia" pitchFamily="34" charset="-122"/>
                <a:cs typeface="Georgia" pitchFamily="34" charset="-120"/>
              </a:rPr>
              <a:t> vs 21%</a:t>
            </a:r>
            <a:endParaRPr lang="en-US" sz="5800" dirty="0"/>
          </a:p>
        </p:txBody>
      </p:sp>
      <p:sp>
        <p:nvSpPr>
          <p:cNvPr id="10" name="Text 7"/>
          <p:cNvSpPr/>
          <p:nvPr/>
        </p:nvSpPr>
        <p:spPr>
          <a:xfrm>
            <a:off x="6355080" y="2880360"/>
            <a:ext cx="5120640" cy="822960"/>
          </a:xfrm>
          <a:prstGeom prst="rect">
            <a:avLst/>
          </a:prstGeom>
          <a:noFill/>
          <a:ln/>
        </p:spPr>
        <p:txBody>
          <a:bodyPr wrap="square" lIns="0" tIns="0" rIns="0" bIns="0" rtlCol="0" anchor="t"/>
          <a:lstStyle/>
          <a:p>
            <a:pPr indent="0" marL="0">
              <a:buNone/>
            </a:pPr>
            <a:r>
              <a:rPr lang="en-US" sz="1800" dirty="0">
                <a:solidFill>
                  <a:srgbClr val="17130F"/>
                </a:solidFill>
                <a:latin typeface="Calibri" pitchFamily="34" charset="0"/>
                <a:ea typeface="Calibri" pitchFamily="34" charset="-122"/>
                <a:cs typeface="Calibri" pitchFamily="34" charset="-120"/>
              </a:rPr>
              <a:t>The </a:t>
            </a:r>
            <a:pPr indent="0" marL="0">
              <a:buNone/>
            </a:pPr>
            <a:r>
              <a:rPr lang="en-US" sz="1800" b="1" dirty="0">
                <a:solidFill>
                  <a:srgbClr val="17130F"/>
                </a:solidFill>
                <a:latin typeface="Calibri" pitchFamily="34" charset="0"/>
                <a:ea typeface="Calibri" pitchFamily="34" charset="-122"/>
                <a:cs typeface="Calibri" pitchFamily="34" charset="-120"/>
              </a:rPr>
              <a:t>family table</a:t>
            </a:r>
            <a:pPr indent="0" marL="0">
              <a:buNone/>
            </a:pPr>
            <a:r>
              <a:rPr lang="en-US" sz="1800" dirty="0">
                <a:solidFill>
                  <a:srgbClr val="17130F"/>
                </a:solidFill>
                <a:latin typeface="Calibri" pitchFamily="34" charset="0"/>
                <a:ea typeface="Calibri" pitchFamily="34" charset="-122"/>
                <a:cs typeface="Calibri" pitchFamily="34" charset="-120"/>
              </a:rPr>
              <a:t> is the #1 place they want to hear. Work: 21%. EuroTrak Italy 2022.</a:t>
            </a:r>
            <a:pPr indent="0" marL="0">
              <a:buNone/>
            </a:pPr>
            <a:r>
              <a:rPr lang="en-US" sz="1800" baseline="30000" dirty="0">
                <a:solidFill>
                  <a:srgbClr val="5E554B"/>
                </a:solidFill>
                <a:latin typeface="Consolas" pitchFamily="34" charset="0"/>
                <a:ea typeface="Consolas" pitchFamily="34" charset="-122"/>
                <a:cs typeface="Consolas" pitchFamily="34" charset="-120"/>
              </a:rPr>
              <a:t>2</a:t>
            </a:r>
            <a:endParaRPr lang="en-US" sz="1800" dirty="0"/>
          </a:p>
        </p:txBody>
      </p:sp>
      <p:sp>
        <p:nvSpPr>
          <p:cNvPr id="11" name="Shape 8"/>
          <p:cNvSpPr/>
          <p:nvPr/>
        </p:nvSpPr>
        <p:spPr>
          <a:xfrm>
            <a:off x="685800" y="3840480"/>
            <a:ext cx="5120640" cy="0"/>
          </a:xfrm>
          <a:prstGeom prst="line">
            <a:avLst/>
          </a:prstGeom>
          <a:noFill/>
          <a:ln w="9525">
            <a:solidFill>
              <a:srgbClr val="D9D0C0"/>
            </a:solidFill>
            <a:prstDash val="solid"/>
          </a:ln>
        </p:spPr>
      </p:sp>
      <p:sp>
        <p:nvSpPr>
          <p:cNvPr id="12" name="Text 9"/>
          <p:cNvSpPr/>
          <p:nvPr/>
        </p:nvSpPr>
        <p:spPr>
          <a:xfrm>
            <a:off x="685800" y="3977640"/>
            <a:ext cx="5120640" cy="914400"/>
          </a:xfrm>
          <a:prstGeom prst="rect">
            <a:avLst/>
          </a:prstGeom>
          <a:noFill/>
          <a:ln/>
        </p:spPr>
        <p:txBody>
          <a:bodyPr wrap="square" lIns="0" tIns="0" rIns="0" bIns="0" rtlCol="0" anchor="ctr"/>
          <a:lstStyle/>
          <a:p>
            <a:pPr indent="0" marL="0">
              <a:buNone/>
            </a:pPr>
            <a:r>
              <a:rPr lang="en-US" sz="5800" i="1" dirty="0">
                <a:solidFill>
                  <a:srgbClr val="17130F"/>
                </a:solidFill>
                <a:latin typeface="Georgia" pitchFamily="34" charset="0"/>
                <a:ea typeface="Georgia" pitchFamily="34" charset="-122"/>
                <a:cs typeface="Georgia" pitchFamily="34" charset="-120"/>
              </a:rPr>
              <a:t>170</a:t>
            </a:r>
            <a:pPr indent="0" marL="0">
              <a:buNone/>
            </a:pPr>
            <a:r>
              <a:rPr lang="en-US" sz="3400" i="1" dirty="0">
                <a:solidFill>
                  <a:srgbClr val="5E554B"/>
                </a:solidFill>
                <a:latin typeface="Georgia" pitchFamily="34" charset="0"/>
                <a:ea typeface="Georgia" pitchFamily="34" charset="-122"/>
                <a:cs typeface="Georgia" pitchFamily="34" charset="-120"/>
              </a:rPr>
              <a:t> wpm</a:t>
            </a:r>
            <a:endParaRPr lang="en-US" sz="5800" dirty="0"/>
          </a:p>
        </p:txBody>
      </p:sp>
      <p:sp>
        <p:nvSpPr>
          <p:cNvPr id="13" name="Text 10"/>
          <p:cNvSpPr/>
          <p:nvPr/>
        </p:nvSpPr>
        <p:spPr>
          <a:xfrm>
            <a:off x="685800" y="4937760"/>
            <a:ext cx="5120640" cy="822960"/>
          </a:xfrm>
          <a:prstGeom prst="rect">
            <a:avLst/>
          </a:prstGeom>
          <a:noFill/>
          <a:ln/>
        </p:spPr>
        <p:txBody>
          <a:bodyPr wrap="square" lIns="0" tIns="0" rIns="0" bIns="0" rtlCol="0" anchor="t"/>
          <a:lstStyle/>
          <a:p>
            <a:pPr indent="0" marL="0">
              <a:buNone/>
            </a:pPr>
            <a:r>
              <a:rPr lang="en-US" sz="1800" dirty="0">
                <a:solidFill>
                  <a:srgbClr val="17130F"/>
                </a:solidFill>
                <a:latin typeface="Calibri" pitchFamily="34" charset="0"/>
                <a:ea typeface="Calibri" pitchFamily="34" charset="-122"/>
                <a:cs typeface="Calibri" pitchFamily="34" charset="-120"/>
              </a:rPr>
              <a:t>Caption comprehension collapses above it. Group speech runs </a:t>
            </a:r>
            <a:pPr indent="0" marL="0">
              <a:buNone/>
            </a:pPr>
            <a:r>
              <a:rPr lang="en-US" sz="1800" b="1" dirty="0">
                <a:solidFill>
                  <a:srgbClr val="17130F"/>
                </a:solidFill>
                <a:latin typeface="Calibri" pitchFamily="34" charset="0"/>
                <a:ea typeface="Calibri" pitchFamily="34" charset="-122"/>
                <a:cs typeface="Calibri" pitchFamily="34" charset="-120"/>
              </a:rPr>
              <a:t>160–220</a:t>
            </a:r>
            <a:pPr indent="0" marL="0">
              <a:buNone/>
            </a:pPr>
            <a:r>
              <a:rPr lang="en-US" sz="1800" dirty="0">
                <a:solidFill>
                  <a:srgbClr val="17130F"/>
                </a:solidFill>
                <a:latin typeface="Calibri" pitchFamily="34" charset="0"/>
                <a:ea typeface="Calibri" pitchFamily="34" charset="-122"/>
                <a:cs typeface="Calibri" pitchFamily="34" charset="-120"/>
              </a:rPr>
              <a:t>.</a:t>
            </a:r>
            <a:pPr indent="0" marL="0">
              <a:buNone/>
            </a:pPr>
            <a:r>
              <a:rPr lang="en-US" sz="1800" baseline="30000" dirty="0">
                <a:solidFill>
                  <a:srgbClr val="5E554B"/>
                </a:solidFill>
                <a:latin typeface="Consolas" pitchFamily="34" charset="0"/>
                <a:ea typeface="Consolas" pitchFamily="34" charset="-122"/>
                <a:cs typeface="Consolas" pitchFamily="34" charset="-120"/>
              </a:rPr>
              <a:t>3</a:t>
            </a:r>
            <a:endParaRPr lang="en-US" sz="1800" dirty="0"/>
          </a:p>
        </p:txBody>
      </p:sp>
      <p:sp>
        <p:nvSpPr>
          <p:cNvPr id="14" name="Shape 11"/>
          <p:cNvSpPr/>
          <p:nvPr/>
        </p:nvSpPr>
        <p:spPr>
          <a:xfrm>
            <a:off x="6355080" y="3840480"/>
            <a:ext cx="5120640" cy="0"/>
          </a:xfrm>
          <a:prstGeom prst="line">
            <a:avLst/>
          </a:prstGeom>
          <a:noFill/>
          <a:ln w="9525">
            <a:solidFill>
              <a:srgbClr val="D9D0C0"/>
            </a:solidFill>
            <a:prstDash val="solid"/>
          </a:ln>
        </p:spPr>
      </p:sp>
      <p:sp>
        <p:nvSpPr>
          <p:cNvPr id="15" name="Text 12"/>
          <p:cNvSpPr/>
          <p:nvPr/>
        </p:nvSpPr>
        <p:spPr>
          <a:xfrm>
            <a:off x="6355080" y="3977640"/>
            <a:ext cx="5120640" cy="914400"/>
          </a:xfrm>
          <a:prstGeom prst="rect">
            <a:avLst/>
          </a:prstGeom>
          <a:noFill/>
          <a:ln/>
        </p:spPr>
        <p:txBody>
          <a:bodyPr wrap="square" lIns="0" tIns="0" rIns="0" bIns="0" rtlCol="0" anchor="ctr"/>
          <a:lstStyle/>
          <a:p>
            <a:pPr indent="0" marL="0">
              <a:buNone/>
            </a:pPr>
            <a:r>
              <a:rPr lang="en-US" sz="5800" i="1" dirty="0">
                <a:solidFill>
                  <a:srgbClr val="17130F"/>
                </a:solidFill>
                <a:latin typeface="Georgia" pitchFamily="34" charset="0"/>
                <a:ea typeface="Georgia" pitchFamily="34" charset="-122"/>
                <a:cs typeface="Georgia" pitchFamily="34" charset="-120"/>
              </a:rPr>
              <a:t>4%</a:t>
            </a:r>
            <a:endParaRPr lang="en-US" sz="5800" dirty="0"/>
          </a:p>
        </p:txBody>
      </p:sp>
      <p:sp>
        <p:nvSpPr>
          <p:cNvPr id="16" name="Text 13"/>
          <p:cNvSpPr/>
          <p:nvPr/>
        </p:nvSpPr>
        <p:spPr>
          <a:xfrm>
            <a:off x="6355080" y="4937760"/>
            <a:ext cx="5120640" cy="822960"/>
          </a:xfrm>
          <a:prstGeom prst="rect">
            <a:avLst/>
          </a:prstGeom>
          <a:noFill/>
          <a:ln/>
        </p:spPr>
        <p:txBody>
          <a:bodyPr wrap="square" lIns="0" tIns="0" rIns="0" bIns="0" rtlCol="0" anchor="t"/>
          <a:lstStyle/>
          <a:p>
            <a:pPr indent="0" marL="0">
              <a:buNone/>
            </a:pPr>
            <a:r>
              <a:rPr lang="en-US" sz="1800" dirty="0">
                <a:solidFill>
                  <a:srgbClr val="17130F"/>
                </a:solidFill>
                <a:latin typeface="Calibri" pitchFamily="34" charset="0"/>
                <a:ea typeface="Calibri" pitchFamily="34" charset="-122"/>
                <a:cs typeface="Calibri" pitchFamily="34" charset="-120"/>
              </a:rPr>
              <a:t>of sampled videos caption non-speech sound: the laugh, the tone.</a:t>
            </a:r>
            <a:pPr indent="0" marL="0">
              <a:buNone/>
            </a:pPr>
            <a:r>
              <a:rPr lang="en-US" sz="1800" baseline="30000" dirty="0">
                <a:solidFill>
                  <a:srgbClr val="5E554B"/>
                </a:solidFill>
                <a:latin typeface="Consolas" pitchFamily="34" charset="0"/>
                <a:ea typeface="Consolas" pitchFamily="34" charset="-122"/>
                <a:cs typeface="Consolas" pitchFamily="34" charset="-120"/>
              </a:rPr>
              <a:t>4</a:t>
            </a:r>
            <a:endParaRPr lang="en-US" sz="1800" dirty="0"/>
          </a:p>
        </p:txBody>
      </p:sp>
      <p:sp>
        <p:nvSpPr>
          <p:cNvPr id="17" name="Text 14"/>
          <p:cNvSpPr/>
          <p:nvPr/>
        </p:nvSpPr>
        <p:spPr>
          <a:xfrm>
            <a:off x="685800" y="6035040"/>
            <a:ext cx="10820095" cy="274320"/>
          </a:xfrm>
          <a:prstGeom prst="rect">
            <a:avLst/>
          </a:prstGeom>
          <a:noFill/>
          <a:ln/>
        </p:spPr>
        <p:txBody>
          <a:bodyPr wrap="square" lIns="0" tIns="0" rIns="0" bIns="0" rtlCol="0" anchor="t"/>
          <a:lstStyle/>
          <a:p>
            <a:pPr indent="0" marL="0">
              <a:buNone/>
            </a:pPr>
            <a:r>
              <a:rPr lang="en-US" sz="1000" spc="300" kern="0" dirty="0">
                <a:solidFill>
                  <a:srgbClr val="5E554B"/>
                </a:solidFill>
                <a:latin typeface="Consolas" pitchFamily="34" charset="0"/>
                <a:ea typeface="Consolas" pitchFamily="34" charset="-122"/>
                <a:cs typeface="Consolas" pitchFamily="34" charset="-120"/>
              </a:rPr>
              <a:t>HARD-OF-HEARING AND LATE-DEAFENED ADULTS · EU27 FIGURE DERIVED FROM THE 59M EUROPE TOTAL · SOURCES ON THE LAST SLIDE</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EEE2"/>
        </a:solidFill>
      </p:bgPr>
    </p:bg>
    <p:spTree>
      <p:nvGrpSpPr>
        <p:cNvPr id="1" name=""/>
        <p:cNvGrpSpPr/>
        <p:nvPr/>
      </p:nvGrpSpPr>
      <p:grpSpPr>
        <a:xfrm>
          <a:off x="0" y="0"/>
          <a:ext cx="0" cy="0"/>
          <a:chOff x="0" y="0"/>
          <a:chExt cx="0" cy="0"/>
        </a:xfrm>
      </p:grpSpPr>
      <p:sp>
        <p:nvSpPr>
          <p:cNvPr id="3" name="Text 0"/>
          <p:cNvSpPr/>
          <p:nvPr/>
        </p:nvSpPr>
        <p:spPr>
          <a:xfrm>
            <a:off x="685800" y="457200"/>
            <a:ext cx="9144000" cy="274320"/>
          </a:xfrm>
          <a:prstGeom prst="rect">
            <a:avLst/>
          </a:prstGeom>
          <a:noFill/>
          <a:ln/>
        </p:spPr>
        <p:txBody>
          <a:bodyPr wrap="square" lIns="0" tIns="0" rIns="0" bIns="0" rtlCol="0" anchor="t"/>
          <a:lstStyle/>
          <a:p>
            <a:pPr indent="0" marL="0">
              <a:buNone/>
            </a:pPr>
            <a:r>
              <a:rPr lang="en-US" sz="1100" spc="300" kern="0" dirty="0">
                <a:solidFill>
                  <a:srgbClr val="5E554B"/>
                </a:solidFill>
                <a:latin typeface="Consolas" pitchFamily="34" charset="0"/>
                <a:ea typeface="Consolas" pitchFamily="34" charset="-122"/>
                <a:cs typeface="Consolas" pitchFamily="34" charset="-120"/>
              </a:rPr>
              <a:t>THE TABLE</a:t>
            </a:r>
            <a:endParaRPr lang="en-US" sz="1100" dirty="0"/>
          </a:p>
        </p:txBody>
      </p:sp>
      <p:sp>
        <p:nvSpPr>
          <p:cNvPr id="4" name="Text 1"/>
          <p:cNvSpPr/>
          <p:nvPr/>
        </p:nvSpPr>
        <p:spPr>
          <a:xfrm>
            <a:off x="685800" y="777240"/>
            <a:ext cx="3606698" cy="274320"/>
          </a:xfrm>
          <a:prstGeom prst="rect">
            <a:avLst/>
          </a:prstGeom>
          <a:noFill/>
          <a:ln/>
        </p:spPr>
        <p:txBody>
          <a:bodyPr wrap="square" lIns="0" tIns="0" rIns="0" bIns="0" rtlCol="0" anchor="t"/>
          <a:lstStyle/>
          <a:p>
            <a:pPr algn="ctr" indent="0" marL="0">
              <a:buNone/>
            </a:pPr>
            <a:r>
              <a:rPr lang="en-US" sz="1100" spc="300" kern="0" dirty="0">
                <a:solidFill>
                  <a:srgbClr val="5E554B"/>
                </a:solidFill>
                <a:latin typeface="Consolas" pitchFamily="34" charset="0"/>
                <a:ea typeface="Consolas" pitchFamily="34" charset="-122"/>
                <a:cs typeface="Consolas" pitchFamily="34" charset="-120"/>
              </a:rPr>
              <a:t>LAMP</a:t>
            </a:r>
            <a:endParaRPr lang="en-US" sz="1100" dirty="0"/>
          </a:p>
        </p:txBody>
      </p:sp>
      <p:pic>
        <p:nvPicPr>
          <p:cNvPr id="5" name="Image 0" descr="/Users/bera/Documents/GitHub/bainsahack/pitch/build/assets/oat-lamp.png">    </p:cNvPr>
          <p:cNvPicPr>
            <a:picLocks noChangeAspect="1"/>
          </p:cNvPicPr>
          <p:nvPr/>
        </p:nvPicPr>
        <p:blipFill>
          <a:blip r:embed="rId1"/>
          <a:stretch>
            <a:fillRect/>
          </a:stretch>
        </p:blipFill>
        <p:spPr>
          <a:xfrm>
            <a:off x="1288047" y="1097280"/>
            <a:ext cx="2402205" cy="4434840"/>
          </a:xfrm>
          <a:prstGeom prst="rect">
            <a:avLst/>
          </a:prstGeom>
        </p:spPr>
      </p:pic>
      <p:sp>
        <p:nvSpPr>
          <p:cNvPr id="6" name="Shape 2"/>
          <p:cNvSpPr/>
          <p:nvPr/>
        </p:nvSpPr>
        <p:spPr>
          <a:xfrm>
            <a:off x="1288047" y="1097280"/>
            <a:ext cx="2402205" cy="4434840"/>
          </a:xfrm>
          <a:prstGeom prst="rect">
            <a:avLst/>
          </a:prstGeom>
          <a:ln w="12700">
            <a:solidFill>
              <a:srgbClr val="D9D0C0"/>
            </a:solidFill>
            <a:prstDash val="solid"/>
          </a:ln>
        </p:spPr>
      </p:sp>
      <p:sp>
        <p:nvSpPr>
          <p:cNvPr id="7" name="Text 3"/>
          <p:cNvSpPr/>
          <p:nvPr/>
        </p:nvSpPr>
        <p:spPr>
          <a:xfrm>
            <a:off x="685800" y="5641848"/>
            <a:ext cx="3606698" cy="457200"/>
          </a:xfrm>
          <a:prstGeom prst="rect">
            <a:avLst/>
          </a:prstGeom>
          <a:noFill/>
          <a:ln/>
        </p:spPr>
        <p:txBody>
          <a:bodyPr wrap="square" lIns="0" tIns="0" rIns="0" bIns="0" rtlCol="0" anchor="t"/>
          <a:lstStyle/>
          <a:p>
            <a:pPr algn="ctr" indent="0" marL="0">
              <a:buNone/>
            </a:pPr>
            <a:r>
              <a:rPr lang="en-US" sz="2600" i="1" dirty="0">
                <a:solidFill>
                  <a:srgbClr val="17130F"/>
                </a:solidFill>
                <a:latin typeface="Georgia" pitchFamily="34" charset="0"/>
                <a:ea typeface="Georgia" pitchFamily="34" charset="-122"/>
                <a:cs typeface="Georgia" pitchFamily="34" charset="-120"/>
              </a:rPr>
              <a:t>their phone</a:t>
            </a:r>
            <a:endParaRPr lang="en-US" sz="2600" dirty="0"/>
          </a:p>
        </p:txBody>
      </p:sp>
      <p:sp>
        <p:nvSpPr>
          <p:cNvPr id="8" name="Text 4"/>
          <p:cNvSpPr/>
          <p:nvPr/>
        </p:nvSpPr>
        <p:spPr>
          <a:xfrm>
            <a:off x="685800" y="6153912"/>
            <a:ext cx="3606698" cy="274320"/>
          </a:xfrm>
          <a:prstGeom prst="rect">
            <a:avLst/>
          </a:prstGeom>
          <a:noFill/>
          <a:ln/>
        </p:spPr>
        <p:txBody>
          <a:bodyPr wrap="square" lIns="0" tIns="0" rIns="0" bIns="0" rtlCol="0" anchor="t"/>
          <a:lstStyle/>
          <a:p>
            <a:pPr algn="ctr" indent="0" marL="0">
              <a:buNone/>
            </a:pPr>
            <a:r>
              <a:rPr lang="en-US" sz="900" spc="300" kern="0" dirty="0">
                <a:solidFill>
                  <a:srgbClr val="5E554B"/>
                </a:solidFill>
                <a:latin typeface="Consolas" pitchFamily="34" charset="0"/>
                <a:ea typeface="Consolas" pitchFamily="34" charset="-122"/>
                <a:cs typeface="Consolas" pitchFamily="34" charset="-120"/>
              </a:rPr>
              <a:t>GO AHEAD · ONE AT A TIME</a:t>
            </a:r>
            <a:endParaRPr lang="en-US" sz="900" dirty="0"/>
          </a:p>
        </p:txBody>
      </p:sp>
      <p:sp>
        <p:nvSpPr>
          <p:cNvPr id="9" name="Text 5"/>
          <p:cNvSpPr/>
          <p:nvPr/>
        </p:nvSpPr>
        <p:spPr>
          <a:xfrm>
            <a:off x="4292498" y="777240"/>
            <a:ext cx="3606698" cy="274320"/>
          </a:xfrm>
          <a:prstGeom prst="rect">
            <a:avLst/>
          </a:prstGeom>
          <a:noFill/>
          <a:ln/>
        </p:spPr>
        <p:txBody>
          <a:bodyPr wrap="square" lIns="0" tIns="0" rIns="0" bIns="0" rtlCol="0" anchor="t"/>
          <a:lstStyle/>
          <a:p>
            <a:pPr algn="ctr" indent="0" marL="0">
              <a:buNone/>
            </a:pPr>
            <a:r>
              <a:rPr lang="en-US" sz="1100" spc="300" kern="0" dirty="0">
                <a:solidFill>
                  <a:srgbClr val="5E554B"/>
                </a:solidFill>
                <a:latin typeface="Consolas" pitchFamily="34" charset="0"/>
                <a:ea typeface="Consolas" pitchFamily="34" charset="-122"/>
                <a:cs typeface="Consolas" pitchFamily="34" charset="-120"/>
              </a:rPr>
              <a:t>LISTENER</a:t>
            </a:r>
            <a:endParaRPr lang="en-US" sz="1100" dirty="0"/>
          </a:p>
        </p:txBody>
      </p:sp>
      <p:pic>
        <p:nvPicPr>
          <p:cNvPr id="10" name="Image 1" descr="/Users/bera/Documents/GitHub/bainsahack/pitch/build/assets/oat-listener.png">    </p:cNvPr>
          <p:cNvPicPr>
            <a:picLocks noChangeAspect="1"/>
          </p:cNvPicPr>
          <p:nvPr/>
        </p:nvPicPr>
        <p:blipFill>
          <a:blip r:embed="rId2"/>
          <a:stretch>
            <a:fillRect/>
          </a:stretch>
        </p:blipFill>
        <p:spPr>
          <a:xfrm>
            <a:off x="4894745" y="1097280"/>
            <a:ext cx="2402205" cy="4434840"/>
          </a:xfrm>
          <a:prstGeom prst="rect">
            <a:avLst/>
          </a:prstGeom>
        </p:spPr>
      </p:pic>
      <p:sp>
        <p:nvSpPr>
          <p:cNvPr id="11" name="Shape 6"/>
          <p:cNvSpPr/>
          <p:nvPr/>
        </p:nvSpPr>
        <p:spPr>
          <a:xfrm>
            <a:off x="4894745" y="1097280"/>
            <a:ext cx="2402205" cy="4434840"/>
          </a:xfrm>
          <a:prstGeom prst="rect">
            <a:avLst/>
          </a:prstGeom>
          <a:ln w="12700">
            <a:solidFill>
              <a:srgbClr val="D9D0C0"/>
            </a:solidFill>
            <a:prstDash val="solid"/>
          </a:ln>
        </p:spPr>
      </p:sp>
      <p:sp>
        <p:nvSpPr>
          <p:cNvPr id="12" name="Text 7"/>
          <p:cNvSpPr/>
          <p:nvPr/>
        </p:nvSpPr>
        <p:spPr>
          <a:xfrm>
            <a:off x="4292498" y="5641848"/>
            <a:ext cx="3606698" cy="457200"/>
          </a:xfrm>
          <a:prstGeom prst="rect">
            <a:avLst/>
          </a:prstGeom>
          <a:noFill/>
          <a:ln/>
        </p:spPr>
        <p:txBody>
          <a:bodyPr wrap="square" lIns="0" tIns="0" rIns="0" bIns="0" rtlCol="0" anchor="t"/>
          <a:lstStyle/>
          <a:p>
            <a:pPr algn="ctr" indent="0" marL="0">
              <a:buNone/>
            </a:pPr>
            <a:r>
              <a:rPr lang="en-US" sz="2600" i="1" dirty="0">
                <a:solidFill>
                  <a:srgbClr val="17130F"/>
                </a:solidFill>
                <a:latin typeface="Georgia" pitchFamily="34" charset="0"/>
                <a:ea typeface="Georgia" pitchFamily="34" charset="-122"/>
                <a:cs typeface="Georgia" pitchFamily="34" charset="-120"/>
              </a:rPr>
              <a:t>your phone</a:t>
            </a:r>
            <a:endParaRPr lang="en-US" sz="2600" dirty="0"/>
          </a:p>
        </p:txBody>
      </p:sp>
      <p:sp>
        <p:nvSpPr>
          <p:cNvPr id="13" name="Text 8"/>
          <p:cNvSpPr/>
          <p:nvPr/>
        </p:nvSpPr>
        <p:spPr>
          <a:xfrm>
            <a:off x="4292498" y="6153912"/>
            <a:ext cx="3606698" cy="274320"/>
          </a:xfrm>
          <a:prstGeom prst="rect">
            <a:avLst/>
          </a:prstGeom>
          <a:noFill/>
          <a:ln/>
        </p:spPr>
        <p:txBody>
          <a:bodyPr wrap="square" lIns="0" tIns="0" rIns="0" bIns="0" rtlCol="0" anchor="t"/>
          <a:lstStyle/>
          <a:p>
            <a:pPr algn="ctr" indent="0" marL="0">
              <a:buNone/>
            </a:pPr>
            <a:r>
              <a:rPr lang="en-US" sz="900" spc="300" kern="0" dirty="0">
                <a:solidFill>
                  <a:srgbClr val="5E554B"/>
                </a:solidFill>
                <a:latin typeface="Consolas" pitchFamily="34" charset="0"/>
                <a:ea typeface="Consolas" pitchFamily="34" charset="-122"/>
                <a:cs typeface="Consolas" pitchFamily="34" charset="-120"/>
              </a:rPr>
              <a:t>ONE SENTENCE · NAME · TONE · SAY SOMETHING</a:t>
            </a:r>
            <a:endParaRPr lang="en-US" sz="900" dirty="0"/>
          </a:p>
        </p:txBody>
      </p:sp>
      <p:sp>
        <p:nvSpPr>
          <p:cNvPr id="14" name="Text 9"/>
          <p:cNvSpPr/>
          <p:nvPr/>
        </p:nvSpPr>
        <p:spPr>
          <a:xfrm>
            <a:off x="7899197" y="777240"/>
            <a:ext cx="3606698" cy="274320"/>
          </a:xfrm>
          <a:prstGeom prst="rect">
            <a:avLst/>
          </a:prstGeom>
          <a:noFill/>
          <a:ln/>
        </p:spPr>
        <p:txBody>
          <a:bodyPr wrap="square" lIns="0" tIns="0" rIns="0" bIns="0" rtlCol="0" anchor="t"/>
          <a:lstStyle/>
          <a:p>
            <a:pPr algn="ctr" indent="0" marL="0">
              <a:buNone/>
            </a:pPr>
            <a:r>
              <a:rPr lang="en-US" sz="1100" spc="300" kern="0" dirty="0">
                <a:solidFill>
                  <a:srgbClr val="5E554B"/>
                </a:solidFill>
                <a:latin typeface="Consolas" pitchFamily="34" charset="0"/>
                <a:ea typeface="Consolas" pitchFamily="34" charset="-122"/>
                <a:cs typeface="Consolas" pitchFamily="34" charset="-120"/>
              </a:rPr>
              <a:t>MAP</a:t>
            </a:r>
            <a:endParaRPr lang="en-US" sz="1100" dirty="0"/>
          </a:p>
        </p:txBody>
      </p:sp>
      <p:pic>
        <p:nvPicPr>
          <p:cNvPr id="15" name="Image 2" descr="/Users/bera/Documents/GitHub/bainsahack/pitch/build/assets/oat-map.png">    </p:cNvPr>
          <p:cNvPicPr>
            <a:picLocks noChangeAspect="1"/>
          </p:cNvPicPr>
          <p:nvPr/>
        </p:nvPicPr>
        <p:blipFill>
          <a:blip r:embed="rId3"/>
          <a:stretch>
            <a:fillRect/>
          </a:stretch>
        </p:blipFill>
        <p:spPr>
          <a:xfrm>
            <a:off x="8501444" y="1097280"/>
            <a:ext cx="2402205" cy="4434840"/>
          </a:xfrm>
          <a:prstGeom prst="rect">
            <a:avLst/>
          </a:prstGeom>
        </p:spPr>
      </p:pic>
      <p:sp>
        <p:nvSpPr>
          <p:cNvPr id="16" name="Shape 10"/>
          <p:cNvSpPr/>
          <p:nvPr/>
        </p:nvSpPr>
        <p:spPr>
          <a:xfrm>
            <a:off x="8501444" y="1097280"/>
            <a:ext cx="2402205" cy="4434840"/>
          </a:xfrm>
          <a:prstGeom prst="rect">
            <a:avLst/>
          </a:prstGeom>
          <a:ln w="12700">
            <a:solidFill>
              <a:srgbClr val="D9D0C0"/>
            </a:solidFill>
            <a:prstDash val="solid"/>
          </a:ln>
        </p:spPr>
      </p:sp>
      <p:sp>
        <p:nvSpPr>
          <p:cNvPr id="17" name="Text 11"/>
          <p:cNvSpPr/>
          <p:nvPr/>
        </p:nvSpPr>
        <p:spPr>
          <a:xfrm>
            <a:off x="7899197" y="5641848"/>
            <a:ext cx="3606698" cy="457200"/>
          </a:xfrm>
          <a:prstGeom prst="rect">
            <a:avLst/>
          </a:prstGeom>
          <a:noFill/>
          <a:ln/>
        </p:spPr>
        <p:txBody>
          <a:bodyPr wrap="square" lIns="0" tIns="0" rIns="0" bIns="0" rtlCol="0" anchor="t"/>
          <a:lstStyle/>
          <a:p>
            <a:pPr algn="ctr" indent="0" marL="0">
              <a:buNone/>
            </a:pPr>
            <a:r>
              <a:rPr lang="en-US" sz="2600" i="1" dirty="0">
                <a:solidFill>
                  <a:srgbClr val="17130F"/>
                </a:solidFill>
                <a:latin typeface="Georgia" pitchFamily="34" charset="0"/>
                <a:ea typeface="Georgia" pitchFamily="34" charset="-122"/>
                <a:cs typeface="Georgia" pitchFamily="34" charset="-120"/>
              </a:rPr>
              <a:t>where it went</a:t>
            </a:r>
            <a:endParaRPr lang="en-US" sz="2600" dirty="0"/>
          </a:p>
        </p:txBody>
      </p:sp>
      <p:sp>
        <p:nvSpPr>
          <p:cNvPr id="18" name="Text 12"/>
          <p:cNvSpPr/>
          <p:nvPr/>
        </p:nvSpPr>
        <p:spPr>
          <a:xfrm>
            <a:off x="7899197" y="6153912"/>
            <a:ext cx="3606698" cy="274320"/>
          </a:xfrm>
          <a:prstGeom prst="rect">
            <a:avLst/>
          </a:prstGeom>
          <a:noFill/>
          <a:ln/>
        </p:spPr>
        <p:txBody>
          <a:bodyPr wrap="square" lIns="0" tIns="0" rIns="0" bIns="0" rtlCol="0" anchor="t"/>
          <a:lstStyle/>
          <a:p>
            <a:pPr algn="ctr" indent="0" marL="0">
              <a:buNone/>
            </a:pPr>
            <a:r>
              <a:rPr lang="en-US" sz="900" spc="300" kern="0" dirty="0">
                <a:solidFill>
                  <a:srgbClr val="5E554B"/>
                </a:solidFill>
                <a:latin typeface="Consolas" pitchFamily="34" charset="0"/>
                <a:ea typeface="Consolas" pitchFamily="34" charset="-122"/>
                <a:cs typeface="Consolas" pitchFamily="34" charset="-120"/>
              </a:rPr>
              <a:t>WHO, TO WHOM, ABOUT WHAT</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EEE2"/>
        </a:solidFill>
      </p:bgPr>
    </p:bg>
    <p:spTree>
      <p:nvGrpSpPr>
        <p:cNvPr id="1" name=""/>
        <p:cNvGrpSpPr/>
        <p:nvPr/>
      </p:nvGrpSpPr>
      <p:grpSpPr>
        <a:xfrm>
          <a:off x="0" y="0"/>
          <a:ext cx="0" cy="0"/>
          <a:chOff x="0" y="0"/>
          <a:chExt cx="0" cy="0"/>
        </a:xfrm>
      </p:grpSpPr>
      <p:sp>
        <p:nvSpPr>
          <p:cNvPr id="3" name="Text 0"/>
          <p:cNvSpPr/>
          <p:nvPr/>
        </p:nvSpPr>
        <p:spPr>
          <a:xfrm>
            <a:off x="685800" y="457200"/>
            <a:ext cx="9144000" cy="274320"/>
          </a:xfrm>
          <a:prstGeom prst="rect">
            <a:avLst/>
          </a:prstGeom>
          <a:noFill/>
          <a:ln/>
        </p:spPr>
        <p:txBody>
          <a:bodyPr wrap="square" lIns="0" tIns="0" rIns="0" bIns="0" rtlCol="0" anchor="t"/>
          <a:lstStyle/>
          <a:p>
            <a:pPr indent="0" marL="0">
              <a:buNone/>
            </a:pPr>
            <a:r>
              <a:rPr lang="en-US" sz="1100" spc="300" kern="0" dirty="0">
                <a:solidFill>
                  <a:srgbClr val="5E554B"/>
                </a:solidFill>
                <a:latin typeface="Consolas" pitchFamily="34" charset="0"/>
                <a:ea typeface="Consolas" pitchFamily="34" charset="-122"/>
                <a:cs typeface="Consolas" pitchFamily="34" charset="-120"/>
              </a:rPr>
              <a:t>WHAT THE LISTENER GETS BACK</a:t>
            </a:r>
            <a:endParaRPr lang="en-US" sz="1100" dirty="0"/>
          </a:p>
        </p:txBody>
      </p:sp>
      <p:sp>
        <p:nvSpPr>
          <p:cNvPr id="4" name="Text 1"/>
          <p:cNvSpPr/>
          <p:nvPr/>
        </p:nvSpPr>
        <p:spPr>
          <a:xfrm>
            <a:off x="685800" y="822960"/>
            <a:ext cx="7680960" cy="822960"/>
          </a:xfrm>
          <a:prstGeom prst="rect">
            <a:avLst/>
          </a:prstGeom>
          <a:noFill/>
          <a:ln/>
        </p:spPr>
        <p:txBody>
          <a:bodyPr wrap="square" lIns="0" tIns="0" rIns="0" bIns="0" rtlCol="0" anchor="t"/>
          <a:lstStyle/>
          <a:p>
            <a:pPr indent="0" marL="0">
              <a:buNone/>
            </a:pPr>
            <a:r>
              <a:rPr lang="en-US" sz="3600" i="1" dirty="0">
                <a:solidFill>
                  <a:srgbClr val="17130F"/>
                </a:solidFill>
                <a:latin typeface="Georgia" pitchFamily="34" charset="0"/>
                <a:ea typeface="Georgia" pitchFamily="34" charset="-122"/>
                <a:cs typeface="Georgia" pitchFamily="34" charset="-120"/>
              </a:rPr>
              <a:t>What a voice carries, on one screen.</a:t>
            </a:r>
            <a:endParaRPr lang="en-US" sz="3600" dirty="0"/>
          </a:p>
        </p:txBody>
      </p:sp>
      <p:sp>
        <p:nvSpPr>
          <p:cNvPr id="5" name="Shape 2"/>
          <p:cNvSpPr/>
          <p:nvPr/>
        </p:nvSpPr>
        <p:spPr>
          <a:xfrm>
            <a:off x="685800" y="1874520"/>
            <a:ext cx="7589520" cy="0"/>
          </a:xfrm>
          <a:prstGeom prst="line">
            <a:avLst/>
          </a:prstGeom>
          <a:noFill/>
          <a:ln w="9525">
            <a:solidFill>
              <a:srgbClr val="D9D0C0"/>
            </a:solidFill>
            <a:prstDash val="solid"/>
          </a:ln>
        </p:spPr>
      </p:sp>
      <p:sp>
        <p:nvSpPr>
          <p:cNvPr id="6" name="Text 3"/>
          <p:cNvSpPr/>
          <p:nvPr/>
        </p:nvSpPr>
        <p:spPr>
          <a:xfrm>
            <a:off x="685800" y="2130552"/>
            <a:ext cx="2286000" cy="320040"/>
          </a:xfrm>
          <a:prstGeom prst="rect">
            <a:avLst/>
          </a:prstGeom>
          <a:noFill/>
          <a:ln/>
        </p:spPr>
        <p:txBody>
          <a:bodyPr wrap="square" lIns="0" tIns="0" rIns="0" bIns="0" rtlCol="0" anchor="t"/>
          <a:lstStyle/>
          <a:p>
            <a:pPr indent="0" marL="0">
              <a:buNone/>
            </a:pPr>
            <a:r>
              <a:rPr lang="en-US" sz="1200" spc="300" kern="0" dirty="0">
                <a:solidFill>
                  <a:srgbClr val="17130F"/>
                </a:solidFill>
                <a:latin typeface="Consolas" pitchFamily="34" charset="0"/>
                <a:ea typeface="Consolas" pitchFamily="34" charset="-122"/>
                <a:cs typeface="Consolas" pitchFamily="34" charset="-120"/>
              </a:rPr>
              <a:t>WHO</a:t>
            </a:r>
            <a:endParaRPr lang="en-US" sz="1200" dirty="0"/>
          </a:p>
        </p:txBody>
      </p:sp>
      <p:sp>
        <p:nvSpPr>
          <p:cNvPr id="7" name="Text 4"/>
          <p:cNvSpPr/>
          <p:nvPr/>
        </p:nvSpPr>
        <p:spPr>
          <a:xfrm>
            <a:off x="3063240" y="2075688"/>
            <a:ext cx="5212080" cy="548640"/>
          </a:xfrm>
          <a:prstGeom prst="rect">
            <a:avLst/>
          </a:prstGeom>
          <a:noFill/>
          <a:ln/>
        </p:spPr>
        <p:txBody>
          <a:bodyPr wrap="square" lIns="0" tIns="0" rIns="0" bIns="0" rtlCol="0" anchor="t"/>
          <a:lstStyle/>
          <a:p>
            <a:pPr indent="0" marL="0">
              <a:buNone/>
            </a:pPr>
            <a:r>
              <a:rPr lang="en-US" sz="2000" dirty="0">
                <a:solidFill>
                  <a:srgbClr val="17130F"/>
                </a:solidFill>
                <a:latin typeface="Calibri" pitchFamily="34" charset="0"/>
                <a:ea typeface="Calibri" pitchFamily="34" charset="-122"/>
                <a:cs typeface="Calibri" pitchFamily="34" charset="-120"/>
              </a:rPr>
              <a:t>Every line named. Phones are the mics; with one phone, the voice itself names it (enrolled once, 100% on our test).</a:t>
            </a:r>
            <a:endParaRPr lang="en-US" sz="2000" dirty="0"/>
          </a:p>
        </p:txBody>
      </p:sp>
      <p:sp>
        <p:nvSpPr>
          <p:cNvPr id="8" name="Shape 5"/>
          <p:cNvSpPr/>
          <p:nvPr/>
        </p:nvSpPr>
        <p:spPr>
          <a:xfrm>
            <a:off x="685800" y="2697480"/>
            <a:ext cx="7589520" cy="0"/>
          </a:xfrm>
          <a:prstGeom prst="line">
            <a:avLst/>
          </a:prstGeom>
          <a:noFill/>
          <a:ln w="9525">
            <a:solidFill>
              <a:srgbClr val="D9D0C0"/>
            </a:solidFill>
            <a:prstDash val="solid"/>
          </a:ln>
        </p:spPr>
      </p:sp>
      <p:sp>
        <p:nvSpPr>
          <p:cNvPr id="9" name="Text 6"/>
          <p:cNvSpPr/>
          <p:nvPr/>
        </p:nvSpPr>
        <p:spPr>
          <a:xfrm>
            <a:off x="685800" y="2953512"/>
            <a:ext cx="2286000" cy="320040"/>
          </a:xfrm>
          <a:prstGeom prst="rect">
            <a:avLst/>
          </a:prstGeom>
          <a:noFill/>
          <a:ln/>
        </p:spPr>
        <p:txBody>
          <a:bodyPr wrap="square" lIns="0" tIns="0" rIns="0" bIns="0" rtlCol="0" anchor="t"/>
          <a:lstStyle/>
          <a:p>
            <a:pPr indent="0" marL="0">
              <a:buNone/>
            </a:pPr>
            <a:r>
              <a:rPr lang="en-US" sz="1200" spc="300" kern="0" dirty="0">
                <a:solidFill>
                  <a:srgbClr val="17130F"/>
                </a:solidFill>
                <a:latin typeface="Consolas" pitchFamily="34" charset="0"/>
                <a:ea typeface="Consolas" pitchFamily="34" charset="-122"/>
                <a:cs typeface="Consolas" pitchFamily="34" charset="-120"/>
              </a:rPr>
              <a:t>HOW IT WAS SAID</a:t>
            </a:r>
            <a:endParaRPr lang="en-US" sz="1200" dirty="0"/>
          </a:p>
        </p:txBody>
      </p:sp>
      <p:sp>
        <p:nvSpPr>
          <p:cNvPr id="10" name="Text 7"/>
          <p:cNvSpPr/>
          <p:nvPr/>
        </p:nvSpPr>
        <p:spPr>
          <a:xfrm>
            <a:off x="3063240" y="2898648"/>
            <a:ext cx="5212080" cy="548640"/>
          </a:xfrm>
          <a:prstGeom prst="rect">
            <a:avLst/>
          </a:prstGeom>
          <a:noFill/>
          <a:ln/>
        </p:spPr>
        <p:txBody>
          <a:bodyPr wrap="square" lIns="0" tIns="0" rIns="0" bIns="0" rtlCol="0" anchor="t"/>
          <a:lstStyle/>
          <a:p>
            <a:pPr indent="0" marL="0">
              <a:buNone/>
            </a:pPr>
            <a:r>
              <a:rPr lang="en-US" sz="2000" dirty="0">
                <a:solidFill>
                  <a:srgbClr val="17130F"/>
                </a:solidFill>
                <a:latin typeface="Calibri" pitchFamily="34" charset="0"/>
                <a:ea typeface="Calibri" pitchFamily="34" charset="-122"/>
                <a:cs typeface="Calibri" pitchFamily="34" charset="-120"/>
              </a:rPr>
              <a:t>Tone in 0.7 s: </a:t>
            </a:r>
            <a:pPr indent="0" marL="0">
              <a:buNone/>
            </a:pPr>
            <a:r>
              <a:rPr lang="en-US" sz="2000" i="1" dirty="0">
                <a:solidFill>
                  <a:srgbClr val="17130F"/>
                </a:solidFill>
                <a:latin typeface="Georgia" pitchFamily="34" charset="0"/>
                <a:ea typeface="Georgia" pitchFamily="34" charset="-122"/>
                <a:cs typeface="Georgia" pitchFamily="34" charset="-120"/>
              </a:rPr>
              <a:t>warm, teasing, annoyed.</a:t>
            </a:r>
            <a:endParaRPr lang="en-US" sz="2000" dirty="0"/>
          </a:p>
        </p:txBody>
      </p:sp>
      <p:sp>
        <p:nvSpPr>
          <p:cNvPr id="11" name="Shape 8"/>
          <p:cNvSpPr/>
          <p:nvPr/>
        </p:nvSpPr>
        <p:spPr>
          <a:xfrm>
            <a:off x="685800" y="3520440"/>
            <a:ext cx="7589520" cy="0"/>
          </a:xfrm>
          <a:prstGeom prst="line">
            <a:avLst/>
          </a:prstGeom>
          <a:noFill/>
          <a:ln w="9525">
            <a:solidFill>
              <a:srgbClr val="D9D0C0"/>
            </a:solidFill>
            <a:prstDash val="solid"/>
          </a:ln>
        </p:spPr>
      </p:sp>
      <p:sp>
        <p:nvSpPr>
          <p:cNvPr id="12" name="Text 9"/>
          <p:cNvSpPr/>
          <p:nvPr/>
        </p:nvSpPr>
        <p:spPr>
          <a:xfrm>
            <a:off x="685800" y="3776472"/>
            <a:ext cx="2286000" cy="320040"/>
          </a:xfrm>
          <a:prstGeom prst="rect">
            <a:avLst/>
          </a:prstGeom>
          <a:noFill/>
          <a:ln/>
        </p:spPr>
        <p:txBody>
          <a:bodyPr wrap="square" lIns="0" tIns="0" rIns="0" bIns="0" rtlCol="0" anchor="t"/>
          <a:lstStyle/>
          <a:p>
            <a:pPr indent="0" marL="0">
              <a:buNone/>
            </a:pPr>
            <a:r>
              <a:rPr lang="en-US" sz="1200" spc="300" kern="0" dirty="0">
                <a:solidFill>
                  <a:srgbClr val="17130F"/>
                </a:solidFill>
                <a:latin typeface="Consolas" pitchFamily="34" charset="0"/>
                <a:ea typeface="Consolas" pitchFamily="34" charset="-122"/>
                <a:cs typeface="Consolas" pitchFamily="34" charset="-120"/>
              </a:rPr>
              <a:t>WHAT WAS AGREED</a:t>
            </a:r>
            <a:endParaRPr lang="en-US" sz="1200" dirty="0"/>
          </a:p>
        </p:txBody>
      </p:sp>
      <p:sp>
        <p:nvSpPr>
          <p:cNvPr id="13" name="Text 10"/>
          <p:cNvSpPr/>
          <p:nvPr/>
        </p:nvSpPr>
        <p:spPr>
          <a:xfrm>
            <a:off x="3063240" y="3721608"/>
            <a:ext cx="5212080" cy="548640"/>
          </a:xfrm>
          <a:prstGeom prst="rect">
            <a:avLst/>
          </a:prstGeom>
          <a:noFill/>
          <a:ln/>
        </p:spPr>
        <p:txBody>
          <a:bodyPr wrap="square" lIns="0" tIns="0" rIns="0" bIns="0" rtlCol="0" anchor="t"/>
          <a:lstStyle/>
          <a:p>
            <a:pPr indent="0" marL="0">
              <a:buNone/>
            </a:pPr>
            <a:r>
              <a:rPr lang="en-US" sz="2000" dirty="0">
                <a:solidFill>
                  <a:srgbClr val="17130F"/>
                </a:solidFill>
                <a:latin typeface="Calibri" pitchFamily="34" charset="0"/>
                <a:ea typeface="Calibri" pitchFamily="34" charset="-122"/>
                <a:cs typeface="Calibri" pitchFamily="34" charset="-120"/>
              </a:rPr>
              <a:t>Plans with the reason, refreshed every 10 s.</a:t>
            </a:r>
            <a:endParaRPr lang="en-US" sz="2000" dirty="0"/>
          </a:p>
        </p:txBody>
      </p:sp>
      <p:sp>
        <p:nvSpPr>
          <p:cNvPr id="14" name="Shape 11"/>
          <p:cNvSpPr/>
          <p:nvPr/>
        </p:nvSpPr>
        <p:spPr>
          <a:xfrm>
            <a:off x="685800" y="4343400"/>
            <a:ext cx="7589520" cy="0"/>
          </a:xfrm>
          <a:prstGeom prst="line">
            <a:avLst/>
          </a:prstGeom>
          <a:noFill/>
          <a:ln w="9525">
            <a:solidFill>
              <a:srgbClr val="D9D0C0"/>
            </a:solidFill>
            <a:prstDash val="solid"/>
          </a:ln>
        </p:spPr>
      </p:sp>
      <p:sp>
        <p:nvSpPr>
          <p:cNvPr id="15" name="Text 12"/>
          <p:cNvSpPr/>
          <p:nvPr/>
        </p:nvSpPr>
        <p:spPr>
          <a:xfrm>
            <a:off x="685800" y="4599432"/>
            <a:ext cx="2286000" cy="320040"/>
          </a:xfrm>
          <a:prstGeom prst="rect">
            <a:avLst/>
          </a:prstGeom>
          <a:noFill/>
          <a:ln/>
        </p:spPr>
        <p:txBody>
          <a:bodyPr wrap="square" lIns="0" tIns="0" rIns="0" bIns="0" rtlCol="0" anchor="t"/>
          <a:lstStyle/>
          <a:p>
            <a:pPr indent="0" marL="0">
              <a:buNone/>
            </a:pPr>
            <a:r>
              <a:rPr lang="en-US" sz="1200" spc="300" kern="0" dirty="0">
                <a:solidFill>
                  <a:srgbClr val="17130F"/>
                </a:solidFill>
                <a:latin typeface="Consolas" pitchFamily="34" charset="0"/>
                <a:ea typeface="Consolas" pitchFamily="34" charset="-122"/>
                <a:cs typeface="Consolas" pitchFamily="34" charset="-120"/>
              </a:rPr>
              <a:t>WHEN THEY LAUGHED</a:t>
            </a:r>
            <a:endParaRPr lang="en-US" sz="1200" dirty="0"/>
          </a:p>
        </p:txBody>
      </p:sp>
      <p:sp>
        <p:nvSpPr>
          <p:cNvPr id="16" name="Text 13"/>
          <p:cNvSpPr/>
          <p:nvPr/>
        </p:nvSpPr>
        <p:spPr>
          <a:xfrm>
            <a:off x="3063240" y="4544568"/>
            <a:ext cx="5212080" cy="548640"/>
          </a:xfrm>
          <a:prstGeom prst="rect">
            <a:avLst/>
          </a:prstGeom>
          <a:noFill/>
          <a:ln/>
        </p:spPr>
        <p:txBody>
          <a:bodyPr wrap="square" lIns="0" tIns="0" rIns="0" bIns="0" rtlCol="0" anchor="t"/>
          <a:lstStyle/>
          <a:p>
            <a:pPr indent="0" marL="0">
              <a:buNone/>
            </a:pPr>
            <a:r>
              <a:rPr lang="en-US" sz="2000" dirty="0">
                <a:solidFill>
                  <a:srgbClr val="17130F"/>
                </a:solidFill>
                <a:latin typeface="Calibri" pitchFamily="34" charset="0"/>
                <a:ea typeface="Calibri" pitchFamily="34" charset="-122"/>
                <a:cs typeface="Calibri" pitchFamily="34" charset="-120"/>
              </a:rPr>
              <a:t>“The table laughed.” No audio model.</a:t>
            </a:r>
            <a:endParaRPr lang="en-US" sz="2000" dirty="0"/>
          </a:p>
        </p:txBody>
      </p:sp>
      <p:sp>
        <p:nvSpPr>
          <p:cNvPr id="17" name="Shape 14"/>
          <p:cNvSpPr/>
          <p:nvPr/>
        </p:nvSpPr>
        <p:spPr>
          <a:xfrm>
            <a:off x="685800" y="5166360"/>
            <a:ext cx="7589520" cy="0"/>
          </a:xfrm>
          <a:prstGeom prst="line">
            <a:avLst/>
          </a:prstGeom>
          <a:noFill/>
          <a:ln w="9525">
            <a:solidFill>
              <a:srgbClr val="D9D0C0"/>
            </a:solidFill>
            <a:prstDash val="solid"/>
          </a:ln>
        </p:spPr>
      </p:sp>
      <p:sp>
        <p:nvSpPr>
          <p:cNvPr id="18" name="Shape 15"/>
          <p:cNvSpPr/>
          <p:nvPr/>
        </p:nvSpPr>
        <p:spPr>
          <a:xfrm>
            <a:off x="685800" y="5495544"/>
            <a:ext cx="237744" cy="237744"/>
          </a:xfrm>
          <a:prstGeom prst="ellipse">
            <a:avLst/>
          </a:prstGeom>
          <a:solidFill>
            <a:srgbClr val="E4A73A"/>
          </a:solidFill>
          <a:ln w="12700">
            <a:solidFill>
              <a:srgbClr val="E4A73A"/>
            </a:solidFill>
            <a:prstDash val="solid"/>
          </a:ln>
        </p:spPr>
      </p:sp>
      <p:sp>
        <p:nvSpPr>
          <p:cNvPr id="19" name="Text 16"/>
          <p:cNvSpPr/>
          <p:nvPr/>
        </p:nvSpPr>
        <p:spPr>
          <a:xfrm>
            <a:off x="1097280" y="5349240"/>
            <a:ext cx="7178040" cy="731520"/>
          </a:xfrm>
          <a:prstGeom prst="rect">
            <a:avLst/>
          </a:prstGeom>
          <a:noFill/>
          <a:ln/>
        </p:spPr>
        <p:txBody>
          <a:bodyPr wrap="square" lIns="0" tIns="0" rIns="0" bIns="0" rtlCol="0" anchor="t"/>
          <a:lstStyle/>
          <a:p>
            <a:pPr indent="0" marL="0">
              <a:buNone/>
            </a:pPr>
            <a:r>
              <a:rPr lang="en-US" sz="2400" i="1" dirty="0">
                <a:solidFill>
                  <a:srgbClr val="17130F"/>
                </a:solidFill>
                <a:latin typeface="Georgia" pitchFamily="34" charset="0"/>
                <a:ea typeface="Georgia" pitchFamily="34" charset="-122"/>
                <a:cs typeface="Georgia" pitchFamily="34" charset="-120"/>
              </a:rPr>
              <a:t>Your name is called: the whole phone turns amber in under 1 s.</a:t>
            </a:r>
            <a:endParaRPr lang="en-US" sz="2400" dirty="0"/>
          </a:p>
        </p:txBody>
      </p:sp>
      <p:pic>
        <p:nvPicPr>
          <p:cNvPr id="20" name="Image 0" descr="/Users/bera/Documents/GitHub/bainsahack/pitch/build/assets/oat-listener-asked.png">    </p:cNvPr>
          <p:cNvPicPr>
            <a:picLocks noChangeAspect="1"/>
          </p:cNvPicPr>
          <p:nvPr/>
        </p:nvPicPr>
        <p:blipFill>
          <a:blip r:embed="rId1"/>
          <a:stretch>
            <a:fillRect/>
          </a:stretch>
        </p:blipFill>
        <p:spPr>
          <a:xfrm>
            <a:off x="8732520" y="1005840"/>
            <a:ext cx="2773680" cy="5120640"/>
          </a:xfrm>
          <a:prstGeom prst="rect">
            <a:avLst/>
          </a:prstGeom>
        </p:spPr>
      </p:pic>
      <p:sp>
        <p:nvSpPr>
          <p:cNvPr id="21" name="Shape 17"/>
          <p:cNvSpPr/>
          <p:nvPr/>
        </p:nvSpPr>
        <p:spPr>
          <a:xfrm>
            <a:off x="8732520" y="1005840"/>
            <a:ext cx="2773680" cy="5120640"/>
          </a:xfrm>
          <a:prstGeom prst="rect">
            <a:avLst/>
          </a:prstGeom>
          <a:ln w="12700">
            <a:solidFill>
              <a:srgbClr val="D9D0C0"/>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EEE2"/>
        </a:solidFill>
      </p:bgPr>
    </p:bg>
    <p:spTree>
      <p:nvGrpSpPr>
        <p:cNvPr id="1" name=""/>
        <p:cNvGrpSpPr/>
        <p:nvPr/>
      </p:nvGrpSpPr>
      <p:grpSpPr>
        <a:xfrm>
          <a:off x="0" y="0"/>
          <a:ext cx="0" cy="0"/>
          <a:chOff x="0" y="0"/>
          <a:chExt cx="0" cy="0"/>
        </a:xfrm>
      </p:grpSpPr>
      <p:sp>
        <p:nvSpPr>
          <p:cNvPr id="3" name="Text 0"/>
          <p:cNvSpPr/>
          <p:nvPr/>
        </p:nvSpPr>
        <p:spPr>
          <a:xfrm>
            <a:off x="685800" y="457200"/>
            <a:ext cx="9144000" cy="274320"/>
          </a:xfrm>
          <a:prstGeom prst="rect">
            <a:avLst/>
          </a:prstGeom>
          <a:noFill/>
          <a:ln/>
        </p:spPr>
        <p:txBody>
          <a:bodyPr wrap="square" lIns="0" tIns="0" rIns="0" bIns="0" rtlCol="0" anchor="t"/>
          <a:lstStyle/>
          <a:p>
            <a:pPr indent="0" marL="0">
              <a:buNone/>
            </a:pPr>
            <a:r>
              <a:rPr lang="en-US" sz="1100" spc="300" kern="0" dirty="0">
                <a:solidFill>
                  <a:srgbClr val="5E554B"/>
                </a:solidFill>
                <a:latin typeface="Consolas" pitchFamily="34" charset="0"/>
                <a:ea typeface="Consolas" pitchFamily="34" charset="-122"/>
                <a:cs typeface="Consolas" pitchFamily="34" charset="-120"/>
              </a:rPr>
              <a:t>WHAT'S NEW, HONESTLY</a:t>
            </a:r>
            <a:endParaRPr lang="en-US" sz="1100" dirty="0"/>
          </a:p>
        </p:txBody>
      </p:sp>
      <p:sp>
        <p:nvSpPr>
          <p:cNvPr id="4" name="Text 1"/>
          <p:cNvSpPr/>
          <p:nvPr/>
        </p:nvSpPr>
        <p:spPr>
          <a:xfrm>
            <a:off x="685800" y="822960"/>
            <a:ext cx="10820095" cy="822960"/>
          </a:xfrm>
          <a:prstGeom prst="rect">
            <a:avLst/>
          </a:prstGeom>
          <a:noFill/>
          <a:ln/>
        </p:spPr>
        <p:txBody>
          <a:bodyPr wrap="square" lIns="0" tIns="0" rIns="0" bIns="0" rtlCol="0" anchor="t"/>
          <a:lstStyle/>
          <a:p>
            <a:pPr indent="0" marL="0">
              <a:buNone/>
            </a:pPr>
            <a:r>
              <a:rPr lang="en-US" sz="3600" i="1" dirty="0">
                <a:solidFill>
                  <a:srgbClr val="17130F"/>
                </a:solidFill>
                <a:latin typeface="Georgia" pitchFamily="34" charset="0"/>
                <a:ea typeface="Georgia" pitchFamily="34" charset="-122"/>
                <a:cs typeface="Georgia" pitchFamily="34" charset="-120"/>
              </a:rPr>
              <a:t>Everyone else builds for the listener.</a:t>
            </a:r>
            <a:endParaRPr lang="en-US" sz="3600" dirty="0"/>
          </a:p>
        </p:txBody>
      </p:sp>
      <p:sp>
        <p:nvSpPr>
          <p:cNvPr id="5" name="Shape 2"/>
          <p:cNvSpPr/>
          <p:nvPr/>
        </p:nvSpPr>
        <p:spPr>
          <a:xfrm>
            <a:off x="685800" y="1828800"/>
            <a:ext cx="10820095" cy="0"/>
          </a:xfrm>
          <a:prstGeom prst="line">
            <a:avLst/>
          </a:prstGeom>
          <a:noFill/>
          <a:ln w="9525">
            <a:solidFill>
              <a:srgbClr val="D9D0C0"/>
            </a:solidFill>
            <a:prstDash val="solid"/>
          </a:ln>
        </p:spPr>
      </p:sp>
      <p:sp>
        <p:nvSpPr>
          <p:cNvPr id="6" name="Text 3"/>
          <p:cNvSpPr/>
          <p:nvPr/>
        </p:nvSpPr>
        <p:spPr>
          <a:xfrm>
            <a:off x="685800" y="1956816"/>
            <a:ext cx="2286000" cy="274320"/>
          </a:xfrm>
          <a:prstGeom prst="rect">
            <a:avLst/>
          </a:prstGeom>
          <a:noFill/>
          <a:ln/>
        </p:spPr>
        <p:txBody>
          <a:bodyPr wrap="square" lIns="0" tIns="0" rIns="0" bIns="0" rtlCol="0" anchor="t"/>
          <a:lstStyle/>
          <a:p>
            <a:pPr indent="0" marL="0">
              <a:buNone/>
            </a:pPr>
            <a:r>
              <a:rPr lang="en-US" sz="1100" spc="300" kern="0" dirty="0">
                <a:solidFill>
                  <a:srgbClr val="5E554B"/>
                </a:solidFill>
                <a:latin typeface="Consolas" pitchFamily="34" charset="0"/>
                <a:ea typeface="Consolas" pitchFamily="34" charset="-122"/>
                <a:cs typeface="Consolas" pitchFamily="34" charset="-120"/>
              </a:rPr>
              <a:t>TOOL</a:t>
            </a:r>
            <a:endParaRPr lang="en-US" sz="1100" dirty="0"/>
          </a:p>
        </p:txBody>
      </p:sp>
      <p:sp>
        <p:nvSpPr>
          <p:cNvPr id="7" name="Text 4"/>
          <p:cNvSpPr/>
          <p:nvPr/>
        </p:nvSpPr>
        <p:spPr>
          <a:xfrm>
            <a:off x="3154680" y="1956816"/>
            <a:ext cx="3657600" cy="274320"/>
          </a:xfrm>
          <a:prstGeom prst="rect">
            <a:avLst/>
          </a:prstGeom>
          <a:noFill/>
          <a:ln/>
        </p:spPr>
        <p:txBody>
          <a:bodyPr wrap="square" lIns="0" tIns="0" rIns="0" bIns="0" rtlCol="0" anchor="t"/>
          <a:lstStyle/>
          <a:p>
            <a:pPr indent="0" marL="0">
              <a:buNone/>
            </a:pPr>
            <a:r>
              <a:rPr lang="en-US" sz="1100" spc="300" kern="0" dirty="0">
                <a:solidFill>
                  <a:srgbClr val="5E554B"/>
                </a:solidFill>
                <a:latin typeface="Consolas" pitchFamily="34" charset="0"/>
                <a:ea typeface="Consolas" pitchFamily="34" charset="-122"/>
                <a:cs typeface="Consolas" pitchFamily="34" charset="-120"/>
              </a:rPr>
              <a:t>ALREADY DOES</a:t>
            </a:r>
            <a:endParaRPr lang="en-US" sz="1100" dirty="0"/>
          </a:p>
        </p:txBody>
      </p:sp>
      <p:sp>
        <p:nvSpPr>
          <p:cNvPr id="8" name="Text 5"/>
          <p:cNvSpPr/>
          <p:nvPr/>
        </p:nvSpPr>
        <p:spPr>
          <a:xfrm>
            <a:off x="6995160" y="1956816"/>
            <a:ext cx="4327855" cy="274320"/>
          </a:xfrm>
          <a:prstGeom prst="rect">
            <a:avLst/>
          </a:prstGeom>
          <a:noFill/>
          <a:ln/>
        </p:spPr>
        <p:txBody>
          <a:bodyPr wrap="square" lIns="0" tIns="0" rIns="0" bIns="0" rtlCol="0" anchor="t"/>
          <a:lstStyle/>
          <a:p>
            <a:pPr indent="0" marL="0">
              <a:buNone/>
            </a:pPr>
            <a:r>
              <a:rPr lang="en-US" sz="1100" spc="300" kern="0" dirty="0">
                <a:solidFill>
                  <a:srgbClr val="5E554B"/>
                </a:solidFill>
                <a:latin typeface="Consolas" pitchFamily="34" charset="0"/>
                <a:ea typeface="Consolas" pitchFamily="34" charset="-122"/>
                <a:cs typeface="Consolas" pitchFamily="34" charset="-120"/>
              </a:rPr>
              <a:t>DOESN'T DO</a:t>
            </a:r>
            <a:endParaRPr lang="en-US" sz="1100" dirty="0"/>
          </a:p>
        </p:txBody>
      </p:sp>
      <p:sp>
        <p:nvSpPr>
          <p:cNvPr id="9" name="Shape 6"/>
          <p:cNvSpPr/>
          <p:nvPr/>
        </p:nvSpPr>
        <p:spPr>
          <a:xfrm>
            <a:off x="685800" y="2286000"/>
            <a:ext cx="10820095" cy="0"/>
          </a:xfrm>
          <a:prstGeom prst="line">
            <a:avLst/>
          </a:prstGeom>
          <a:noFill/>
          <a:ln w="9525">
            <a:solidFill>
              <a:srgbClr val="D9D0C0"/>
            </a:solidFill>
            <a:prstDash val="solid"/>
          </a:ln>
        </p:spPr>
      </p:sp>
      <p:sp>
        <p:nvSpPr>
          <p:cNvPr id="10" name="Text 7"/>
          <p:cNvSpPr/>
          <p:nvPr/>
        </p:nvSpPr>
        <p:spPr>
          <a:xfrm>
            <a:off x="685800" y="2414016"/>
            <a:ext cx="2240280" cy="566928"/>
          </a:xfrm>
          <a:prstGeom prst="rect">
            <a:avLst/>
          </a:prstGeom>
          <a:noFill/>
          <a:ln/>
        </p:spPr>
        <p:txBody>
          <a:bodyPr wrap="square" lIns="0" tIns="0" rIns="0" bIns="0" rtlCol="0" anchor="t"/>
          <a:lstStyle/>
          <a:p>
            <a:pPr indent="0" marL="0">
              <a:buNone/>
            </a:pPr>
            <a:r>
              <a:rPr lang="en-US" sz="1800" b="1" dirty="0">
                <a:solidFill>
                  <a:srgbClr val="17130F"/>
                </a:solidFill>
                <a:latin typeface="Calibri" pitchFamily="34" charset="0"/>
                <a:ea typeface="Calibri" pitchFamily="34" charset="-122"/>
                <a:cs typeface="Calibri" pitchFamily="34" charset="-120"/>
              </a:rPr>
              <a:t>Ava</a:t>
            </a:r>
            <a:endParaRPr lang="en-US" sz="1800" dirty="0"/>
          </a:p>
        </p:txBody>
      </p:sp>
      <p:sp>
        <p:nvSpPr>
          <p:cNvPr id="11" name="Text 8"/>
          <p:cNvSpPr/>
          <p:nvPr/>
        </p:nvSpPr>
        <p:spPr>
          <a:xfrm>
            <a:off x="3154680" y="2414016"/>
            <a:ext cx="3611880" cy="566928"/>
          </a:xfrm>
          <a:prstGeom prst="rect">
            <a:avLst/>
          </a:prstGeom>
          <a:noFill/>
          <a:ln/>
        </p:spPr>
        <p:txBody>
          <a:bodyPr wrap="square" lIns="0" tIns="0" rIns="0" bIns="0" rtlCol="0" anchor="t"/>
          <a:lstStyle/>
          <a:p>
            <a:pPr indent="0" marL="0">
              <a:buNone/>
            </a:pPr>
            <a:r>
              <a:rPr lang="en-US" sz="1800" dirty="0">
                <a:solidFill>
                  <a:srgbClr val="17130F"/>
                </a:solidFill>
                <a:latin typeface="Calibri" pitchFamily="34" charset="0"/>
                <a:ea typeface="Calibri" pitchFamily="34" charset="-122"/>
                <a:cs typeface="Calibri" pitchFamily="34" charset="-120"/>
              </a:rPr>
              <a:t>Phones as named mics, for captions</a:t>
            </a:r>
            <a:endParaRPr lang="en-US" sz="1800" dirty="0"/>
          </a:p>
        </p:txBody>
      </p:sp>
      <p:sp>
        <p:nvSpPr>
          <p:cNvPr id="12" name="Text 9"/>
          <p:cNvSpPr/>
          <p:nvPr/>
        </p:nvSpPr>
        <p:spPr>
          <a:xfrm>
            <a:off x="6995160" y="2414016"/>
            <a:ext cx="4282135" cy="566928"/>
          </a:xfrm>
          <a:prstGeom prst="rect">
            <a:avLst/>
          </a:prstGeom>
          <a:noFill/>
          <a:ln/>
        </p:spPr>
        <p:txBody>
          <a:bodyPr wrap="square" lIns="0" tIns="0" rIns="0" bIns="0" rtlCol="0" anchor="t"/>
          <a:lstStyle/>
          <a:p>
            <a:pPr indent="0" marL="0">
              <a:buNone/>
            </a:pPr>
            <a:r>
              <a:rPr lang="en-US" sz="1800" dirty="0">
                <a:solidFill>
                  <a:srgbClr val="17130F"/>
                </a:solidFill>
                <a:latin typeface="Calibri" pitchFamily="34" charset="0"/>
                <a:ea typeface="Calibri" pitchFamily="34" charset="-122"/>
                <a:cs typeface="Calibri" pitchFamily="34" charset="-120"/>
              </a:rPr>
              <a:t>Never sends pace or overlap back to the speakers' own phones</a:t>
            </a:r>
            <a:endParaRPr lang="en-US" sz="1800" dirty="0"/>
          </a:p>
        </p:txBody>
      </p:sp>
      <p:sp>
        <p:nvSpPr>
          <p:cNvPr id="13" name="Shape 10"/>
          <p:cNvSpPr/>
          <p:nvPr/>
        </p:nvSpPr>
        <p:spPr>
          <a:xfrm>
            <a:off x="685800" y="3035808"/>
            <a:ext cx="10820095" cy="0"/>
          </a:xfrm>
          <a:prstGeom prst="line">
            <a:avLst/>
          </a:prstGeom>
          <a:noFill/>
          <a:ln w="9525">
            <a:solidFill>
              <a:srgbClr val="D9D0C0"/>
            </a:solidFill>
            <a:prstDash val="solid"/>
          </a:ln>
        </p:spPr>
      </p:sp>
      <p:sp>
        <p:nvSpPr>
          <p:cNvPr id="14" name="Text 11"/>
          <p:cNvSpPr/>
          <p:nvPr/>
        </p:nvSpPr>
        <p:spPr>
          <a:xfrm>
            <a:off x="685800" y="3163824"/>
            <a:ext cx="2240280" cy="566928"/>
          </a:xfrm>
          <a:prstGeom prst="rect">
            <a:avLst/>
          </a:prstGeom>
          <a:noFill/>
          <a:ln/>
        </p:spPr>
        <p:txBody>
          <a:bodyPr wrap="square" lIns="0" tIns="0" rIns="0" bIns="0" rtlCol="0" anchor="t"/>
          <a:lstStyle/>
          <a:p>
            <a:pPr indent="0" marL="0">
              <a:buNone/>
            </a:pPr>
            <a:r>
              <a:rPr lang="en-US" sz="1800" b="1" dirty="0">
                <a:solidFill>
                  <a:srgbClr val="17130F"/>
                </a:solidFill>
                <a:latin typeface="Calibri" pitchFamily="34" charset="0"/>
                <a:ea typeface="Calibri" pitchFamily="34" charset="-122"/>
                <a:cs typeface="Calibri" pitchFamily="34" charset="-120"/>
              </a:rPr>
              <a:t>Otter / Zoom</a:t>
            </a:r>
            <a:endParaRPr lang="en-US" sz="1800" dirty="0"/>
          </a:p>
        </p:txBody>
      </p:sp>
      <p:sp>
        <p:nvSpPr>
          <p:cNvPr id="15" name="Text 12"/>
          <p:cNvSpPr/>
          <p:nvPr/>
        </p:nvSpPr>
        <p:spPr>
          <a:xfrm>
            <a:off x="3154680" y="3163824"/>
            <a:ext cx="3611880" cy="566928"/>
          </a:xfrm>
          <a:prstGeom prst="rect">
            <a:avLst/>
          </a:prstGeom>
          <a:noFill/>
          <a:ln/>
        </p:spPr>
        <p:txBody>
          <a:bodyPr wrap="square" lIns="0" tIns="0" rIns="0" bIns="0" rtlCol="0" anchor="t"/>
          <a:lstStyle/>
          <a:p>
            <a:pPr indent="0" marL="0">
              <a:buNone/>
            </a:pPr>
            <a:r>
              <a:rPr lang="en-US" sz="1800" dirty="0">
                <a:solidFill>
                  <a:srgbClr val="17130F"/>
                </a:solidFill>
                <a:latin typeface="Calibri" pitchFamily="34" charset="0"/>
                <a:ea typeface="Calibri" pitchFamily="34" charset="-122"/>
                <a:cs typeface="Calibri" pitchFamily="34" charset="-120"/>
              </a:rPr>
              <a:t>Summarize the conversation</a:t>
            </a:r>
            <a:endParaRPr lang="en-US" sz="1800" dirty="0"/>
          </a:p>
        </p:txBody>
      </p:sp>
      <p:sp>
        <p:nvSpPr>
          <p:cNvPr id="16" name="Text 13"/>
          <p:cNvSpPr/>
          <p:nvPr/>
        </p:nvSpPr>
        <p:spPr>
          <a:xfrm>
            <a:off x="6995160" y="3163824"/>
            <a:ext cx="4282135" cy="566928"/>
          </a:xfrm>
          <a:prstGeom prst="rect">
            <a:avLst/>
          </a:prstGeom>
          <a:noFill/>
          <a:ln/>
        </p:spPr>
        <p:txBody>
          <a:bodyPr wrap="square" lIns="0" tIns="0" rIns="0" bIns="0" rtlCol="0" anchor="t"/>
          <a:lstStyle/>
          <a:p>
            <a:pPr indent="0" marL="0">
              <a:buNone/>
            </a:pPr>
            <a:r>
              <a:rPr lang="en-US" sz="1800" dirty="0">
                <a:solidFill>
                  <a:srgbClr val="17130F"/>
                </a:solidFill>
                <a:latin typeface="Calibri" pitchFamily="34" charset="0"/>
                <a:ea typeface="Calibri" pitchFamily="34" charset="-122"/>
                <a:cs typeface="Calibri" pitchFamily="34" charset="-120"/>
              </a:rPr>
              <a:t>Only after it's over</a:t>
            </a:r>
            <a:endParaRPr lang="en-US" sz="1800" dirty="0"/>
          </a:p>
        </p:txBody>
      </p:sp>
      <p:sp>
        <p:nvSpPr>
          <p:cNvPr id="17" name="Shape 14"/>
          <p:cNvSpPr/>
          <p:nvPr/>
        </p:nvSpPr>
        <p:spPr>
          <a:xfrm>
            <a:off x="685800" y="3785616"/>
            <a:ext cx="10820095" cy="0"/>
          </a:xfrm>
          <a:prstGeom prst="line">
            <a:avLst/>
          </a:prstGeom>
          <a:noFill/>
          <a:ln w="9525">
            <a:solidFill>
              <a:srgbClr val="D9D0C0"/>
            </a:solidFill>
            <a:prstDash val="solid"/>
          </a:ln>
        </p:spPr>
      </p:sp>
      <p:sp>
        <p:nvSpPr>
          <p:cNvPr id="18" name="Text 15"/>
          <p:cNvSpPr/>
          <p:nvPr/>
        </p:nvSpPr>
        <p:spPr>
          <a:xfrm>
            <a:off x="685800" y="3913632"/>
            <a:ext cx="2240280" cy="566928"/>
          </a:xfrm>
          <a:prstGeom prst="rect">
            <a:avLst/>
          </a:prstGeom>
          <a:noFill/>
          <a:ln/>
        </p:spPr>
        <p:txBody>
          <a:bodyPr wrap="square" lIns="0" tIns="0" rIns="0" bIns="0" rtlCol="0" anchor="t"/>
          <a:lstStyle/>
          <a:p>
            <a:pPr indent="0" marL="0">
              <a:buNone/>
            </a:pPr>
            <a:r>
              <a:rPr lang="en-US" sz="1800" b="1" dirty="0">
                <a:solidFill>
                  <a:srgbClr val="17130F"/>
                </a:solidFill>
                <a:latin typeface="Calibri" pitchFamily="34" charset="0"/>
                <a:ea typeface="Calibri" pitchFamily="34" charset="-122"/>
                <a:cs typeface="Calibri" pitchFamily="34" charset="-120"/>
              </a:rPr>
              <a:t>Caption glasses</a:t>
            </a:r>
            <a:endParaRPr lang="en-US" sz="1800" dirty="0"/>
          </a:p>
        </p:txBody>
      </p:sp>
      <p:sp>
        <p:nvSpPr>
          <p:cNvPr id="19" name="Text 16"/>
          <p:cNvSpPr/>
          <p:nvPr/>
        </p:nvSpPr>
        <p:spPr>
          <a:xfrm>
            <a:off x="3154680" y="3913632"/>
            <a:ext cx="3611880" cy="566928"/>
          </a:xfrm>
          <a:prstGeom prst="rect">
            <a:avLst/>
          </a:prstGeom>
          <a:noFill/>
          <a:ln/>
        </p:spPr>
        <p:txBody>
          <a:bodyPr wrap="square" lIns="0" tIns="0" rIns="0" bIns="0" rtlCol="0" anchor="t"/>
          <a:lstStyle/>
          <a:p>
            <a:pPr indent="0" marL="0">
              <a:buNone/>
            </a:pPr>
            <a:r>
              <a:rPr lang="en-US" sz="1800" dirty="0">
                <a:solidFill>
                  <a:srgbClr val="17130F"/>
                </a:solidFill>
                <a:latin typeface="Calibri" pitchFamily="34" charset="0"/>
                <a:ea typeface="Calibri" pitchFamily="34" charset="-122"/>
                <a:cs typeface="Calibri" pitchFamily="34" charset="-120"/>
              </a:rPr>
              <a:t>Words in front of the listener's eyes</a:t>
            </a:r>
            <a:endParaRPr lang="en-US" sz="1800" dirty="0"/>
          </a:p>
        </p:txBody>
      </p:sp>
      <p:sp>
        <p:nvSpPr>
          <p:cNvPr id="20" name="Text 17"/>
          <p:cNvSpPr/>
          <p:nvPr/>
        </p:nvSpPr>
        <p:spPr>
          <a:xfrm>
            <a:off x="6995160" y="3913632"/>
            <a:ext cx="4282135" cy="566928"/>
          </a:xfrm>
          <a:prstGeom prst="rect">
            <a:avLst/>
          </a:prstGeom>
          <a:noFill/>
          <a:ln/>
        </p:spPr>
        <p:txBody>
          <a:bodyPr wrap="square" lIns="0" tIns="0" rIns="0" bIns="0" rtlCol="0" anchor="t"/>
          <a:lstStyle/>
          <a:p>
            <a:pPr indent="0" marL="0">
              <a:buNone/>
            </a:pPr>
            <a:r>
              <a:rPr lang="en-US" sz="1800" dirty="0">
                <a:solidFill>
                  <a:srgbClr val="17130F"/>
                </a:solidFill>
                <a:latin typeface="Calibri" pitchFamily="34" charset="0"/>
                <a:ea typeface="Calibri" pitchFamily="34" charset="-122"/>
                <a:cs typeface="Calibri" pitchFamily="34" charset="-120"/>
              </a:rPr>
              <a:t>Put more on the deaf person, nothing the table can act on</a:t>
            </a:r>
            <a:endParaRPr lang="en-US" sz="1800" dirty="0"/>
          </a:p>
        </p:txBody>
      </p:sp>
      <p:sp>
        <p:nvSpPr>
          <p:cNvPr id="21" name="Shape 18"/>
          <p:cNvSpPr/>
          <p:nvPr/>
        </p:nvSpPr>
        <p:spPr>
          <a:xfrm>
            <a:off x="685800" y="4535424"/>
            <a:ext cx="10820095" cy="0"/>
          </a:xfrm>
          <a:prstGeom prst="line">
            <a:avLst/>
          </a:prstGeom>
          <a:noFill/>
          <a:ln w="9525">
            <a:solidFill>
              <a:srgbClr val="17130F"/>
            </a:solidFill>
            <a:prstDash val="solid"/>
          </a:ln>
        </p:spPr>
      </p:sp>
      <p:sp>
        <p:nvSpPr>
          <p:cNvPr id="22" name="Text 19"/>
          <p:cNvSpPr/>
          <p:nvPr/>
        </p:nvSpPr>
        <p:spPr>
          <a:xfrm>
            <a:off x="685800" y="4663440"/>
            <a:ext cx="2240280" cy="566928"/>
          </a:xfrm>
          <a:prstGeom prst="rect">
            <a:avLst/>
          </a:prstGeom>
          <a:noFill/>
          <a:ln/>
        </p:spPr>
        <p:txBody>
          <a:bodyPr wrap="square" lIns="0" tIns="0" rIns="0" bIns="0" rtlCol="0" anchor="t"/>
          <a:lstStyle/>
          <a:p>
            <a:pPr indent="0" marL="0">
              <a:buNone/>
            </a:pPr>
            <a:r>
              <a:rPr lang="en-US" sz="1800" b="1" dirty="0">
                <a:solidFill>
                  <a:srgbClr val="17130F"/>
                </a:solidFill>
                <a:latin typeface="Calibri" pitchFamily="34" charset="0"/>
                <a:ea typeface="Calibri" pitchFamily="34" charset="-122"/>
                <a:cs typeface="Calibri" pitchFamily="34" charset="-120"/>
              </a:rPr>
              <a:t>One at a time</a:t>
            </a:r>
            <a:endParaRPr lang="en-US" sz="1800" dirty="0"/>
          </a:p>
        </p:txBody>
      </p:sp>
      <p:sp>
        <p:nvSpPr>
          <p:cNvPr id="23" name="Text 20"/>
          <p:cNvSpPr/>
          <p:nvPr/>
        </p:nvSpPr>
        <p:spPr>
          <a:xfrm>
            <a:off x="3154680" y="4663440"/>
            <a:ext cx="3611880" cy="566928"/>
          </a:xfrm>
          <a:prstGeom prst="rect">
            <a:avLst/>
          </a:prstGeom>
          <a:noFill/>
          <a:ln/>
        </p:spPr>
        <p:txBody>
          <a:bodyPr wrap="square" lIns="0" tIns="0" rIns="0" bIns="0" rtlCol="0" anchor="t"/>
          <a:lstStyle/>
          <a:p>
            <a:pPr indent="0" marL="0">
              <a:buNone/>
            </a:pPr>
            <a:r>
              <a:rPr lang="en-US" sz="1800" dirty="0">
                <a:solidFill>
                  <a:srgbClr val="17130F"/>
                </a:solidFill>
                <a:latin typeface="Calibri" pitchFamily="34" charset="0"/>
                <a:ea typeface="Calibri" pitchFamily="34" charset="-122"/>
                <a:cs typeface="Calibri" pitchFamily="34" charset="-120"/>
              </a:rPr>
              <a:t>Phones as mics, like Ava</a:t>
            </a:r>
            <a:endParaRPr lang="en-US" sz="1800" dirty="0"/>
          </a:p>
        </p:txBody>
      </p:sp>
      <p:sp>
        <p:nvSpPr>
          <p:cNvPr id="24" name="Text 21"/>
          <p:cNvSpPr/>
          <p:nvPr/>
        </p:nvSpPr>
        <p:spPr>
          <a:xfrm>
            <a:off x="6995160" y="4663440"/>
            <a:ext cx="4282135" cy="566928"/>
          </a:xfrm>
          <a:prstGeom prst="rect">
            <a:avLst/>
          </a:prstGeom>
          <a:noFill/>
          <a:ln/>
        </p:spPr>
        <p:txBody>
          <a:bodyPr wrap="square" lIns="0" tIns="0" rIns="0" bIns="0" rtlCol="0" anchor="t"/>
          <a:lstStyle/>
          <a:p>
            <a:pPr indent="0" marL="0">
              <a:buNone/>
            </a:pPr>
            <a:r>
              <a:rPr lang="en-US" sz="1800" dirty="0">
                <a:solidFill>
                  <a:srgbClr val="17130F"/>
                </a:solidFill>
                <a:latin typeface="Calibri" pitchFamily="34" charset="0"/>
                <a:ea typeface="Calibri" pitchFamily="34" charset="-122"/>
                <a:cs typeface="Calibri" pitchFamily="34" charset="-120"/>
              </a:rPr>
              <a:t>Amber on the talkers' phones. One sentence, one tap, back to the table.</a:t>
            </a:r>
            <a:endParaRPr lang="en-US" sz="1800" dirty="0"/>
          </a:p>
        </p:txBody>
      </p:sp>
      <p:sp>
        <p:nvSpPr>
          <p:cNvPr id="25" name="Text 22"/>
          <p:cNvSpPr/>
          <p:nvPr/>
        </p:nvSpPr>
        <p:spPr>
          <a:xfrm>
            <a:off x="685800" y="5605272"/>
            <a:ext cx="10820095" cy="731520"/>
          </a:xfrm>
          <a:prstGeom prst="rect">
            <a:avLst/>
          </a:prstGeom>
          <a:noFill/>
          <a:ln/>
        </p:spPr>
        <p:txBody>
          <a:bodyPr wrap="square" lIns="0" tIns="0" rIns="0" bIns="0" rtlCol="0" anchor="t"/>
          <a:lstStyle/>
          <a:p>
            <a:pPr indent="0" marL="0">
              <a:buNone/>
            </a:pPr>
            <a:r>
              <a:rPr lang="en-US" sz="3200" i="1" dirty="0">
                <a:solidFill>
                  <a:srgbClr val="17130F"/>
                </a:solidFill>
                <a:latin typeface="Georgia" pitchFamily="34" charset="0"/>
                <a:ea typeface="Georgia" pitchFamily="34" charset="-122"/>
                <a:cs typeface="Georgia" pitchFamily="34" charset="-120"/>
              </a:rPr>
              <a:t>Ava does the mics. </a:t>
            </a:r>
            <a:pPr indent="0" marL="0">
              <a:buNone/>
            </a:pPr>
            <a:r>
              <a:rPr lang="en-US" sz="3200" i="1" dirty="0">
                <a:solidFill>
                  <a:srgbClr val="E4A73A"/>
                </a:solidFill>
                <a:latin typeface="Georgia" pitchFamily="34" charset="0"/>
                <a:ea typeface="Georgia" pitchFamily="34" charset="-122"/>
                <a:cs typeface="Georgia" pitchFamily="34" charset="-120"/>
              </a:rPr>
              <a:t>We do the other side of the table.</a:t>
            </a:r>
            <a:endParaRPr lang="en-US" sz="3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EEE2"/>
        </a:solidFill>
      </p:bgPr>
    </p:bg>
    <p:spTree>
      <p:nvGrpSpPr>
        <p:cNvPr id="1" name=""/>
        <p:cNvGrpSpPr/>
        <p:nvPr/>
      </p:nvGrpSpPr>
      <p:grpSpPr>
        <a:xfrm>
          <a:off x="0" y="0"/>
          <a:ext cx="0" cy="0"/>
          <a:chOff x="0" y="0"/>
          <a:chExt cx="0" cy="0"/>
        </a:xfrm>
      </p:grpSpPr>
      <p:sp>
        <p:nvSpPr>
          <p:cNvPr id="3" name="Text 0"/>
          <p:cNvSpPr/>
          <p:nvPr/>
        </p:nvSpPr>
        <p:spPr>
          <a:xfrm>
            <a:off x="685800" y="457200"/>
            <a:ext cx="9144000" cy="274320"/>
          </a:xfrm>
          <a:prstGeom prst="rect">
            <a:avLst/>
          </a:prstGeom>
          <a:noFill/>
          <a:ln/>
        </p:spPr>
        <p:txBody>
          <a:bodyPr wrap="square" lIns="0" tIns="0" rIns="0" bIns="0" rtlCol="0" anchor="t"/>
          <a:lstStyle/>
          <a:p>
            <a:pPr indent="0" marL="0">
              <a:buNone/>
            </a:pPr>
            <a:r>
              <a:rPr lang="en-US" sz="1100" spc="300" kern="0" dirty="0">
                <a:solidFill>
                  <a:srgbClr val="5E554B"/>
                </a:solidFill>
                <a:latin typeface="Consolas" pitchFamily="34" charset="0"/>
                <a:ea typeface="Consolas" pitchFamily="34" charset="-122"/>
                <a:cs typeface="Consolas" pitchFamily="34" charset="-120"/>
              </a:rPr>
              <a:t>SCOPE · LIMITS · NEXT</a:t>
            </a:r>
            <a:endParaRPr lang="en-US" sz="1100" dirty="0"/>
          </a:p>
        </p:txBody>
      </p:sp>
      <p:sp>
        <p:nvSpPr>
          <p:cNvPr id="4" name="Text 1"/>
          <p:cNvSpPr/>
          <p:nvPr/>
        </p:nvSpPr>
        <p:spPr>
          <a:xfrm>
            <a:off x="685800" y="822960"/>
            <a:ext cx="5852160" cy="822960"/>
          </a:xfrm>
          <a:prstGeom prst="rect">
            <a:avLst/>
          </a:prstGeom>
          <a:noFill/>
          <a:ln/>
        </p:spPr>
        <p:txBody>
          <a:bodyPr wrap="square" lIns="0" tIns="0" rIns="0" bIns="0" rtlCol="0" anchor="t"/>
          <a:lstStyle/>
          <a:p>
            <a:pPr indent="0" marL="0">
              <a:buNone/>
            </a:pPr>
            <a:r>
              <a:rPr lang="en-US" sz="3600" i="1" dirty="0">
                <a:solidFill>
                  <a:srgbClr val="17130F"/>
                </a:solidFill>
                <a:latin typeface="Georgia" pitchFamily="34" charset="0"/>
                <a:ea typeface="Georgia" pitchFamily="34" charset="-122"/>
                <a:cs typeface="Georgia" pitchFamily="34" charset="-120"/>
              </a:rPr>
              <a:t>What this is, and isn't.</a:t>
            </a:r>
            <a:endParaRPr lang="en-US" sz="3600" dirty="0"/>
          </a:p>
        </p:txBody>
      </p:sp>
      <p:sp>
        <p:nvSpPr>
          <p:cNvPr id="5" name="Shape 2"/>
          <p:cNvSpPr/>
          <p:nvPr/>
        </p:nvSpPr>
        <p:spPr>
          <a:xfrm>
            <a:off x="685800" y="1645920"/>
            <a:ext cx="5760720" cy="0"/>
          </a:xfrm>
          <a:prstGeom prst="line">
            <a:avLst/>
          </a:prstGeom>
          <a:noFill/>
          <a:ln w="9525">
            <a:solidFill>
              <a:srgbClr val="D9D0C0"/>
            </a:solidFill>
            <a:prstDash val="solid"/>
          </a:ln>
        </p:spPr>
      </p:sp>
      <p:sp>
        <p:nvSpPr>
          <p:cNvPr id="6" name="Text 3"/>
          <p:cNvSpPr/>
          <p:nvPr/>
        </p:nvSpPr>
        <p:spPr>
          <a:xfrm>
            <a:off x="685800" y="1792224"/>
            <a:ext cx="1280160" cy="274320"/>
          </a:xfrm>
          <a:prstGeom prst="rect">
            <a:avLst/>
          </a:prstGeom>
          <a:noFill/>
          <a:ln/>
        </p:spPr>
        <p:txBody>
          <a:bodyPr wrap="square" lIns="0" tIns="0" rIns="0" bIns="0" rtlCol="0" anchor="t"/>
          <a:lstStyle/>
          <a:p>
            <a:pPr indent="0" marL="0">
              <a:buNone/>
            </a:pPr>
            <a:r>
              <a:rPr lang="en-US" sz="1000" spc="300" kern="0" dirty="0">
                <a:solidFill>
                  <a:srgbClr val="5E554B"/>
                </a:solidFill>
                <a:latin typeface="Consolas" pitchFamily="34" charset="0"/>
                <a:ea typeface="Consolas" pitchFamily="34" charset="-122"/>
                <a:cs typeface="Consolas" pitchFamily="34" charset="-120"/>
              </a:rPr>
              <a:t>FOR</a:t>
            </a:r>
            <a:endParaRPr lang="en-US" sz="1000" dirty="0"/>
          </a:p>
        </p:txBody>
      </p:sp>
      <p:sp>
        <p:nvSpPr>
          <p:cNvPr id="7" name="Text 4"/>
          <p:cNvSpPr/>
          <p:nvPr/>
        </p:nvSpPr>
        <p:spPr>
          <a:xfrm>
            <a:off x="2057400" y="1755648"/>
            <a:ext cx="4389120" cy="521208"/>
          </a:xfrm>
          <a:prstGeom prst="rect">
            <a:avLst/>
          </a:prstGeom>
          <a:noFill/>
          <a:ln/>
        </p:spPr>
        <p:txBody>
          <a:bodyPr wrap="square" lIns="0" tIns="0" rIns="0" bIns="0" rtlCol="0" anchor="t"/>
          <a:lstStyle/>
          <a:p>
            <a:pPr indent="0" marL="0">
              <a:buNone/>
            </a:pPr>
            <a:r>
              <a:rPr lang="en-US" sz="1600" dirty="0">
                <a:solidFill>
                  <a:srgbClr val="17130F"/>
                </a:solidFill>
                <a:latin typeface="Calibri" pitchFamily="34" charset="0"/>
                <a:ea typeface="Calibri" pitchFamily="34" charset="-122"/>
                <a:cs typeface="Calibri" pitchFamily="34" charset="-120"/>
              </a:rPr>
              <a:t>Hard-of-hearing and late-deafened adults in hearing rooms.</a:t>
            </a:r>
            <a:endParaRPr lang="en-US" sz="1600" dirty="0"/>
          </a:p>
        </p:txBody>
      </p:sp>
      <p:sp>
        <p:nvSpPr>
          <p:cNvPr id="8" name="Shape 5"/>
          <p:cNvSpPr/>
          <p:nvPr/>
        </p:nvSpPr>
        <p:spPr>
          <a:xfrm>
            <a:off x="685800" y="2304288"/>
            <a:ext cx="5760720" cy="0"/>
          </a:xfrm>
          <a:prstGeom prst="line">
            <a:avLst/>
          </a:prstGeom>
          <a:noFill/>
          <a:ln w="9525">
            <a:solidFill>
              <a:srgbClr val="D9D0C0"/>
            </a:solidFill>
            <a:prstDash val="solid"/>
          </a:ln>
        </p:spPr>
      </p:sp>
      <p:sp>
        <p:nvSpPr>
          <p:cNvPr id="9" name="Text 6"/>
          <p:cNvSpPr/>
          <p:nvPr/>
        </p:nvSpPr>
        <p:spPr>
          <a:xfrm>
            <a:off x="685800" y="2450592"/>
            <a:ext cx="1280160" cy="274320"/>
          </a:xfrm>
          <a:prstGeom prst="rect">
            <a:avLst/>
          </a:prstGeom>
          <a:noFill/>
          <a:ln/>
        </p:spPr>
        <p:txBody>
          <a:bodyPr wrap="square" lIns="0" tIns="0" rIns="0" bIns="0" rtlCol="0" anchor="t"/>
          <a:lstStyle/>
          <a:p>
            <a:pPr indent="0" marL="0">
              <a:buNone/>
            </a:pPr>
            <a:r>
              <a:rPr lang="en-US" sz="1000" spc="300" kern="0" dirty="0">
                <a:solidFill>
                  <a:srgbClr val="5E554B"/>
                </a:solidFill>
                <a:latin typeface="Consolas" pitchFamily="34" charset="0"/>
                <a:ea typeface="Consolas" pitchFamily="34" charset="-122"/>
                <a:cs typeface="Consolas" pitchFamily="34" charset="-120"/>
              </a:rPr>
              <a:t>NOT FOR</a:t>
            </a:r>
            <a:endParaRPr lang="en-US" sz="1000" dirty="0"/>
          </a:p>
        </p:txBody>
      </p:sp>
      <p:sp>
        <p:nvSpPr>
          <p:cNvPr id="10" name="Text 7"/>
          <p:cNvSpPr/>
          <p:nvPr/>
        </p:nvSpPr>
        <p:spPr>
          <a:xfrm>
            <a:off x="2057400" y="2414016"/>
            <a:ext cx="4389120" cy="521208"/>
          </a:xfrm>
          <a:prstGeom prst="rect">
            <a:avLst/>
          </a:prstGeom>
          <a:noFill/>
          <a:ln/>
        </p:spPr>
        <p:txBody>
          <a:bodyPr wrap="square" lIns="0" tIns="0" rIns="0" bIns="0" rtlCol="0" anchor="t"/>
          <a:lstStyle/>
          <a:p>
            <a:pPr indent="0" marL="0">
              <a:buNone/>
            </a:pPr>
            <a:r>
              <a:rPr lang="en-US" sz="1600" dirty="0">
                <a:solidFill>
                  <a:srgbClr val="17130F"/>
                </a:solidFill>
                <a:latin typeface="Calibri" pitchFamily="34" charset="0"/>
                <a:ea typeface="Calibri" pitchFamily="34" charset="-122"/>
                <a:cs typeface="Calibri" pitchFamily="34" charset="-120"/>
              </a:rPr>
              <a:t>Sign-first Deaf users.</a:t>
            </a:r>
            <a:endParaRPr lang="en-US" sz="1600" dirty="0"/>
          </a:p>
        </p:txBody>
      </p:sp>
      <p:sp>
        <p:nvSpPr>
          <p:cNvPr id="11" name="Shape 8"/>
          <p:cNvSpPr/>
          <p:nvPr/>
        </p:nvSpPr>
        <p:spPr>
          <a:xfrm>
            <a:off x="685800" y="2962656"/>
            <a:ext cx="5760720" cy="0"/>
          </a:xfrm>
          <a:prstGeom prst="line">
            <a:avLst/>
          </a:prstGeom>
          <a:noFill/>
          <a:ln w="9525">
            <a:solidFill>
              <a:srgbClr val="D9D0C0"/>
            </a:solidFill>
            <a:prstDash val="solid"/>
          </a:ln>
        </p:spPr>
      </p:sp>
      <p:sp>
        <p:nvSpPr>
          <p:cNvPr id="12" name="Text 9"/>
          <p:cNvSpPr/>
          <p:nvPr/>
        </p:nvSpPr>
        <p:spPr>
          <a:xfrm>
            <a:off x="685800" y="3108960"/>
            <a:ext cx="1280160" cy="274320"/>
          </a:xfrm>
          <a:prstGeom prst="rect">
            <a:avLst/>
          </a:prstGeom>
          <a:noFill/>
          <a:ln/>
        </p:spPr>
        <p:txBody>
          <a:bodyPr wrap="square" lIns="0" tIns="0" rIns="0" bIns="0" rtlCol="0" anchor="t"/>
          <a:lstStyle/>
          <a:p>
            <a:pPr indent="0" marL="0">
              <a:buNone/>
            </a:pPr>
            <a:r>
              <a:rPr lang="en-US" sz="1000" spc="300" kern="0" dirty="0">
                <a:solidFill>
                  <a:srgbClr val="5E554B"/>
                </a:solidFill>
                <a:latin typeface="Consolas" pitchFamily="34" charset="0"/>
                <a:ea typeface="Consolas" pitchFamily="34" charset="-122"/>
                <a:cs typeface="Consolas" pitchFamily="34" charset="-120"/>
              </a:rPr>
              <a:t>TESTED</a:t>
            </a:r>
            <a:endParaRPr lang="en-US" sz="1000" dirty="0"/>
          </a:p>
        </p:txBody>
      </p:sp>
      <p:sp>
        <p:nvSpPr>
          <p:cNvPr id="13" name="Text 10"/>
          <p:cNvSpPr/>
          <p:nvPr/>
        </p:nvSpPr>
        <p:spPr>
          <a:xfrm>
            <a:off x="2057400" y="3072384"/>
            <a:ext cx="4389120" cy="521208"/>
          </a:xfrm>
          <a:prstGeom prst="rect">
            <a:avLst/>
          </a:prstGeom>
          <a:noFill/>
          <a:ln/>
        </p:spPr>
        <p:txBody>
          <a:bodyPr wrap="square" lIns="0" tIns="0" rIns="0" bIns="0" rtlCol="0" anchor="t"/>
          <a:lstStyle/>
          <a:p>
            <a:pPr indent="0" marL="0">
              <a:buNone/>
            </a:pPr>
            <a:r>
              <a:rPr lang="en-US" sz="1600" dirty="0">
                <a:solidFill>
                  <a:srgbClr val="17130F"/>
                </a:solidFill>
                <a:latin typeface="Calibri" pitchFamily="34" charset="0"/>
                <a:ea typeface="Calibri" pitchFamily="34" charset="-122"/>
                <a:cs typeface="Calibri" pitchFamily="34" charset="-120"/>
              </a:rPr>
              <a:t>Not yet tested with a hard-of-hearing user.</a:t>
            </a:r>
            <a:endParaRPr lang="en-US" sz="1600" dirty="0"/>
          </a:p>
        </p:txBody>
      </p:sp>
      <p:sp>
        <p:nvSpPr>
          <p:cNvPr id="14" name="Shape 11"/>
          <p:cNvSpPr/>
          <p:nvPr/>
        </p:nvSpPr>
        <p:spPr>
          <a:xfrm>
            <a:off x="685800" y="3621024"/>
            <a:ext cx="5760720" cy="0"/>
          </a:xfrm>
          <a:prstGeom prst="line">
            <a:avLst/>
          </a:prstGeom>
          <a:noFill/>
          <a:ln w="9525">
            <a:solidFill>
              <a:srgbClr val="D9D0C0"/>
            </a:solidFill>
            <a:prstDash val="solid"/>
          </a:ln>
        </p:spPr>
      </p:sp>
      <p:sp>
        <p:nvSpPr>
          <p:cNvPr id="15" name="Text 12"/>
          <p:cNvSpPr/>
          <p:nvPr/>
        </p:nvSpPr>
        <p:spPr>
          <a:xfrm>
            <a:off x="685800" y="3767328"/>
            <a:ext cx="1280160" cy="274320"/>
          </a:xfrm>
          <a:prstGeom prst="rect">
            <a:avLst/>
          </a:prstGeom>
          <a:noFill/>
          <a:ln/>
        </p:spPr>
        <p:txBody>
          <a:bodyPr wrap="square" lIns="0" tIns="0" rIns="0" bIns="0" rtlCol="0" anchor="t"/>
          <a:lstStyle/>
          <a:p>
            <a:pPr indent="0" marL="0">
              <a:buNone/>
            </a:pPr>
            <a:r>
              <a:rPr lang="en-US" sz="1000" spc="300" kern="0" dirty="0">
                <a:solidFill>
                  <a:srgbClr val="5E554B"/>
                </a:solidFill>
                <a:latin typeface="Consolas" pitchFamily="34" charset="0"/>
                <a:ea typeface="Consolas" pitchFamily="34" charset="-122"/>
                <a:cs typeface="Consolas" pitchFamily="34" charset="-120"/>
              </a:rPr>
              <a:t>REACH</a:t>
            </a:r>
            <a:endParaRPr lang="en-US" sz="1000" dirty="0"/>
          </a:p>
        </p:txBody>
      </p:sp>
      <p:sp>
        <p:nvSpPr>
          <p:cNvPr id="16" name="Text 13"/>
          <p:cNvSpPr/>
          <p:nvPr/>
        </p:nvSpPr>
        <p:spPr>
          <a:xfrm>
            <a:off x="2057400" y="3730752"/>
            <a:ext cx="4389120" cy="521208"/>
          </a:xfrm>
          <a:prstGeom prst="rect">
            <a:avLst/>
          </a:prstGeom>
          <a:noFill/>
          <a:ln/>
        </p:spPr>
        <p:txBody>
          <a:bodyPr wrap="square" lIns="0" tIns="0" rIns="0" bIns="0" rtlCol="0" anchor="t"/>
          <a:lstStyle/>
          <a:p>
            <a:pPr indent="0" marL="0">
              <a:buNone/>
            </a:pPr>
            <a:r>
              <a:rPr lang="en-US" sz="1600" dirty="0">
                <a:solidFill>
                  <a:srgbClr val="17130F"/>
                </a:solidFill>
                <a:latin typeface="Calibri" pitchFamily="34" charset="0"/>
                <a:ea typeface="Calibri" pitchFamily="34" charset="-122"/>
                <a:cs typeface="Calibri" pitchFamily="34" charset="-120"/>
              </a:rPr>
              <a:t>~10M in the EU could use it. Tonight it reaches a table.</a:t>
            </a:r>
            <a:endParaRPr lang="en-US" sz="1600" dirty="0"/>
          </a:p>
        </p:txBody>
      </p:sp>
      <p:sp>
        <p:nvSpPr>
          <p:cNvPr id="17" name="Shape 14"/>
          <p:cNvSpPr/>
          <p:nvPr/>
        </p:nvSpPr>
        <p:spPr>
          <a:xfrm>
            <a:off x="685800" y="4279392"/>
            <a:ext cx="5760720" cy="0"/>
          </a:xfrm>
          <a:prstGeom prst="line">
            <a:avLst/>
          </a:prstGeom>
          <a:noFill/>
          <a:ln w="9525">
            <a:solidFill>
              <a:srgbClr val="D9D0C0"/>
            </a:solidFill>
            <a:prstDash val="solid"/>
          </a:ln>
        </p:spPr>
      </p:sp>
      <p:sp>
        <p:nvSpPr>
          <p:cNvPr id="18" name="Text 15"/>
          <p:cNvSpPr/>
          <p:nvPr/>
        </p:nvSpPr>
        <p:spPr>
          <a:xfrm>
            <a:off x="685800" y="4425696"/>
            <a:ext cx="1280160" cy="274320"/>
          </a:xfrm>
          <a:prstGeom prst="rect">
            <a:avLst/>
          </a:prstGeom>
          <a:noFill/>
          <a:ln/>
        </p:spPr>
        <p:txBody>
          <a:bodyPr wrap="square" lIns="0" tIns="0" rIns="0" bIns="0" rtlCol="0" anchor="t"/>
          <a:lstStyle/>
          <a:p>
            <a:pPr indent="0" marL="0">
              <a:buNone/>
            </a:pPr>
            <a:r>
              <a:rPr lang="en-US" sz="1000" spc="300" kern="0" dirty="0">
                <a:solidFill>
                  <a:srgbClr val="5E554B"/>
                </a:solidFill>
                <a:latin typeface="Consolas" pitchFamily="34" charset="0"/>
                <a:ea typeface="Consolas" pitchFamily="34" charset="-122"/>
                <a:cs typeface="Consolas" pitchFamily="34" charset="-120"/>
              </a:rPr>
              <a:t>LANGUAGES</a:t>
            </a:r>
            <a:endParaRPr lang="en-US" sz="1000" dirty="0"/>
          </a:p>
        </p:txBody>
      </p:sp>
      <p:sp>
        <p:nvSpPr>
          <p:cNvPr id="19" name="Text 16"/>
          <p:cNvSpPr/>
          <p:nvPr/>
        </p:nvSpPr>
        <p:spPr>
          <a:xfrm>
            <a:off x="2057400" y="4389120"/>
            <a:ext cx="4389120" cy="521208"/>
          </a:xfrm>
          <a:prstGeom prst="rect">
            <a:avLst/>
          </a:prstGeom>
          <a:noFill/>
          <a:ln/>
        </p:spPr>
        <p:txBody>
          <a:bodyPr wrap="square" lIns="0" tIns="0" rIns="0" bIns="0" rtlCol="0" anchor="t"/>
          <a:lstStyle/>
          <a:p>
            <a:pPr indent="0" marL="0">
              <a:buNone/>
            </a:pPr>
            <a:r>
              <a:rPr lang="en-US" sz="1600" dirty="0">
                <a:solidFill>
                  <a:srgbClr val="17130F"/>
                </a:solidFill>
                <a:latin typeface="Calibri" pitchFamily="34" charset="0"/>
                <a:ea typeface="Calibri" pitchFamily="34" charset="-122"/>
                <a:cs typeface="Calibri" pitchFamily="34" charset="-120"/>
              </a:rPr>
              <a:t>Italian and Turkish verified, plus English.</a:t>
            </a:r>
            <a:endParaRPr lang="en-US" sz="1600" dirty="0"/>
          </a:p>
        </p:txBody>
      </p:sp>
      <p:sp>
        <p:nvSpPr>
          <p:cNvPr id="20" name="Shape 17"/>
          <p:cNvSpPr/>
          <p:nvPr/>
        </p:nvSpPr>
        <p:spPr>
          <a:xfrm>
            <a:off x="685800" y="4937760"/>
            <a:ext cx="5760720" cy="0"/>
          </a:xfrm>
          <a:prstGeom prst="line">
            <a:avLst/>
          </a:prstGeom>
          <a:noFill/>
          <a:ln w="9525">
            <a:solidFill>
              <a:srgbClr val="D9D0C0"/>
            </a:solidFill>
            <a:prstDash val="solid"/>
          </a:ln>
        </p:spPr>
      </p:sp>
      <p:sp>
        <p:nvSpPr>
          <p:cNvPr id="21" name="Text 18"/>
          <p:cNvSpPr/>
          <p:nvPr/>
        </p:nvSpPr>
        <p:spPr>
          <a:xfrm>
            <a:off x="685800" y="5084064"/>
            <a:ext cx="1280160" cy="274320"/>
          </a:xfrm>
          <a:prstGeom prst="rect">
            <a:avLst/>
          </a:prstGeom>
          <a:noFill/>
          <a:ln/>
        </p:spPr>
        <p:txBody>
          <a:bodyPr wrap="square" lIns="0" tIns="0" rIns="0" bIns="0" rtlCol="0" anchor="t"/>
          <a:lstStyle/>
          <a:p>
            <a:pPr indent="0" marL="0">
              <a:buNone/>
            </a:pPr>
            <a:r>
              <a:rPr lang="en-US" sz="1000" spc="300" kern="0" dirty="0">
                <a:solidFill>
                  <a:srgbClr val="5E554B"/>
                </a:solidFill>
                <a:latin typeface="Consolas" pitchFamily="34" charset="0"/>
                <a:ea typeface="Consolas" pitchFamily="34" charset="-122"/>
                <a:cs typeface="Consolas" pitchFamily="34" charset="-120"/>
              </a:rPr>
              <a:t>NEXT</a:t>
            </a:r>
            <a:endParaRPr lang="en-US" sz="1000" dirty="0"/>
          </a:p>
        </p:txBody>
      </p:sp>
      <p:sp>
        <p:nvSpPr>
          <p:cNvPr id="22" name="Text 19"/>
          <p:cNvSpPr/>
          <p:nvPr/>
        </p:nvSpPr>
        <p:spPr>
          <a:xfrm>
            <a:off x="2057400" y="5047488"/>
            <a:ext cx="4389120" cy="822960"/>
          </a:xfrm>
          <a:prstGeom prst="rect">
            <a:avLst/>
          </a:prstGeom>
          <a:noFill/>
          <a:ln/>
        </p:spPr>
        <p:txBody>
          <a:bodyPr wrap="square" lIns="0" tIns="0" rIns="0" bIns="0" rtlCol="0" anchor="t"/>
          <a:lstStyle/>
          <a:p>
            <a:pPr indent="0" marL="0">
              <a:buNone/>
            </a:pPr>
            <a:r>
              <a:rPr lang="en-US" sz="1600" dirty="0">
                <a:solidFill>
                  <a:srgbClr val="17130F"/>
                </a:solidFill>
                <a:latin typeface="Calibri" pitchFamily="34" charset="0"/>
                <a:ea typeface="Calibri" pitchFamily="34" charset="-122"/>
                <a:cs typeface="Calibri" pitchFamily="34" charset="-120"/>
              </a:rPr>
              <a:t>User tests with hard-of-hearing people. A real voice on the phones (ElevenLabs slot). Look-away catch-up is already built.</a:t>
            </a:r>
            <a:endParaRPr lang="en-US" sz="1600" dirty="0"/>
          </a:p>
        </p:txBody>
      </p:sp>
      <p:sp>
        <p:nvSpPr>
          <p:cNvPr id="23" name="Shape 20"/>
          <p:cNvSpPr/>
          <p:nvPr/>
        </p:nvSpPr>
        <p:spPr>
          <a:xfrm>
            <a:off x="6675120" y="457200"/>
            <a:ext cx="0" cy="5943600"/>
          </a:xfrm>
          <a:prstGeom prst="line">
            <a:avLst/>
          </a:prstGeom>
          <a:noFill/>
          <a:ln w="9525">
            <a:solidFill>
              <a:srgbClr val="D9D0C0"/>
            </a:solidFill>
            <a:prstDash val="solid"/>
          </a:ln>
        </p:spPr>
      </p:sp>
      <p:sp>
        <p:nvSpPr>
          <p:cNvPr id="24" name="Text 21"/>
          <p:cNvSpPr/>
          <p:nvPr/>
        </p:nvSpPr>
        <p:spPr>
          <a:xfrm>
            <a:off x="6995160" y="457200"/>
            <a:ext cx="4510735" cy="274320"/>
          </a:xfrm>
          <a:prstGeom prst="rect">
            <a:avLst/>
          </a:prstGeom>
          <a:noFill/>
          <a:ln/>
        </p:spPr>
        <p:txBody>
          <a:bodyPr wrap="square" lIns="0" tIns="0" rIns="0" bIns="0" rtlCol="0" anchor="ctr"/>
          <a:lstStyle/>
          <a:p>
            <a:pPr indent="0" marL="0">
              <a:buNone/>
            </a:pPr>
            <a:r>
              <a:rPr lang="en-US" sz="1100" spc="300" kern="0" dirty="0">
                <a:solidFill>
                  <a:srgbClr val="5E554B"/>
                </a:solidFill>
                <a:latin typeface="Consolas" pitchFamily="34" charset="0"/>
                <a:ea typeface="Consolas" pitchFamily="34" charset="-122"/>
                <a:cs typeface="Consolas" pitchFamily="34" charset="-120"/>
              </a:rPr>
              <a:t>SOURCES</a:t>
            </a:r>
            <a:endParaRPr lang="en-US" sz="1100" dirty="0"/>
          </a:p>
        </p:txBody>
      </p:sp>
      <p:sp>
        <p:nvSpPr>
          <p:cNvPr id="25" name="Text 22"/>
          <p:cNvSpPr/>
          <p:nvPr/>
        </p:nvSpPr>
        <p:spPr>
          <a:xfrm>
            <a:off x="6995160" y="868680"/>
            <a:ext cx="4510735" cy="5486400"/>
          </a:xfrm>
          <a:prstGeom prst="rect">
            <a:avLst/>
          </a:prstGeom>
          <a:noFill/>
          <a:ln/>
        </p:spPr>
        <p:txBody>
          <a:bodyPr wrap="square" lIns="0" tIns="0" rIns="0" bIns="0" rtlCol="0" anchor="t"/>
          <a:lstStyle/>
          <a:p>
            <a:pPr indent="0" marL="0">
              <a:spcAft>
                <a:spcPts val="100"/>
              </a:spcAft>
              <a:buNone/>
            </a:pPr>
            <a:r>
              <a:rPr lang="en-US" sz="1150" dirty="0">
                <a:solidFill>
                  <a:srgbClr val="17130F"/>
                </a:solidFill>
                <a:latin typeface="Calibri" pitchFamily="34" charset="0"/>
                <a:ea typeface="Calibri" pitchFamily="34" charset="-122"/>
                <a:cs typeface="Calibri" pitchFamily="34" charset="-120"/>
              </a:rPr>
              <a:t>1  AEA / EFHOH / EHIMA, Getting the numbers right on hearing loss in Europe, 2024. 59M Europe; EU27 ≈50M is our arithmetic.</a:t>
            </a:r>
            <a:endParaRPr lang="en-US" sz="1150" dirty="0"/>
          </a:p>
          <a:p>
            <a:pPr indent="0" marL="0">
              <a:spcAft>
                <a:spcPts val="800"/>
              </a:spcAft>
              <a:buNone/>
            </a:pPr>
            <a:r>
              <a:rPr lang="en-US" sz="800" u="sng" dirty="0">
                <a:solidFill>
                  <a:srgbClr val="5E554B"/>
                </a:solidFill>
                <a:latin typeface="Consolas" pitchFamily="34" charset="0"/>
                <a:ea typeface="Consolas" pitchFamily="34" charset="-122"/>
                <a:cs typeface="Consolas"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https://www.ehima.com/wp-content/uploads/2024/03/Getting-the-numbers-right-on-Hearing-Loss-Hearing-Care-and-Hearing-Aid-Use-in-Europe-2024.pdf</a:t>
            </a:r>
            <a:endParaRPr lang="en-US" sz="1150" dirty="0"/>
          </a:p>
          <a:p>
            <a:pPr indent="0" marL="0">
              <a:spcAft>
                <a:spcPts val="100"/>
              </a:spcAft>
              <a:buNone/>
            </a:pPr>
            <a:r>
              <a:rPr lang="en-US" sz="1150" dirty="0">
                <a:solidFill>
                  <a:srgbClr val="17130F"/>
                </a:solidFill>
                <a:latin typeface="Calibri" pitchFamily="34" charset="0"/>
                <a:ea typeface="Calibri" pitchFamily="34" charset="-122"/>
                <a:cs typeface="Calibri" pitchFamily="34" charset="-120"/>
              </a:rPr>
              <a:t>2  EHIMA / Anovum, EuroTrak Italy 2022, p. 60.</a:t>
            </a:r>
            <a:endParaRPr lang="en-US" sz="1150" dirty="0"/>
          </a:p>
          <a:p>
            <a:pPr indent="0" marL="0">
              <a:spcAft>
                <a:spcPts val="800"/>
              </a:spcAft>
              <a:buNone/>
            </a:pPr>
            <a:r>
              <a:rPr lang="en-US" sz="800" u="sng" dirty="0">
                <a:solidFill>
                  <a:srgbClr val="5E554B"/>
                </a:solidFill>
                <a:latin typeface="Consolas" pitchFamily="34" charset="0"/>
                <a:ea typeface="Consolas" pitchFamily="34" charset="-122"/>
                <a:cs typeface="Consolas"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https://www.ehima.com/wp-content/uploads/2022/11/EuroTrak_Italy_2022.pdf</a:t>
            </a:r>
            <a:endParaRPr lang="en-US" sz="1150" dirty="0"/>
          </a:p>
          <a:p>
            <a:pPr indent="0" marL="0">
              <a:spcAft>
                <a:spcPts val="800"/>
              </a:spcAft>
              <a:buNone/>
            </a:pPr>
            <a:r>
              <a:rPr lang="en-US" sz="1150" dirty="0">
                <a:solidFill>
                  <a:srgbClr val="17130F"/>
                </a:solidFill>
                <a:latin typeface="Calibri" pitchFamily="34" charset="0"/>
                <a:ea typeface="Calibri" pitchFamily="34" charset="-122"/>
                <a:cs typeface="Calibri" pitchFamily="34" charset="-120"/>
              </a:rPr>
              <a:t>3  Caption reading speed vs. conversational pace: synthesis of captioning-speed studies (research/05-numbers-for-pitch.md); not a single primary source.</a:t>
            </a:r>
            <a:endParaRPr lang="en-US" sz="1150" dirty="0"/>
          </a:p>
          <a:p>
            <a:pPr indent="0" marL="0">
              <a:spcAft>
                <a:spcPts val="100"/>
              </a:spcAft>
              <a:buNone/>
            </a:pPr>
            <a:r>
              <a:rPr lang="en-US" sz="1150" dirty="0">
                <a:solidFill>
                  <a:srgbClr val="17130F"/>
                </a:solidFill>
                <a:latin typeface="Calibri" pitchFamily="34" charset="0"/>
                <a:ea typeface="Calibri" pitchFamily="34" charset="-122"/>
                <a:cs typeface="Calibri" pitchFamily="34" charset="-120"/>
              </a:rPr>
              <a:t>4  Non-speech information in captions, PMC7040021; May et al., 2025.</a:t>
            </a:r>
            <a:endParaRPr lang="en-US" sz="1150" dirty="0"/>
          </a:p>
          <a:p>
            <a:pPr indent="0" marL="0">
              <a:spcAft>
                <a:spcPts val="800"/>
              </a:spcAft>
              <a:buNone/>
            </a:pPr>
            <a:r>
              <a:rPr lang="en-US" sz="800" u="sng" dirty="0">
                <a:solidFill>
                  <a:srgbClr val="5E554B"/>
                </a:solidFill>
                <a:latin typeface="Consolas" pitchFamily="34" charset="0"/>
                <a:ea typeface="Consolas" pitchFamily="34" charset="-122"/>
                <a:cs typeface="Consolas"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https://pmc.ncbi.nlm.nih.gov/articles/PMC7040021/</a:t>
            </a:r>
            <a:endParaRPr lang="en-US" sz="1150" dirty="0"/>
          </a:p>
          <a:p>
            <a:pPr indent="0" marL="0">
              <a:spcAft>
                <a:spcPts val="100"/>
              </a:spcAft>
              <a:buNone/>
            </a:pPr>
            <a:r>
              <a:rPr lang="en-US" sz="1150" dirty="0">
                <a:solidFill>
                  <a:srgbClr val="17130F"/>
                </a:solidFill>
                <a:latin typeface="Calibri" pitchFamily="34" charset="0"/>
                <a:ea typeface="Calibri" pitchFamily="34" charset="-122"/>
                <a:cs typeface="Calibri" pitchFamily="34" charset="-120"/>
              </a:rPr>
              <a:t>5  r/deaf, "Anyone else struggling with group conversations at work…" (35↑)</a:t>
            </a:r>
            <a:endParaRPr lang="en-US" sz="1150" dirty="0"/>
          </a:p>
          <a:p>
            <a:pPr indent="0" marL="0">
              <a:spcAft>
                <a:spcPts val="800"/>
              </a:spcAft>
              <a:buNone/>
            </a:pPr>
            <a:r>
              <a:rPr lang="en-US" sz="800" u="sng" dirty="0">
                <a:solidFill>
                  <a:srgbClr val="5E554B"/>
                </a:solidFill>
                <a:latin typeface="Consolas" pitchFamily="34" charset="0"/>
                <a:ea typeface="Consolas" pitchFamily="34" charset="-122"/>
                <a:cs typeface="Consolas"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https://www.reddit.com/r/deaf/comments/1r2797f/</a:t>
            </a:r>
            <a:endParaRPr lang="en-US" sz="1150" dirty="0"/>
          </a:p>
          <a:p>
            <a:pPr indent="0" marL="0">
              <a:spcAft>
                <a:spcPts val="100"/>
              </a:spcAft>
              <a:buNone/>
            </a:pPr>
            <a:r>
              <a:rPr lang="en-US" sz="1150" dirty="0">
                <a:solidFill>
                  <a:srgbClr val="17130F"/>
                </a:solidFill>
                <a:latin typeface="Calibri" pitchFamily="34" charset="0"/>
                <a:ea typeface="Calibri" pitchFamily="34" charset="-122"/>
                <a:cs typeface="Calibri" pitchFamily="34" charset="-120"/>
              </a:rPr>
              <a:t>6  r/deaf, "Exhausted and sad after family Sunday lunch" (36↑)</a:t>
            </a:r>
            <a:endParaRPr lang="en-US" sz="1150" dirty="0"/>
          </a:p>
          <a:p>
            <a:pPr indent="0" marL="0">
              <a:spcAft>
                <a:spcPts val="800"/>
              </a:spcAft>
              <a:buNone/>
            </a:pPr>
            <a:r>
              <a:rPr lang="en-US" sz="800" u="sng" dirty="0">
                <a:solidFill>
                  <a:srgbClr val="5E554B"/>
                </a:solidFill>
                <a:latin typeface="Consolas" pitchFamily="34" charset="0"/>
                <a:ea typeface="Consolas" pitchFamily="34" charset="-122"/>
                <a:cs typeface="Consolas"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https://www.reddit.com/r/deaf/comments/1fh8h7h/</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at a time — BAINSA Hackathon 2026</dc:title>
  <dc:subject>PptxGenJS Presentation</dc:subject>
  <dc:creator>PptxGenJS</dc:creator>
  <cp:lastModifiedBy>PptxGenJS</cp:lastModifiedBy>
  <cp:revision>1</cp:revision>
  <dcterms:created xsi:type="dcterms:W3CDTF">2026-09-26T12:38:24Z</dcterms:created>
  <dcterms:modified xsi:type="dcterms:W3CDTF">2026-09-26T12:38:24Z</dcterms:modified>
</cp:coreProperties>
</file>