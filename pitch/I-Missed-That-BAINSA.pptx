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Presenter narrates. Two teammates play a table of hearing people; a judge holds the listener phone. Each phone is its owner's mic.
Fallback: if Deepgram acts up, switch to ?replay=demo2 — it reproduces the exact same cards deterministically.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accessibility tool puts the burden on the deaf person. We built the other side. Hold this."
Q1: Who's speaking for me — what if it says something I didn't mean?
You pick the line and can edit it before it sends. It's autocomplete for the moment you're locked out of, not autopilot.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Q10: Why family, and not work?
The numbers said so first: 56% say home with family is where hearing well matters most, against 21% for work. And a family will put their phones down for you in a way a client on a call never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Sentence under 1 second. Lamp under 2 seconds. Nothing is stored.
Q9: What if Deepgram is down mid-demo? ?replay= needs neither key nor mic and reproduces the exact same cards deterministically.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Q8: Why not just use Ava or Otter?
Ava gets you named mics from every phone — genuinely good, and we don't compete on it. Otter and Zoom summarize after the fact. Neither one has ever turned around and told the people talking to slow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Why not build for sign-first Deaf users?
Scoped out on purpose. Sign-first Deaf users are often better served by an interpreter or a full visual language — a different, well-served problem. We target hard-of-hearing and late-deafened adults in rooms full of hearing people.
Q11: Where did the ledger go? It's there — second layer, ask me to show it.
Close: "One sentence. One word on their phones. One tap. Ava does the mics. We do the other side of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ehima.com/wp-content/uploads/2024/03/Getting-the-numbers-right-on-Hearing-Loss-Hearing-Care-and-Hearing-Aid-Use-in-Europe-2024.pdf" TargetMode="External"/><Relationship Id="rId2" Type="http://schemas.openxmlformats.org/officeDocument/2006/relationships/hyperlink" Target="https://www.ehima.com/wp-content/uploads/2022/11/EuroTrak_Italy_2022.pdf" TargetMode="External"/><Relationship Id="rId3" Type="http://schemas.openxmlformats.org/officeDocument/2006/relationships/hyperlink" Target="https://pmc.ncbi.nlm.nih.gov/articles/PMC7040021/" TargetMode="External"/><Relationship Id="rId4" Type="http://schemas.openxmlformats.org/officeDocument/2006/relationships/hyperlink" Target="https://www.reddit.com/r/deaf/comments/1r2797f/" TargetMode="External"/><Relationship Id="rId5" Type="http://schemas.openxmlformats.org/officeDocument/2006/relationships/hyperlink" Target="https://www.reddit.com/r/deaf/comments/1fh8h7h/" TargetMode="Externa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548640"/>
            <a:ext cx="8686800" cy="320040"/>
          </a:xfrm>
          <a:prstGeom prst="rect">
            <a:avLst/>
          </a:prstGeom>
          <a:noFill/>
          <a:ln/>
        </p:spPr>
        <p:txBody>
          <a:bodyPr wrap="square" lIns="0" tIns="0" rIns="0" bIns="0" rtlCol="0" anchor="ctr"/>
          <a:lstStyle/>
          <a:p>
            <a:pPr indent="0" marL="0">
              <a:buNone/>
            </a:pPr>
            <a:r>
              <a:rPr lang="en-US" sz="1300" b="1" spc="300" kern="0" dirty="0">
                <a:solidFill>
                  <a:srgbClr val="A89B8A"/>
                </a:solidFill>
                <a:latin typeface="Arial" pitchFamily="34" charset="0"/>
                <a:ea typeface="Arial" pitchFamily="34" charset="-122"/>
                <a:cs typeface="Arial" pitchFamily="34" charset="-120"/>
              </a:rPr>
              <a:t>BAINSA HACKATHON 2026</a:t>
            </a:r>
            <a:endParaRPr lang="en-US" sz="1300" dirty="0"/>
          </a:p>
        </p:txBody>
      </p:sp>
      <p:sp>
        <p:nvSpPr>
          <p:cNvPr id="4" name="Text 1"/>
          <p:cNvSpPr/>
          <p:nvPr/>
        </p:nvSpPr>
        <p:spPr>
          <a:xfrm>
            <a:off x="548640" y="2011680"/>
            <a:ext cx="10515600" cy="1828800"/>
          </a:xfrm>
          <a:prstGeom prst="rect">
            <a:avLst/>
          </a:prstGeom>
          <a:noFill/>
          <a:ln/>
        </p:spPr>
        <p:txBody>
          <a:bodyPr wrap="square" lIns="0" tIns="0" rIns="0" bIns="0" rtlCol="0" anchor="ctr"/>
          <a:lstStyle/>
          <a:p>
            <a:pPr indent="0" marL="0">
              <a:buNone/>
            </a:pPr>
            <a:r>
              <a:rPr lang="en-US" sz="9600" i="1" dirty="0">
                <a:solidFill>
                  <a:srgbClr val="F1E9DD"/>
                </a:solidFill>
                <a:latin typeface="Georgia" pitchFamily="34" charset="0"/>
                <a:ea typeface="Georgia" pitchFamily="34" charset="-122"/>
                <a:cs typeface="Georgia" pitchFamily="34" charset="-120"/>
              </a:rPr>
              <a:t>One at a time.</a:t>
            </a:r>
            <a:endParaRPr lang="en-US" sz="9600" dirty="0"/>
          </a:p>
        </p:txBody>
      </p:sp>
      <p:sp>
        <p:nvSpPr>
          <p:cNvPr id="5" name="Text 2"/>
          <p:cNvSpPr/>
          <p:nvPr/>
        </p:nvSpPr>
        <p:spPr>
          <a:xfrm>
            <a:off x="548640" y="4160520"/>
            <a:ext cx="9601200" cy="731520"/>
          </a:xfrm>
          <a:prstGeom prst="rect">
            <a:avLst/>
          </a:prstGeom>
          <a:noFill/>
          <a:ln/>
        </p:spPr>
        <p:txBody>
          <a:bodyPr wrap="square" lIns="0" tIns="0" rIns="0" bIns="0" rtlCol="0" anchor="t"/>
          <a:lstStyle/>
          <a:p>
            <a:pPr indent="0" marL="0">
              <a:buNone/>
            </a:pPr>
            <a:r>
              <a:rPr lang="en-US" sz="2600" dirty="0">
                <a:solidFill>
                  <a:srgbClr val="7FB4FF"/>
                </a:solidFill>
                <a:latin typeface="Georgia" pitchFamily="34" charset="0"/>
                <a:ea typeface="Georgia" pitchFamily="34" charset="-122"/>
                <a:cs typeface="Georgia" pitchFamily="34" charset="-120"/>
              </a:rPr>
              <a:t>The first accessibility tool for the hearing side of the table.</a:t>
            </a:r>
            <a:endParaRPr lang="en-US" sz="2600" dirty="0"/>
          </a:p>
        </p:txBody>
      </p:sp>
      <p:sp>
        <p:nvSpPr>
          <p:cNvPr id="6" name="Shape 3"/>
          <p:cNvSpPr/>
          <p:nvPr/>
        </p:nvSpPr>
        <p:spPr>
          <a:xfrm>
            <a:off x="548640" y="5989320"/>
            <a:ext cx="2194560" cy="0"/>
          </a:xfrm>
          <a:prstGeom prst="line">
            <a:avLst/>
          </a:prstGeom>
          <a:noFill/>
          <a:ln w="12700">
            <a:solidFill>
              <a:srgbClr val="3A3029"/>
            </a:solidFill>
            <a:prstDash val="solid"/>
          </a:ln>
        </p:spPr>
      </p:sp>
      <p:sp>
        <p:nvSpPr>
          <p:cNvPr id="7" name="Text 4"/>
          <p:cNvSpPr/>
          <p:nvPr/>
        </p:nvSpPr>
        <p:spPr>
          <a:xfrm>
            <a:off x="548640" y="6126480"/>
            <a:ext cx="7315200" cy="411480"/>
          </a:xfrm>
          <a:prstGeom prst="rect">
            <a:avLst/>
          </a:prstGeom>
          <a:noFill/>
          <a:ln/>
        </p:spPr>
        <p:txBody>
          <a:bodyPr wrap="square" lIns="0" tIns="0" rIns="0" bIns="0" rtlCol="0" anchor="ctr"/>
          <a:lstStyle/>
          <a:p>
            <a:pPr indent="0" marL="0">
              <a:buNone/>
            </a:pPr>
            <a:r>
              <a:rPr lang="en-US" sz="1600" dirty="0">
                <a:solidFill>
                  <a:srgbClr val="A89B8A"/>
                </a:solidFill>
                <a:latin typeface="Arial" pitchFamily="34" charset="0"/>
                <a:ea typeface="Arial" pitchFamily="34" charset="-122"/>
                <a:cs typeface="Arial" pitchFamily="34" charset="-120"/>
              </a:rPr>
              <a:t>Team: [Name] · [Name] · [Name] · [Name]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THE FLIP</a:t>
            </a:r>
            <a:endParaRPr lang="en-US" sz="1300" dirty="0"/>
          </a:p>
        </p:txBody>
      </p:sp>
      <p:sp>
        <p:nvSpPr>
          <p:cNvPr id="4" name="Text 1"/>
          <p:cNvSpPr/>
          <p:nvPr/>
        </p:nvSpPr>
        <p:spPr>
          <a:xfrm>
            <a:off x="548640" y="822960"/>
            <a:ext cx="10515600" cy="1371600"/>
          </a:xfrm>
          <a:prstGeom prst="rect">
            <a:avLst/>
          </a:prstGeom>
          <a:noFill/>
          <a:ln/>
        </p:spPr>
        <p:txBody>
          <a:bodyPr wrap="square" lIns="0" tIns="0" rIns="0" bIns="0" rtlCol="0" anchor="t"/>
          <a:lstStyle/>
          <a:p>
            <a:pPr indent="0" marL="0">
              <a:buNone/>
            </a:pPr>
            <a:r>
              <a:rPr lang="en-US" sz="3800" dirty="0">
                <a:solidFill>
                  <a:srgbClr val="F1E9DD"/>
                </a:solidFill>
                <a:latin typeface="Georgia" pitchFamily="34" charset="0"/>
                <a:ea typeface="Georgia" pitchFamily="34" charset="-122"/>
                <a:cs typeface="Georgia" pitchFamily="34" charset="-120"/>
              </a:rPr>
              <a:t>Every accessibility tool puts the burden on the deaf person.</a:t>
            </a:r>
            <a:endParaRPr lang="en-US" sz="3800" dirty="0"/>
          </a:p>
        </p:txBody>
      </p:sp>
      <p:sp>
        <p:nvSpPr>
          <p:cNvPr id="5" name="Text 2"/>
          <p:cNvSpPr/>
          <p:nvPr/>
        </p:nvSpPr>
        <p:spPr>
          <a:xfrm>
            <a:off x="548640" y="2057400"/>
            <a:ext cx="10515600" cy="502920"/>
          </a:xfrm>
          <a:prstGeom prst="rect">
            <a:avLst/>
          </a:prstGeom>
          <a:noFill/>
          <a:ln/>
        </p:spPr>
        <p:txBody>
          <a:bodyPr wrap="square" lIns="0" tIns="0" rIns="0" bIns="0" rtlCol="0" anchor="ctr"/>
          <a:lstStyle/>
          <a:p>
            <a:pPr indent="0" marL="0">
              <a:buNone/>
            </a:pPr>
            <a:r>
              <a:rPr lang="en-US" sz="2400" dirty="0">
                <a:solidFill>
                  <a:srgbClr val="A89B8A"/>
                </a:solidFill>
                <a:latin typeface="Arial" pitchFamily="34" charset="0"/>
                <a:ea typeface="Arial" pitchFamily="34" charset="-122"/>
                <a:cs typeface="Arial" pitchFamily="34" charset="-120"/>
              </a:rPr>
              <a:t>Read faster. Ask again. Get told never mind. </a:t>
            </a:r>
            <a:pPr indent="0" marL="0">
              <a:buNone/>
            </a:pPr>
            <a:r>
              <a:rPr lang="en-US" sz="2400" b="1" dirty="0">
                <a:solidFill>
                  <a:srgbClr val="7FB4FF"/>
                </a:solidFill>
                <a:latin typeface="Arial" pitchFamily="34" charset="0"/>
                <a:ea typeface="Arial" pitchFamily="34" charset="-122"/>
                <a:cs typeface="Arial" pitchFamily="34" charset="-120"/>
              </a:rPr>
              <a:t>We built the other side.</a:t>
            </a:r>
            <a:endParaRPr lang="en-US" sz="2400" dirty="0"/>
          </a:p>
        </p:txBody>
      </p:sp>
      <p:sp>
        <p:nvSpPr>
          <p:cNvPr id="6" name="Shape 3"/>
          <p:cNvSpPr/>
          <p:nvPr/>
        </p:nvSpPr>
        <p:spPr>
          <a:xfrm>
            <a:off x="548640" y="2788920"/>
            <a:ext cx="5166360" cy="3657600"/>
          </a:xfrm>
          <a:prstGeom prst="rect">
            <a:avLst/>
          </a:prstGeom>
          <a:solidFill>
            <a:srgbClr val="211B16"/>
          </a:solidFill>
          <a:ln w="9525">
            <a:solidFill>
              <a:srgbClr val="3A3029"/>
            </a:solidFill>
            <a:prstDash val="solid"/>
          </a:ln>
        </p:spPr>
      </p:sp>
      <p:sp>
        <p:nvSpPr>
          <p:cNvPr id="7" name="Text 4"/>
          <p:cNvSpPr/>
          <p:nvPr/>
        </p:nvSpPr>
        <p:spPr>
          <a:xfrm>
            <a:off x="822960" y="3063240"/>
            <a:ext cx="4617720" cy="2743200"/>
          </a:xfrm>
          <a:prstGeom prst="rect">
            <a:avLst/>
          </a:prstGeom>
          <a:noFill/>
          <a:ln/>
        </p:spPr>
        <p:txBody>
          <a:bodyPr wrap="square" lIns="0" tIns="0" rIns="0" bIns="0" rtlCol="0" anchor="t"/>
          <a:lstStyle/>
          <a:p>
            <a:pPr indent="0" marL="0">
              <a:buNone/>
            </a:pPr>
            <a:r>
              <a:rPr lang="en-US" sz="2200" i="1" dirty="0">
                <a:solidFill>
                  <a:srgbClr val="F1E9DD"/>
                </a:solidFill>
                <a:latin typeface="Georgia" pitchFamily="34" charset="0"/>
                <a:ea typeface="Georgia" pitchFamily="34" charset="-122"/>
                <a:cs typeface="Georgia" pitchFamily="34" charset="-120"/>
              </a:rPr>
              <a:t>"I've started just nodding along even when I have no idea what was decided. My boss mentioned something about a new client project last Thursday and I smiled and agreed but I genuinely don't know what I signed up for."</a:t>
            </a:r>
            <a:endParaRPr lang="en-US" sz="2200" dirty="0"/>
          </a:p>
        </p:txBody>
      </p:sp>
      <p:sp>
        <p:nvSpPr>
          <p:cNvPr id="8" name="Text 5"/>
          <p:cNvSpPr/>
          <p:nvPr/>
        </p:nvSpPr>
        <p:spPr>
          <a:xfrm>
            <a:off x="822960" y="5897880"/>
            <a:ext cx="4617720" cy="365760"/>
          </a:xfrm>
          <a:prstGeom prst="rect">
            <a:avLst/>
          </a:prstGeom>
          <a:noFill/>
          <a:ln/>
        </p:spPr>
        <p:txBody>
          <a:bodyPr wrap="square" lIns="0" tIns="0" rIns="0" bIns="0" rtlCol="0" anchor="b"/>
          <a:lstStyle/>
          <a:p>
            <a:pPr indent="0" marL="0">
              <a:buNone/>
            </a:pPr>
            <a:r>
              <a:rPr lang="en-US" sz="1300" dirty="0">
                <a:solidFill>
                  <a:srgbClr val="A89B8A"/>
                </a:solidFill>
                <a:latin typeface="Arial" pitchFamily="34" charset="0"/>
                <a:ea typeface="Arial" pitchFamily="34" charset="-122"/>
                <a:cs typeface="Arial" pitchFamily="34" charset="-120"/>
              </a:rPr>
              <a:t>— r/deaf, 35↑</a:t>
            </a:r>
            <a:endParaRPr lang="en-US" sz="1300" dirty="0"/>
          </a:p>
        </p:txBody>
      </p:sp>
      <p:sp>
        <p:nvSpPr>
          <p:cNvPr id="9" name="Shape 6"/>
          <p:cNvSpPr/>
          <p:nvPr/>
        </p:nvSpPr>
        <p:spPr>
          <a:xfrm>
            <a:off x="6035040" y="2788920"/>
            <a:ext cx="5166360" cy="3657600"/>
          </a:xfrm>
          <a:prstGeom prst="rect">
            <a:avLst/>
          </a:prstGeom>
          <a:solidFill>
            <a:srgbClr val="211B16"/>
          </a:solidFill>
          <a:ln w="9525">
            <a:solidFill>
              <a:srgbClr val="3A3029"/>
            </a:solidFill>
            <a:prstDash val="solid"/>
          </a:ln>
        </p:spPr>
      </p:sp>
      <p:sp>
        <p:nvSpPr>
          <p:cNvPr id="10" name="Text 7"/>
          <p:cNvSpPr/>
          <p:nvPr/>
        </p:nvSpPr>
        <p:spPr>
          <a:xfrm>
            <a:off x="6309360" y="3063240"/>
            <a:ext cx="4617720" cy="2743200"/>
          </a:xfrm>
          <a:prstGeom prst="rect">
            <a:avLst/>
          </a:prstGeom>
          <a:noFill/>
          <a:ln/>
        </p:spPr>
        <p:txBody>
          <a:bodyPr wrap="square" lIns="0" tIns="0" rIns="0" bIns="0" rtlCol="0" anchor="t"/>
          <a:lstStyle/>
          <a:p>
            <a:pPr indent="0" marL="0">
              <a:buNone/>
            </a:pPr>
            <a:r>
              <a:rPr lang="en-US" sz="2200" i="1" dirty="0">
                <a:solidFill>
                  <a:srgbClr val="F1E9DD"/>
                </a:solidFill>
                <a:latin typeface="Georgia" pitchFamily="34" charset="0"/>
                <a:ea typeface="Georgia" pitchFamily="34" charset="-122"/>
                <a:cs typeface="Georgia" pitchFamily="34" charset="-120"/>
              </a:rPr>
              <a:t>"DTS - Dinner Table Syndrome. Deaf people in hearing families are too familiar with this, myself included. It's simply too much work to follow along. Thats why you feel like you could sleep for a week, we have to work much harder than a hearing person to understand verbal conversations."</a:t>
            </a:r>
            <a:endParaRPr lang="en-US" sz="2200" dirty="0"/>
          </a:p>
        </p:txBody>
      </p:sp>
      <p:sp>
        <p:nvSpPr>
          <p:cNvPr id="11" name="Text 8"/>
          <p:cNvSpPr/>
          <p:nvPr/>
        </p:nvSpPr>
        <p:spPr>
          <a:xfrm>
            <a:off x="6309360" y="5897880"/>
            <a:ext cx="4617720" cy="365760"/>
          </a:xfrm>
          <a:prstGeom prst="rect">
            <a:avLst/>
          </a:prstGeom>
          <a:noFill/>
          <a:ln/>
        </p:spPr>
        <p:txBody>
          <a:bodyPr wrap="square" lIns="0" tIns="0" rIns="0" bIns="0" rtlCol="0" anchor="b"/>
          <a:lstStyle/>
          <a:p>
            <a:pPr indent="0" marL="0">
              <a:buNone/>
            </a:pPr>
            <a:r>
              <a:rPr lang="en-US" sz="1300" dirty="0">
                <a:solidFill>
                  <a:srgbClr val="A89B8A"/>
                </a:solidFill>
                <a:latin typeface="Arial" pitchFamily="34" charset="0"/>
                <a:ea typeface="Arial" pitchFamily="34" charset="-122"/>
                <a:cs typeface="Arial" pitchFamily="34" charset="-120"/>
              </a:rPr>
              <a:t>— r/deaf, 36↑</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THE NUMBERS</a:t>
            </a:r>
            <a:endParaRPr lang="en-US" sz="1300" dirty="0"/>
          </a:p>
        </p:txBody>
      </p:sp>
      <p:sp>
        <p:nvSpPr>
          <p:cNvPr id="4" name="Text 1"/>
          <p:cNvSpPr/>
          <p:nvPr/>
        </p:nvSpPr>
        <p:spPr>
          <a:xfrm>
            <a:off x="548640" y="914400"/>
            <a:ext cx="4023360" cy="1554480"/>
          </a:xfrm>
          <a:prstGeom prst="rect">
            <a:avLst/>
          </a:prstGeom>
          <a:noFill/>
          <a:ln/>
        </p:spPr>
        <p:txBody>
          <a:bodyPr wrap="square" lIns="0" tIns="0" rIns="0" bIns="0" rtlCol="0" anchor="ctr"/>
          <a:lstStyle/>
          <a:p>
            <a:pPr indent="0" marL="0">
              <a:buNone/>
            </a:pPr>
            <a:r>
              <a:rPr lang="en-US" sz="11000" dirty="0">
                <a:solidFill>
                  <a:srgbClr val="7FB4FF"/>
                </a:solidFill>
                <a:latin typeface="Georgia" pitchFamily="34" charset="0"/>
                <a:ea typeface="Georgia" pitchFamily="34" charset="-122"/>
                <a:cs typeface="Georgia" pitchFamily="34" charset="-120"/>
              </a:rPr>
              <a:t>50M</a:t>
            </a:r>
            <a:endParaRPr lang="en-US" sz="11000" dirty="0"/>
          </a:p>
        </p:txBody>
      </p:sp>
      <p:sp>
        <p:nvSpPr>
          <p:cNvPr id="5" name="Text 2"/>
          <p:cNvSpPr/>
          <p:nvPr/>
        </p:nvSpPr>
        <p:spPr>
          <a:xfrm>
            <a:off x="548640" y="2606040"/>
            <a:ext cx="3840480" cy="1188720"/>
          </a:xfrm>
          <a:prstGeom prst="rect">
            <a:avLst/>
          </a:prstGeom>
          <a:noFill/>
          <a:ln/>
        </p:spPr>
        <p:txBody>
          <a:bodyPr wrap="square" lIns="0" tIns="0" rIns="0" bIns="0" rtlCol="0" anchor="t"/>
          <a:lstStyle/>
          <a:p>
            <a:pPr indent="0" marL="0">
              <a:buNone/>
            </a:pPr>
            <a:r>
              <a:rPr lang="en-US" sz="2200" dirty="0">
                <a:solidFill>
                  <a:srgbClr val="F1E9DD"/>
                </a:solidFill>
                <a:latin typeface="Arial" pitchFamily="34" charset="0"/>
                <a:ea typeface="Arial" pitchFamily="34" charset="-122"/>
                <a:cs typeface="Arial" pitchFamily="34" charset="-120"/>
              </a:rPr>
              <a:t>people in the EU say they have trouble hearing. About one in nine.</a:t>
            </a:r>
            <a:pPr indent="0" marL="0">
              <a:buNone/>
            </a:pPr>
            <a:r>
              <a:rPr lang="en-US" sz="2200" baseline="30000" dirty="0">
                <a:solidFill>
                  <a:srgbClr val="A89B8A"/>
                </a:solidFill>
                <a:latin typeface="Arial" pitchFamily="34" charset="0"/>
                <a:ea typeface="Arial" pitchFamily="34" charset="-122"/>
                <a:cs typeface="Arial" pitchFamily="34" charset="-120"/>
              </a:rPr>
              <a:t>1</a:t>
            </a:r>
            <a:endParaRPr lang="en-US" sz="2200" dirty="0"/>
          </a:p>
        </p:txBody>
      </p:sp>
      <p:sp>
        <p:nvSpPr>
          <p:cNvPr id="6" name="Text 3"/>
          <p:cNvSpPr/>
          <p:nvPr/>
        </p:nvSpPr>
        <p:spPr>
          <a:xfrm>
            <a:off x="548640" y="5394960"/>
            <a:ext cx="3657600" cy="731520"/>
          </a:xfrm>
          <a:prstGeom prst="rect">
            <a:avLst/>
          </a:prstGeom>
          <a:noFill/>
          <a:ln/>
        </p:spPr>
        <p:txBody>
          <a:bodyPr wrap="square" lIns="0" tIns="0" rIns="0" bIns="0" rtlCol="0" anchor="t"/>
          <a:lstStyle/>
          <a:p>
            <a:pPr indent="0" marL="0">
              <a:buNone/>
            </a:pPr>
            <a:r>
              <a:rPr lang="en-US" sz="1900" i="1" dirty="0">
                <a:solidFill>
                  <a:srgbClr val="A89B8A"/>
                </a:solidFill>
                <a:latin typeface="Georgia" pitchFamily="34" charset="0"/>
                <a:ea typeface="Georgia" pitchFamily="34" charset="-122"/>
                <a:cs typeface="Georgia" pitchFamily="34" charset="-120"/>
              </a:rPr>
              <a:t>Hard-of-hearing and late-deafened adults.</a:t>
            </a:r>
            <a:endParaRPr lang="en-US" sz="1900" dirty="0"/>
          </a:p>
        </p:txBody>
      </p:sp>
      <p:sp>
        <p:nvSpPr>
          <p:cNvPr id="7" name="Shape 4"/>
          <p:cNvSpPr/>
          <p:nvPr/>
        </p:nvSpPr>
        <p:spPr>
          <a:xfrm>
            <a:off x="4754880" y="1280160"/>
            <a:ext cx="2331720" cy="2834640"/>
          </a:xfrm>
          <a:prstGeom prst="rect">
            <a:avLst/>
          </a:prstGeom>
          <a:solidFill>
            <a:srgbClr val="211B16"/>
          </a:solidFill>
          <a:ln w="9525">
            <a:solidFill>
              <a:srgbClr val="3A3029"/>
            </a:solidFill>
            <a:prstDash val="solid"/>
          </a:ln>
        </p:spPr>
      </p:sp>
      <p:sp>
        <p:nvSpPr>
          <p:cNvPr id="8" name="Text 5"/>
          <p:cNvSpPr/>
          <p:nvPr/>
        </p:nvSpPr>
        <p:spPr>
          <a:xfrm>
            <a:off x="4956048" y="1508760"/>
            <a:ext cx="1965960" cy="914400"/>
          </a:xfrm>
          <a:prstGeom prst="rect">
            <a:avLst/>
          </a:prstGeom>
          <a:noFill/>
          <a:ln/>
        </p:spPr>
        <p:txBody>
          <a:bodyPr wrap="square" lIns="0" tIns="0" rIns="0" bIns="0" rtlCol="0" anchor="ctr"/>
          <a:lstStyle/>
          <a:p>
            <a:pPr indent="0" marL="0">
              <a:buNone/>
            </a:pPr>
            <a:r>
              <a:rPr lang="en-US" sz="3000" dirty="0">
                <a:solidFill>
                  <a:srgbClr val="F1E9DD"/>
                </a:solidFill>
                <a:latin typeface="Georgia" pitchFamily="34" charset="0"/>
                <a:ea typeface="Georgia" pitchFamily="34" charset="-122"/>
                <a:cs typeface="Georgia" pitchFamily="34" charset="-120"/>
              </a:rPr>
              <a:t>56% vs 21%</a:t>
            </a:r>
            <a:endParaRPr lang="en-US" sz="3000" dirty="0"/>
          </a:p>
        </p:txBody>
      </p:sp>
      <p:sp>
        <p:nvSpPr>
          <p:cNvPr id="9" name="Text 6"/>
          <p:cNvSpPr/>
          <p:nvPr/>
        </p:nvSpPr>
        <p:spPr>
          <a:xfrm>
            <a:off x="4956048" y="2514600"/>
            <a:ext cx="1929384" cy="1417320"/>
          </a:xfrm>
          <a:prstGeom prst="rect">
            <a:avLst/>
          </a:prstGeom>
          <a:noFill/>
          <a:ln/>
        </p:spPr>
        <p:txBody>
          <a:bodyPr wrap="square" lIns="0" tIns="0" rIns="0" bIns="0" rtlCol="0" anchor="t"/>
          <a:lstStyle/>
          <a:p>
            <a:pPr indent="0" marL="0">
              <a:buNone/>
            </a:pPr>
            <a:r>
              <a:rPr lang="en-US" sz="1700" dirty="0">
                <a:solidFill>
                  <a:srgbClr val="F1E9DD"/>
                </a:solidFill>
                <a:latin typeface="Arial" pitchFamily="34" charset="0"/>
                <a:ea typeface="Arial" pitchFamily="34" charset="-122"/>
                <a:cs typeface="Arial" pitchFamily="34" charset="-120"/>
              </a:rPr>
              <a:t>say the family table matters most for hearing well. Work: 21%.</a:t>
            </a:r>
            <a:pPr indent="0" marL="0">
              <a:buNone/>
            </a:pPr>
            <a:r>
              <a:rPr lang="en-US" sz="1700" baseline="30000" dirty="0">
                <a:solidFill>
                  <a:srgbClr val="A89B8A"/>
                </a:solidFill>
                <a:latin typeface="Arial" pitchFamily="34" charset="0"/>
                <a:ea typeface="Arial" pitchFamily="34" charset="-122"/>
                <a:cs typeface="Arial" pitchFamily="34" charset="-120"/>
              </a:rPr>
              <a:t>2</a:t>
            </a:r>
            <a:endParaRPr lang="en-US" sz="1700" dirty="0"/>
          </a:p>
        </p:txBody>
      </p:sp>
      <p:sp>
        <p:nvSpPr>
          <p:cNvPr id="10" name="Shape 7"/>
          <p:cNvSpPr/>
          <p:nvPr/>
        </p:nvSpPr>
        <p:spPr>
          <a:xfrm>
            <a:off x="7269480" y="1280160"/>
            <a:ext cx="2331720" cy="2834640"/>
          </a:xfrm>
          <a:prstGeom prst="rect">
            <a:avLst/>
          </a:prstGeom>
          <a:solidFill>
            <a:srgbClr val="211B16"/>
          </a:solidFill>
          <a:ln w="9525">
            <a:solidFill>
              <a:srgbClr val="3A3029"/>
            </a:solidFill>
            <a:prstDash val="solid"/>
          </a:ln>
        </p:spPr>
      </p:sp>
      <p:sp>
        <p:nvSpPr>
          <p:cNvPr id="11" name="Text 8"/>
          <p:cNvSpPr/>
          <p:nvPr/>
        </p:nvSpPr>
        <p:spPr>
          <a:xfrm>
            <a:off x="7470648" y="1508760"/>
            <a:ext cx="1965960" cy="914400"/>
          </a:xfrm>
          <a:prstGeom prst="rect">
            <a:avLst/>
          </a:prstGeom>
          <a:noFill/>
          <a:ln/>
        </p:spPr>
        <p:txBody>
          <a:bodyPr wrap="square" lIns="0" tIns="0" rIns="0" bIns="0" rtlCol="0" anchor="ctr"/>
          <a:lstStyle/>
          <a:p>
            <a:pPr indent="0" marL="0">
              <a:buNone/>
            </a:pPr>
            <a:r>
              <a:rPr lang="en-US" sz="3000" dirty="0">
                <a:solidFill>
                  <a:srgbClr val="F1E9DD"/>
                </a:solidFill>
                <a:latin typeface="Georgia" pitchFamily="34" charset="0"/>
                <a:ea typeface="Georgia" pitchFamily="34" charset="-122"/>
                <a:cs typeface="Georgia" pitchFamily="34" charset="-120"/>
              </a:rPr>
              <a:t>170 wpm</a:t>
            </a:r>
            <a:endParaRPr lang="en-US" sz="3000" dirty="0"/>
          </a:p>
        </p:txBody>
      </p:sp>
      <p:sp>
        <p:nvSpPr>
          <p:cNvPr id="12" name="Text 9"/>
          <p:cNvSpPr/>
          <p:nvPr/>
        </p:nvSpPr>
        <p:spPr>
          <a:xfrm>
            <a:off x="7470648" y="2514600"/>
            <a:ext cx="1929384" cy="1417320"/>
          </a:xfrm>
          <a:prstGeom prst="rect">
            <a:avLst/>
          </a:prstGeom>
          <a:noFill/>
          <a:ln/>
        </p:spPr>
        <p:txBody>
          <a:bodyPr wrap="square" lIns="0" tIns="0" rIns="0" bIns="0" rtlCol="0" anchor="t"/>
          <a:lstStyle/>
          <a:p>
            <a:pPr indent="0" marL="0">
              <a:buNone/>
            </a:pPr>
            <a:r>
              <a:rPr lang="en-US" sz="1700" dirty="0">
                <a:solidFill>
                  <a:srgbClr val="F1E9DD"/>
                </a:solidFill>
                <a:latin typeface="Arial" pitchFamily="34" charset="0"/>
                <a:ea typeface="Arial" pitchFamily="34" charset="-122"/>
                <a:cs typeface="Arial" pitchFamily="34" charset="-120"/>
              </a:rPr>
              <a:t>caption comprehension drops. Group speech runs 160–220.</a:t>
            </a:r>
            <a:pPr indent="0" marL="0">
              <a:buNone/>
            </a:pPr>
            <a:r>
              <a:rPr lang="en-US" sz="1700" baseline="30000" dirty="0">
                <a:solidFill>
                  <a:srgbClr val="A89B8A"/>
                </a:solidFill>
                <a:latin typeface="Arial" pitchFamily="34" charset="0"/>
                <a:ea typeface="Arial" pitchFamily="34" charset="-122"/>
                <a:cs typeface="Arial" pitchFamily="34" charset="-120"/>
              </a:rPr>
              <a:t>3</a:t>
            </a:r>
            <a:endParaRPr lang="en-US" sz="1700" dirty="0"/>
          </a:p>
        </p:txBody>
      </p:sp>
      <p:sp>
        <p:nvSpPr>
          <p:cNvPr id="13" name="Shape 10"/>
          <p:cNvSpPr/>
          <p:nvPr/>
        </p:nvSpPr>
        <p:spPr>
          <a:xfrm>
            <a:off x="9784080" y="1280160"/>
            <a:ext cx="2331720" cy="2834640"/>
          </a:xfrm>
          <a:prstGeom prst="rect">
            <a:avLst/>
          </a:prstGeom>
          <a:solidFill>
            <a:srgbClr val="211B16"/>
          </a:solidFill>
          <a:ln w="9525">
            <a:solidFill>
              <a:srgbClr val="3A3029"/>
            </a:solidFill>
            <a:prstDash val="solid"/>
          </a:ln>
        </p:spPr>
      </p:sp>
      <p:sp>
        <p:nvSpPr>
          <p:cNvPr id="14" name="Text 11"/>
          <p:cNvSpPr/>
          <p:nvPr/>
        </p:nvSpPr>
        <p:spPr>
          <a:xfrm>
            <a:off x="9985248" y="1508760"/>
            <a:ext cx="1965960" cy="914400"/>
          </a:xfrm>
          <a:prstGeom prst="rect">
            <a:avLst/>
          </a:prstGeom>
          <a:noFill/>
          <a:ln/>
        </p:spPr>
        <p:txBody>
          <a:bodyPr wrap="square" lIns="0" tIns="0" rIns="0" bIns="0" rtlCol="0" anchor="ctr"/>
          <a:lstStyle/>
          <a:p>
            <a:pPr indent="0" marL="0">
              <a:buNone/>
            </a:pPr>
            <a:r>
              <a:rPr lang="en-US" sz="4000" dirty="0">
                <a:solidFill>
                  <a:srgbClr val="F1E9DD"/>
                </a:solidFill>
                <a:latin typeface="Georgia" pitchFamily="34" charset="0"/>
                <a:ea typeface="Georgia" pitchFamily="34" charset="-122"/>
                <a:cs typeface="Georgia" pitchFamily="34" charset="-120"/>
              </a:rPr>
              <a:t>4%</a:t>
            </a:r>
            <a:endParaRPr lang="en-US" sz="4000" dirty="0"/>
          </a:p>
        </p:txBody>
      </p:sp>
      <p:sp>
        <p:nvSpPr>
          <p:cNvPr id="15" name="Text 12"/>
          <p:cNvSpPr/>
          <p:nvPr/>
        </p:nvSpPr>
        <p:spPr>
          <a:xfrm>
            <a:off x="9985248" y="2514600"/>
            <a:ext cx="1929384" cy="1417320"/>
          </a:xfrm>
          <a:prstGeom prst="rect">
            <a:avLst/>
          </a:prstGeom>
          <a:noFill/>
          <a:ln/>
        </p:spPr>
        <p:txBody>
          <a:bodyPr wrap="square" lIns="0" tIns="0" rIns="0" bIns="0" rtlCol="0" anchor="t"/>
          <a:lstStyle/>
          <a:p>
            <a:pPr indent="0" marL="0">
              <a:buNone/>
            </a:pPr>
            <a:r>
              <a:rPr lang="en-US" sz="1700" dirty="0">
                <a:solidFill>
                  <a:srgbClr val="F1E9DD"/>
                </a:solidFill>
                <a:latin typeface="Arial" pitchFamily="34" charset="0"/>
                <a:ea typeface="Arial" pitchFamily="34" charset="-122"/>
                <a:cs typeface="Arial" pitchFamily="34" charset="-120"/>
              </a:rPr>
              <a:t>of sampled videos caption non-speech sound (laughter, tone)</a:t>
            </a:r>
            <a:pPr indent="0" marL="0">
              <a:buNone/>
            </a:pPr>
            <a:r>
              <a:rPr lang="en-US" sz="1700" baseline="30000" dirty="0">
                <a:solidFill>
                  <a:srgbClr val="A89B8A"/>
                </a:solidFill>
                <a:latin typeface="Arial" pitchFamily="34" charset="0"/>
                <a:ea typeface="Arial" pitchFamily="34" charset="-122"/>
                <a:cs typeface="Arial" pitchFamily="34" charset="-120"/>
              </a:rPr>
              <a:t>3</a:t>
            </a:r>
            <a:endParaRPr lang="en-US" sz="1700" dirty="0"/>
          </a:p>
        </p:txBody>
      </p:sp>
      <p:sp>
        <p:nvSpPr>
          <p:cNvPr id="16" name="Text 13"/>
          <p:cNvSpPr/>
          <p:nvPr/>
        </p:nvSpPr>
        <p:spPr>
          <a:xfrm>
            <a:off x="4754880" y="6172200"/>
            <a:ext cx="6949440" cy="457200"/>
          </a:xfrm>
          <a:prstGeom prst="rect">
            <a:avLst/>
          </a:prstGeom>
          <a:noFill/>
          <a:ln/>
        </p:spPr>
        <p:txBody>
          <a:bodyPr wrap="square" lIns="0" tIns="0" rIns="0" bIns="0" rtlCol="0" anchor="ctr"/>
          <a:lstStyle/>
          <a:p>
            <a:pPr indent="0" marL="0">
              <a:buNone/>
            </a:pPr>
            <a:r>
              <a:rPr lang="en-US" sz="1100" dirty="0">
                <a:solidFill>
                  <a:srgbClr val="6F6457"/>
                </a:solidFill>
                <a:latin typeface="Arial" pitchFamily="34" charset="0"/>
                <a:ea typeface="Arial" pitchFamily="34" charset="-122"/>
                <a:cs typeface="Arial" pitchFamily="34" charset="-120"/>
              </a:rPr>
              <a:t>Sources on the last slide. ¹ EU27 figure derived from the 59M Europe (EU+UK+NO+CH) total. ² EuroTrak Italy 2022. ³ from research synthesis.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HOW IT WORKS</a:t>
            </a:r>
            <a:endParaRPr lang="en-US" sz="1300" dirty="0"/>
          </a:p>
        </p:txBody>
      </p:sp>
      <p:sp>
        <p:nvSpPr>
          <p:cNvPr id="4" name="Text 1"/>
          <p:cNvSpPr/>
          <p:nvPr/>
        </p:nvSpPr>
        <p:spPr>
          <a:xfrm>
            <a:off x="548640" y="731520"/>
            <a:ext cx="11094415" cy="640080"/>
          </a:xfrm>
          <a:prstGeom prst="rect">
            <a:avLst/>
          </a:prstGeom>
          <a:noFill/>
          <a:ln/>
        </p:spPr>
        <p:txBody>
          <a:bodyPr wrap="square" lIns="0" tIns="0" rIns="0" bIns="0" rtlCol="0" anchor="t"/>
          <a:lstStyle/>
          <a:p>
            <a:pPr indent="0" marL="0">
              <a:buNone/>
            </a:pPr>
            <a:r>
              <a:rPr lang="en-US" sz="4000" dirty="0">
                <a:solidFill>
                  <a:srgbClr val="F1E9DD"/>
                </a:solidFill>
                <a:latin typeface="Georgia" pitchFamily="34" charset="0"/>
                <a:ea typeface="Georgia" pitchFamily="34" charset="-122"/>
                <a:cs typeface="Georgia" pitchFamily="34" charset="-120"/>
              </a:rPr>
              <a:t>One diagram.</a:t>
            </a:r>
            <a:endParaRPr lang="en-US" sz="4000" dirty="0"/>
          </a:p>
        </p:txBody>
      </p:sp>
      <p:sp>
        <p:nvSpPr>
          <p:cNvPr id="5" name="Shape 2"/>
          <p:cNvSpPr/>
          <p:nvPr/>
        </p:nvSpPr>
        <p:spPr>
          <a:xfrm>
            <a:off x="548640" y="1783080"/>
            <a:ext cx="2514600" cy="1600200"/>
          </a:xfrm>
          <a:prstGeom prst="roundRect">
            <a:avLst>
              <a:gd name="adj" fmla="val 6857"/>
            </a:avLst>
          </a:prstGeom>
          <a:solidFill>
            <a:srgbClr val="211B16"/>
          </a:solidFill>
          <a:ln w="15875">
            <a:solidFill>
              <a:srgbClr val="3A3029"/>
            </a:solidFill>
            <a:prstDash val="solid"/>
          </a:ln>
        </p:spPr>
      </p:sp>
      <p:sp>
        <p:nvSpPr>
          <p:cNvPr id="6" name="Text 3"/>
          <p:cNvSpPr/>
          <p:nvPr/>
        </p:nvSpPr>
        <p:spPr>
          <a:xfrm>
            <a:off x="749808" y="1965960"/>
            <a:ext cx="2148840" cy="548640"/>
          </a:xfrm>
          <a:prstGeom prst="rect">
            <a:avLst/>
          </a:prstGeom>
          <a:noFill/>
          <a:ln/>
        </p:spPr>
        <p:txBody>
          <a:bodyPr wrap="square" lIns="0" tIns="0" rIns="0" bIns="0" rtlCol="0" anchor="t"/>
          <a:lstStyle/>
          <a:p>
            <a:pPr indent="0" marL="0">
              <a:buNone/>
            </a:pPr>
            <a:r>
              <a:rPr lang="en-US" sz="1900" b="1" dirty="0">
                <a:solidFill>
                  <a:srgbClr val="F1E9DD"/>
                </a:solidFill>
                <a:latin typeface="Arial" pitchFamily="34" charset="0"/>
                <a:ea typeface="Arial" pitchFamily="34" charset="-122"/>
                <a:cs typeface="Arial" pitchFamily="34" charset="-120"/>
              </a:rPr>
              <a:t>Phones on the table</a:t>
            </a:r>
            <a:endParaRPr lang="en-US" sz="1900" dirty="0"/>
          </a:p>
        </p:txBody>
      </p:sp>
      <p:sp>
        <p:nvSpPr>
          <p:cNvPr id="7" name="Text 4"/>
          <p:cNvSpPr/>
          <p:nvPr/>
        </p:nvSpPr>
        <p:spPr>
          <a:xfrm>
            <a:off x="749808" y="2560320"/>
            <a:ext cx="2148840" cy="914400"/>
          </a:xfrm>
          <a:prstGeom prst="rect">
            <a:avLst/>
          </a:prstGeom>
          <a:noFill/>
          <a:ln/>
        </p:spPr>
        <p:txBody>
          <a:bodyPr wrap="square" lIns="0" tIns="0" rIns="0" bIns="0" rtlCol="0" anchor="t"/>
          <a:lstStyle/>
          <a:p>
            <a:pPr indent="0" marL="0">
              <a:buNone/>
            </a:pPr>
            <a:r>
              <a:rPr lang="en-US" sz="1400" dirty="0">
                <a:solidFill>
                  <a:srgbClr val="A89B8A"/>
                </a:solidFill>
                <a:latin typeface="Arial" pitchFamily="34" charset="0"/>
                <a:ea typeface="Arial" pitchFamily="34" charset="-122"/>
                <a:cs typeface="Arial" pitchFamily="34" charset="-120"/>
              </a:rPr>
              <a:t>Each phone is its owner's mic.</a:t>
            </a:r>
            <a:endParaRPr lang="en-US" sz="1400" dirty="0"/>
          </a:p>
        </p:txBody>
      </p:sp>
      <p:sp>
        <p:nvSpPr>
          <p:cNvPr id="8" name="Shape 5"/>
          <p:cNvSpPr/>
          <p:nvPr/>
        </p:nvSpPr>
        <p:spPr>
          <a:xfrm>
            <a:off x="3108960" y="2583180"/>
            <a:ext cx="228600" cy="0"/>
          </a:xfrm>
          <a:prstGeom prst="line">
            <a:avLst/>
          </a:prstGeom>
          <a:noFill/>
          <a:ln w="25400">
            <a:solidFill>
              <a:srgbClr val="7FB4FF"/>
            </a:solidFill>
            <a:prstDash val="solid"/>
            <a:tailEnd type="triangle"/>
          </a:ln>
        </p:spPr>
      </p:sp>
      <p:sp>
        <p:nvSpPr>
          <p:cNvPr id="9" name="Shape 6"/>
          <p:cNvSpPr/>
          <p:nvPr/>
        </p:nvSpPr>
        <p:spPr>
          <a:xfrm>
            <a:off x="3383280" y="1783080"/>
            <a:ext cx="2743200" cy="1600200"/>
          </a:xfrm>
          <a:prstGeom prst="roundRect">
            <a:avLst>
              <a:gd name="adj" fmla="val 6857"/>
            </a:avLst>
          </a:prstGeom>
          <a:solidFill>
            <a:srgbClr val="211B16"/>
          </a:solidFill>
          <a:ln w="15875">
            <a:solidFill>
              <a:srgbClr val="3A3029"/>
            </a:solidFill>
            <a:prstDash val="solid"/>
          </a:ln>
        </p:spPr>
      </p:sp>
      <p:sp>
        <p:nvSpPr>
          <p:cNvPr id="10" name="Text 7"/>
          <p:cNvSpPr/>
          <p:nvPr/>
        </p:nvSpPr>
        <p:spPr>
          <a:xfrm>
            <a:off x="3584448" y="1965960"/>
            <a:ext cx="2377440" cy="548640"/>
          </a:xfrm>
          <a:prstGeom prst="rect">
            <a:avLst/>
          </a:prstGeom>
          <a:noFill/>
          <a:ln/>
        </p:spPr>
        <p:txBody>
          <a:bodyPr wrap="square" lIns="0" tIns="0" rIns="0" bIns="0" rtlCol="0" anchor="t"/>
          <a:lstStyle/>
          <a:p>
            <a:pPr indent="0" marL="0">
              <a:buNone/>
            </a:pPr>
            <a:r>
              <a:rPr lang="en-US" sz="1900" b="1" dirty="0">
                <a:solidFill>
                  <a:srgbClr val="F1E9DD"/>
                </a:solidFill>
                <a:latin typeface="Arial" pitchFamily="34" charset="0"/>
                <a:ea typeface="Arial" pitchFamily="34" charset="-122"/>
                <a:cs typeface="Arial" pitchFamily="34" charset="-120"/>
              </a:rPr>
              <a:t>Deepgram</a:t>
            </a:r>
            <a:endParaRPr lang="en-US" sz="1900" dirty="0"/>
          </a:p>
        </p:txBody>
      </p:sp>
      <p:sp>
        <p:nvSpPr>
          <p:cNvPr id="11" name="Text 8"/>
          <p:cNvSpPr/>
          <p:nvPr/>
        </p:nvSpPr>
        <p:spPr>
          <a:xfrm>
            <a:off x="3584448" y="2560320"/>
            <a:ext cx="2377440" cy="914400"/>
          </a:xfrm>
          <a:prstGeom prst="rect">
            <a:avLst/>
          </a:prstGeom>
          <a:noFill/>
          <a:ln/>
        </p:spPr>
        <p:txBody>
          <a:bodyPr wrap="square" lIns="0" tIns="0" rIns="0" bIns="0" rtlCol="0" anchor="t"/>
          <a:lstStyle/>
          <a:p>
            <a:pPr indent="0" marL="0">
              <a:buNone/>
            </a:pPr>
            <a:r>
              <a:rPr lang="en-US" sz="1400" dirty="0">
                <a:solidFill>
                  <a:srgbClr val="A89B8A"/>
                </a:solidFill>
                <a:latin typeface="Arial" pitchFamily="34" charset="0"/>
                <a:ea typeface="Arial" pitchFamily="34" charset="-122"/>
                <a:cs typeface="Arial" pitchFamily="34" charset="-120"/>
              </a:rPr>
              <a:t>One streaming ASR connection per phone.</a:t>
            </a:r>
            <a:endParaRPr lang="en-US" sz="1400" dirty="0"/>
          </a:p>
        </p:txBody>
      </p:sp>
      <p:sp>
        <p:nvSpPr>
          <p:cNvPr id="12" name="Shape 9"/>
          <p:cNvSpPr/>
          <p:nvPr/>
        </p:nvSpPr>
        <p:spPr>
          <a:xfrm>
            <a:off x="6172200" y="2583180"/>
            <a:ext cx="228600" cy="0"/>
          </a:xfrm>
          <a:prstGeom prst="line">
            <a:avLst/>
          </a:prstGeom>
          <a:noFill/>
          <a:ln w="25400">
            <a:solidFill>
              <a:srgbClr val="7FB4FF"/>
            </a:solidFill>
            <a:prstDash val="solid"/>
            <a:tailEnd type="triangle"/>
          </a:ln>
        </p:spPr>
      </p:sp>
      <p:sp>
        <p:nvSpPr>
          <p:cNvPr id="13" name="Shape 10"/>
          <p:cNvSpPr/>
          <p:nvPr/>
        </p:nvSpPr>
        <p:spPr>
          <a:xfrm>
            <a:off x="6446520" y="1783080"/>
            <a:ext cx="2788920" cy="1600200"/>
          </a:xfrm>
          <a:prstGeom prst="roundRect">
            <a:avLst>
              <a:gd name="adj" fmla="val 6857"/>
            </a:avLst>
          </a:prstGeom>
          <a:solidFill>
            <a:srgbClr val="211B16"/>
          </a:solidFill>
          <a:ln w="15875">
            <a:solidFill>
              <a:srgbClr val="7FB4FF"/>
            </a:solidFill>
            <a:prstDash val="solid"/>
          </a:ln>
        </p:spPr>
      </p:sp>
      <p:sp>
        <p:nvSpPr>
          <p:cNvPr id="14" name="Text 11"/>
          <p:cNvSpPr/>
          <p:nvPr/>
        </p:nvSpPr>
        <p:spPr>
          <a:xfrm>
            <a:off x="6647688" y="1965960"/>
            <a:ext cx="2423160" cy="548640"/>
          </a:xfrm>
          <a:prstGeom prst="rect">
            <a:avLst/>
          </a:prstGeom>
          <a:noFill/>
          <a:ln/>
        </p:spPr>
        <p:txBody>
          <a:bodyPr wrap="square" lIns="0" tIns="0" rIns="0" bIns="0" rtlCol="0" anchor="t"/>
          <a:lstStyle/>
          <a:p>
            <a:pPr indent="0" marL="0">
              <a:buNone/>
            </a:pPr>
            <a:r>
              <a:rPr lang="en-US" sz="1900" b="1" dirty="0">
                <a:solidFill>
                  <a:srgbClr val="7FB4FF"/>
                </a:solidFill>
                <a:latin typeface="Arial" pitchFamily="34" charset="0"/>
                <a:ea typeface="Arial" pitchFamily="34" charset="-122"/>
                <a:cs typeface="Arial" pitchFamily="34" charset="-120"/>
              </a:rPr>
              <a:t>The server</a:t>
            </a:r>
            <a:endParaRPr lang="en-US" sz="1900" dirty="0"/>
          </a:p>
        </p:txBody>
      </p:sp>
      <p:sp>
        <p:nvSpPr>
          <p:cNvPr id="15" name="Text 12"/>
          <p:cNvSpPr/>
          <p:nvPr/>
        </p:nvSpPr>
        <p:spPr>
          <a:xfrm>
            <a:off x="6647688" y="2560320"/>
            <a:ext cx="2423160" cy="914400"/>
          </a:xfrm>
          <a:prstGeom prst="rect">
            <a:avLst/>
          </a:prstGeom>
          <a:noFill/>
          <a:ln/>
        </p:spPr>
        <p:txBody>
          <a:bodyPr wrap="square" lIns="0" tIns="0" rIns="0" bIns="0" rtlCol="0" anchor="t"/>
          <a:lstStyle/>
          <a:p>
            <a:pPr indent="0" marL="0">
              <a:buNone/>
            </a:pPr>
            <a:r>
              <a:rPr lang="en-US" sz="1400" dirty="0">
                <a:solidFill>
                  <a:srgbClr val="A89B8A"/>
                </a:solidFill>
                <a:latin typeface="Arial" pitchFamily="34" charset="0"/>
                <a:ea typeface="Arial" pitchFamily="34" charset="-122"/>
                <a:cs typeface="Arial" pitchFamily="34" charset="-120"/>
              </a:rPr>
              <a:t>Measures pace and overlap, live.</a:t>
            </a:r>
            <a:endParaRPr lang="en-US" sz="1400" dirty="0"/>
          </a:p>
        </p:txBody>
      </p:sp>
      <p:sp>
        <p:nvSpPr>
          <p:cNvPr id="16" name="Shape 13"/>
          <p:cNvSpPr/>
          <p:nvPr/>
        </p:nvSpPr>
        <p:spPr>
          <a:xfrm>
            <a:off x="7840980" y="3429000"/>
            <a:ext cx="-1668780" cy="411480"/>
          </a:xfrm>
          <a:prstGeom prst="line">
            <a:avLst/>
          </a:prstGeom>
          <a:noFill/>
          <a:ln w="19050">
            <a:solidFill>
              <a:srgbClr val="7FB4FF"/>
            </a:solidFill>
            <a:prstDash val="solid"/>
            <a:tailEnd type="triangle"/>
          </a:ln>
        </p:spPr>
      </p:sp>
      <p:sp>
        <p:nvSpPr>
          <p:cNvPr id="17" name="Shape 14"/>
          <p:cNvSpPr/>
          <p:nvPr/>
        </p:nvSpPr>
        <p:spPr>
          <a:xfrm>
            <a:off x="4572000" y="3840480"/>
            <a:ext cx="3200400" cy="1188720"/>
          </a:xfrm>
          <a:prstGeom prst="roundRect">
            <a:avLst>
              <a:gd name="adj" fmla="val 9231"/>
            </a:avLst>
          </a:prstGeom>
          <a:solidFill>
            <a:srgbClr val="211B16"/>
          </a:solidFill>
          <a:ln w="15875">
            <a:solidFill>
              <a:srgbClr val="F1C76A"/>
            </a:solidFill>
            <a:prstDash val="solid"/>
          </a:ln>
        </p:spPr>
      </p:sp>
      <p:sp>
        <p:nvSpPr>
          <p:cNvPr id="18" name="Text 15"/>
          <p:cNvSpPr/>
          <p:nvPr/>
        </p:nvSpPr>
        <p:spPr>
          <a:xfrm>
            <a:off x="4773168" y="3977640"/>
            <a:ext cx="2834640" cy="411480"/>
          </a:xfrm>
          <a:prstGeom prst="rect">
            <a:avLst/>
          </a:prstGeom>
          <a:noFill/>
          <a:ln/>
        </p:spPr>
        <p:txBody>
          <a:bodyPr wrap="square" lIns="0" tIns="0" rIns="0" bIns="0" rtlCol="0" anchor="t"/>
          <a:lstStyle/>
          <a:p>
            <a:pPr indent="0" marL="0">
              <a:buNone/>
            </a:pPr>
            <a:r>
              <a:rPr lang="en-US" sz="1700" b="1" dirty="0">
                <a:solidFill>
                  <a:srgbClr val="F1C76A"/>
                </a:solidFill>
                <a:latin typeface="Arial" pitchFamily="34" charset="0"/>
                <a:ea typeface="Arial" pitchFamily="34" charset="-122"/>
                <a:cs typeface="Arial" pitchFamily="34" charset="-120"/>
              </a:rPr>
              <a:t>Amber</a:t>
            </a:r>
            <a:endParaRPr lang="en-US" sz="1700" dirty="0"/>
          </a:p>
        </p:txBody>
      </p:sp>
      <p:sp>
        <p:nvSpPr>
          <p:cNvPr id="19" name="Text 16"/>
          <p:cNvSpPr/>
          <p:nvPr/>
        </p:nvSpPr>
        <p:spPr>
          <a:xfrm>
            <a:off x="4773168" y="4370832"/>
            <a:ext cx="2834640" cy="594360"/>
          </a:xfrm>
          <a:prstGeom prst="rect">
            <a:avLst/>
          </a:prstGeom>
          <a:noFill/>
          <a:ln/>
        </p:spPr>
        <p:txBody>
          <a:bodyPr wrap="square" lIns="0" tIns="0" rIns="0" bIns="0" rtlCol="0" anchor="t"/>
          <a:lstStyle/>
          <a:p>
            <a:pPr indent="0" marL="0">
              <a:buNone/>
            </a:pPr>
            <a:r>
              <a:rPr lang="en-US" sz="1300" dirty="0">
                <a:solidFill>
                  <a:srgbClr val="A89B8A"/>
                </a:solidFill>
                <a:latin typeface="Arial" pitchFamily="34" charset="0"/>
                <a:ea typeface="Arial" pitchFamily="34" charset="-122"/>
                <a:cs typeface="Arial" pitchFamily="34" charset="-120"/>
              </a:rPr>
              <a:t>On the talkers' own phones, when two overlap.</a:t>
            </a:r>
            <a:endParaRPr lang="en-US" sz="1300" dirty="0"/>
          </a:p>
        </p:txBody>
      </p:sp>
      <p:sp>
        <p:nvSpPr>
          <p:cNvPr id="20" name="Shape 17"/>
          <p:cNvSpPr/>
          <p:nvPr/>
        </p:nvSpPr>
        <p:spPr>
          <a:xfrm>
            <a:off x="7840980" y="3429000"/>
            <a:ext cx="2080260" cy="411480"/>
          </a:xfrm>
          <a:prstGeom prst="line">
            <a:avLst/>
          </a:prstGeom>
          <a:noFill/>
          <a:ln w="19050">
            <a:solidFill>
              <a:srgbClr val="7FB4FF"/>
            </a:solidFill>
            <a:prstDash val="solid"/>
            <a:tailEnd type="triangle"/>
          </a:ln>
        </p:spPr>
      </p:sp>
      <p:sp>
        <p:nvSpPr>
          <p:cNvPr id="21" name="Shape 18"/>
          <p:cNvSpPr/>
          <p:nvPr/>
        </p:nvSpPr>
        <p:spPr>
          <a:xfrm>
            <a:off x="8092440" y="3840480"/>
            <a:ext cx="3657600" cy="1188720"/>
          </a:xfrm>
          <a:prstGeom prst="roundRect">
            <a:avLst>
              <a:gd name="adj" fmla="val 9231"/>
            </a:avLst>
          </a:prstGeom>
          <a:solidFill>
            <a:srgbClr val="211B16"/>
          </a:solidFill>
          <a:ln w="15875">
            <a:solidFill>
              <a:srgbClr val="7FB4FF"/>
            </a:solidFill>
            <a:prstDash val="solid"/>
          </a:ln>
        </p:spPr>
      </p:sp>
      <p:sp>
        <p:nvSpPr>
          <p:cNvPr id="22" name="Text 19"/>
          <p:cNvSpPr/>
          <p:nvPr/>
        </p:nvSpPr>
        <p:spPr>
          <a:xfrm>
            <a:off x="8293608" y="3977640"/>
            <a:ext cx="3291840" cy="411480"/>
          </a:xfrm>
          <a:prstGeom prst="rect">
            <a:avLst/>
          </a:prstGeom>
          <a:noFill/>
          <a:ln/>
        </p:spPr>
        <p:txBody>
          <a:bodyPr wrap="square" lIns="0" tIns="0" rIns="0" bIns="0" rtlCol="0" anchor="t"/>
          <a:lstStyle/>
          <a:p>
            <a:pPr indent="0" marL="0">
              <a:buNone/>
            </a:pPr>
            <a:r>
              <a:rPr lang="en-US" sz="1700" b="1" dirty="0">
                <a:solidFill>
                  <a:srgbClr val="7FB4FF"/>
                </a:solidFill>
                <a:latin typeface="Arial" pitchFamily="34" charset="0"/>
                <a:ea typeface="Arial" pitchFamily="34" charset="-122"/>
                <a:cs typeface="Arial" pitchFamily="34" charset="-120"/>
              </a:rPr>
              <a:t>One sentence, with a name</a:t>
            </a:r>
            <a:endParaRPr lang="en-US" sz="1700" dirty="0"/>
          </a:p>
        </p:txBody>
      </p:sp>
      <p:sp>
        <p:nvSpPr>
          <p:cNvPr id="23" name="Text 20"/>
          <p:cNvSpPr/>
          <p:nvPr/>
        </p:nvSpPr>
        <p:spPr>
          <a:xfrm>
            <a:off x="8293608" y="4370832"/>
            <a:ext cx="3291840" cy="594360"/>
          </a:xfrm>
          <a:prstGeom prst="rect">
            <a:avLst/>
          </a:prstGeom>
          <a:noFill/>
          <a:ln/>
        </p:spPr>
        <p:txBody>
          <a:bodyPr wrap="square" lIns="0" tIns="0" rIns="0" bIns="0" rtlCol="0" anchor="t"/>
          <a:lstStyle/>
          <a:p>
            <a:pPr indent="0" marL="0">
              <a:buNone/>
            </a:pPr>
            <a:r>
              <a:rPr lang="en-US" sz="1300" dirty="0">
                <a:solidFill>
                  <a:srgbClr val="A89B8A"/>
                </a:solidFill>
                <a:latin typeface="Arial" pitchFamily="34" charset="0"/>
                <a:ea typeface="Arial" pitchFamily="34" charset="-122"/>
                <a:cs typeface="Arial" pitchFamily="34" charset="-120"/>
              </a:rPr>
              <a:t>On the listener's phone — nothing else.</a:t>
            </a:r>
            <a:endParaRPr lang="en-US" sz="1300" dirty="0"/>
          </a:p>
        </p:txBody>
      </p:sp>
      <p:sp>
        <p:nvSpPr>
          <p:cNvPr id="24" name="Shape 21"/>
          <p:cNvSpPr/>
          <p:nvPr/>
        </p:nvSpPr>
        <p:spPr>
          <a:xfrm>
            <a:off x="9921240" y="5074920"/>
            <a:ext cx="0" cy="292608"/>
          </a:xfrm>
          <a:prstGeom prst="line">
            <a:avLst/>
          </a:prstGeom>
          <a:noFill/>
          <a:ln w="19050">
            <a:solidFill>
              <a:srgbClr val="7FB4FF"/>
            </a:solidFill>
            <a:prstDash val="solid"/>
            <a:tailEnd type="triangle"/>
          </a:ln>
        </p:spPr>
      </p:sp>
      <p:sp>
        <p:nvSpPr>
          <p:cNvPr id="25" name="Shape 22"/>
          <p:cNvSpPr/>
          <p:nvPr/>
        </p:nvSpPr>
        <p:spPr>
          <a:xfrm>
            <a:off x="548640" y="5394960"/>
            <a:ext cx="11094415" cy="685800"/>
          </a:xfrm>
          <a:prstGeom prst="roundRect">
            <a:avLst>
              <a:gd name="adj" fmla="val 16000"/>
            </a:avLst>
          </a:prstGeom>
          <a:solidFill>
            <a:srgbClr val="1E2530"/>
          </a:solidFill>
          <a:ln w="15875">
            <a:solidFill>
              <a:srgbClr val="7FB4FF"/>
            </a:solidFill>
            <a:prstDash val="solid"/>
          </a:ln>
        </p:spPr>
      </p:sp>
      <p:sp>
        <p:nvSpPr>
          <p:cNvPr id="26" name="Text 23"/>
          <p:cNvSpPr/>
          <p:nvPr/>
        </p:nvSpPr>
        <p:spPr>
          <a:xfrm>
            <a:off x="777240" y="5394960"/>
            <a:ext cx="10637215" cy="685800"/>
          </a:xfrm>
          <a:prstGeom prst="rect">
            <a:avLst/>
          </a:prstGeom>
          <a:noFill/>
          <a:ln/>
        </p:spPr>
        <p:txBody>
          <a:bodyPr wrap="square" lIns="0" tIns="0" rIns="0" bIns="0" rtlCol="0" anchor="ctr"/>
          <a:lstStyle/>
          <a:p>
            <a:pPr indent="0" marL="0">
              <a:buNone/>
            </a:pPr>
            <a:r>
              <a:rPr lang="en-US" sz="1900" b="1" dirty="0">
                <a:solidFill>
                  <a:srgbClr val="7FB4FF"/>
                </a:solidFill>
                <a:latin typeface="Arial" pitchFamily="34" charset="0"/>
                <a:ea typeface="Arial" pitchFamily="34" charset="-122"/>
                <a:cs typeface="Arial" pitchFamily="34" charset="-120"/>
              </a:rPr>
              <a:t>One tap  </a:t>
            </a:r>
            <a:pPr indent="0" marL="0">
              <a:buNone/>
            </a:pPr>
            <a:r>
              <a:rPr lang="en-US" sz="1900" dirty="0">
                <a:solidFill>
                  <a:srgbClr val="F1E9DD"/>
                </a:solidFill>
                <a:latin typeface="Arial" pitchFamily="34" charset="0"/>
                <a:ea typeface="Arial" pitchFamily="34" charset="-122"/>
                <a:cs typeface="Arial" pitchFamily="34" charset="-120"/>
              </a:rPr>
              <a:t>→  text appears on every phone at the table.</a:t>
            </a:r>
            <a:endParaRPr lang="en-US" sz="1900" dirty="0"/>
          </a:p>
        </p:txBody>
      </p:sp>
      <p:sp>
        <p:nvSpPr>
          <p:cNvPr id="27" name="Text 24"/>
          <p:cNvSpPr/>
          <p:nvPr/>
        </p:nvSpPr>
        <p:spPr>
          <a:xfrm>
            <a:off x="548640" y="6217920"/>
            <a:ext cx="11094415" cy="365760"/>
          </a:xfrm>
          <a:prstGeom prst="rect">
            <a:avLst/>
          </a:prstGeom>
          <a:noFill/>
          <a:ln/>
        </p:spPr>
        <p:txBody>
          <a:bodyPr wrap="square" lIns="0" tIns="0" rIns="0" bIns="0" rtlCol="0" anchor="ctr"/>
          <a:lstStyle/>
          <a:p>
            <a:pPr indent="0" marL="0">
              <a:buNone/>
            </a:pPr>
            <a:r>
              <a:rPr lang="en-US" sz="1600" b="1" dirty="0">
                <a:solidFill>
                  <a:srgbClr val="F1E9DD"/>
                </a:solidFill>
                <a:latin typeface="Arial" pitchFamily="34" charset="0"/>
                <a:ea typeface="Arial" pitchFamily="34" charset="-122"/>
                <a:cs typeface="Arial" pitchFamily="34" charset="-120"/>
              </a:rPr>
              <a:t>Sentence under 1 second. Lamp under 2 seconds. </a:t>
            </a:r>
            <a:pPr indent="0" marL="0">
              <a:buNone/>
            </a:pPr>
            <a:r>
              <a:rPr lang="en-US" sz="1600" dirty="0">
                <a:solidFill>
                  <a:srgbClr val="A89B8A"/>
                </a:solidFill>
                <a:latin typeface="Arial" pitchFamily="34" charset="0"/>
                <a:ea typeface="Arial" pitchFamily="34" charset="-122"/>
                <a:cs typeface="Arial" pitchFamily="34" charset="-120"/>
              </a:rPr>
              <a:t>Nothing is stored.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WHAT'S NEW</a:t>
            </a:r>
            <a:endParaRPr lang="en-US" sz="1300" dirty="0"/>
          </a:p>
        </p:txBody>
      </p:sp>
      <p:sp>
        <p:nvSpPr>
          <p:cNvPr id="4" name="Text 1"/>
          <p:cNvSpPr/>
          <p:nvPr/>
        </p:nvSpPr>
        <p:spPr>
          <a:xfrm>
            <a:off x="548640" y="731520"/>
            <a:ext cx="11094415" cy="822960"/>
          </a:xfrm>
          <a:prstGeom prst="rect">
            <a:avLst/>
          </a:prstGeom>
          <a:noFill/>
          <a:ln/>
        </p:spPr>
        <p:txBody>
          <a:bodyPr wrap="square" lIns="0" tIns="0" rIns="0" bIns="0" rtlCol="0" anchor="t"/>
          <a:lstStyle/>
          <a:p>
            <a:pPr indent="0" marL="0">
              <a:buNone/>
            </a:pPr>
            <a:r>
              <a:rPr lang="en-US" sz="3600" dirty="0">
                <a:solidFill>
                  <a:srgbClr val="F1E9DD"/>
                </a:solidFill>
                <a:latin typeface="Georgia" pitchFamily="34" charset="0"/>
                <a:ea typeface="Georgia" pitchFamily="34" charset="-122"/>
                <a:cs typeface="Georgia" pitchFamily="34" charset="-120"/>
              </a:rPr>
              <a:t>Ava does the mics. </a:t>
            </a:r>
            <a:pPr indent="0" marL="0">
              <a:buNone/>
            </a:pPr>
            <a:r>
              <a:rPr lang="en-US" sz="3600" dirty="0">
                <a:solidFill>
                  <a:srgbClr val="7FB4FF"/>
                </a:solidFill>
                <a:latin typeface="Georgia" pitchFamily="34" charset="0"/>
                <a:ea typeface="Georgia" pitchFamily="34" charset="-122"/>
                <a:cs typeface="Georgia" pitchFamily="34" charset="-120"/>
              </a:rPr>
              <a:t>We do the other side of the table.</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377440"/>
                <a:gridCol w="4023360"/>
                <a:gridCol w="4690872"/>
              </a:tblGrid>
              <a:tr h="365760">
                <a:tc>
                  <a:txBody>
                    <a:bodyPr/>
                    <a:lstStyle/>
                    <a:p>
                      <a:pPr indent="0" marL="0">
                        <a:buNone/>
                      </a:pPr>
                      <a:r>
                        <a:rPr lang="en-US" sz="1300" b="1" spc="200" kern="0" dirty="0">
                          <a:solidFill>
                            <a:srgbClr val="A89B8A"/>
                          </a:solidFill>
                          <a:latin typeface="Arial" pitchFamily="34" charset="0"/>
                          <a:ea typeface="Arial" pitchFamily="34" charset="-122"/>
                          <a:cs typeface="Arial" pitchFamily="34" charset="-120"/>
                        </a:rPr>
                        <a:t>TOOL</a:t>
                      </a:r>
                      <a:endParaRPr lang="en-US" sz="13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71310"/>
                    </a:solidFill>
                  </a:tcPr>
                </a:tc>
                <a:tc>
                  <a:txBody>
                    <a:bodyPr/>
                    <a:lstStyle/>
                    <a:p>
                      <a:pPr indent="0" marL="0">
                        <a:buNone/>
                      </a:pPr>
                      <a:r>
                        <a:rPr lang="en-US" sz="1300" b="1" spc="200" kern="0" dirty="0">
                          <a:solidFill>
                            <a:srgbClr val="A89B8A"/>
                          </a:solidFill>
                          <a:latin typeface="Arial" pitchFamily="34" charset="0"/>
                          <a:ea typeface="Arial" pitchFamily="34" charset="-122"/>
                          <a:cs typeface="Arial" pitchFamily="34" charset="-120"/>
                        </a:rPr>
                        <a:t>ALREADY DOES</a:t>
                      </a:r>
                      <a:endParaRPr lang="en-US" sz="13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71310"/>
                    </a:solidFill>
                  </a:tcPr>
                </a:tc>
                <a:tc>
                  <a:txBody>
                    <a:bodyPr/>
                    <a:lstStyle/>
                    <a:p>
                      <a:pPr indent="0" marL="0">
                        <a:buNone/>
                      </a:pPr>
                      <a:r>
                        <a:rPr lang="en-US" sz="1300" b="1" spc="200" kern="0" dirty="0">
                          <a:solidFill>
                            <a:srgbClr val="A89B8A"/>
                          </a:solidFill>
                          <a:latin typeface="Arial" pitchFamily="34" charset="0"/>
                          <a:ea typeface="Arial" pitchFamily="34" charset="-122"/>
                          <a:cs typeface="Arial" pitchFamily="34" charset="-120"/>
                        </a:rPr>
                        <a:t>DOESN'T DO</a:t>
                      </a:r>
                      <a:endParaRPr lang="en-US" sz="13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71310"/>
                    </a:solidFill>
                  </a:tcPr>
                </a:tc>
              </a:tr>
              <a:tr h="960120">
                <a:tc>
                  <a:txBody>
                    <a:bodyPr/>
                    <a:lstStyle/>
                    <a:p>
                      <a:pPr indent="0" marL="0">
                        <a:buNone/>
                      </a:pPr>
                      <a:r>
                        <a:rPr lang="en-US" sz="1700" b="1" dirty="0">
                          <a:solidFill>
                            <a:srgbClr val="F1E9DD"/>
                          </a:solidFill>
                          <a:latin typeface="Arial" pitchFamily="34" charset="0"/>
                          <a:ea typeface="Arial" pitchFamily="34" charset="-122"/>
                          <a:cs typeface="Arial" pitchFamily="34" charset="-120"/>
                        </a:rPr>
                        <a:t>Ava</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Phones join as named mics for captions</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Never sends pace or overlap back to the speakers' own phones.</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r>
              <a:tr h="960120">
                <a:tc>
                  <a:txBody>
                    <a:bodyPr/>
                    <a:lstStyle/>
                    <a:p>
                      <a:pPr indent="0" marL="0">
                        <a:buNone/>
                      </a:pPr>
                      <a:r>
                        <a:rPr lang="en-US" sz="1700" b="1" dirty="0">
                          <a:solidFill>
                            <a:srgbClr val="F1E9DD"/>
                          </a:solidFill>
                          <a:latin typeface="Arial" pitchFamily="34" charset="0"/>
                          <a:ea typeface="Arial" pitchFamily="34" charset="-122"/>
                          <a:cs typeface="Arial" pitchFamily="34" charset="-120"/>
                        </a:rPr>
                        <a:t>Otter / Zoom</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Summarizes the conversation</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Only after it's over — no live signal to anyone at the table.</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r>
              <a:tr h="960120">
                <a:tc>
                  <a:txBody>
                    <a:bodyPr/>
                    <a:lstStyle/>
                    <a:p>
                      <a:pPr indent="0" marL="0">
                        <a:buNone/>
                      </a:pPr>
                      <a:r>
                        <a:rPr lang="en-US" sz="1700" b="1" dirty="0">
                          <a:solidFill>
                            <a:srgbClr val="F1E9DD"/>
                          </a:solidFill>
                          <a:latin typeface="Arial" pitchFamily="34" charset="0"/>
                          <a:ea typeface="Arial" pitchFamily="34" charset="-122"/>
                          <a:cs typeface="Arial" pitchFamily="34" charset="-120"/>
                        </a:rPr>
                        <a:t>Caption glasses</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Captions in the deaf person's line of sight</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Still just words for one person. Nothing the table can act on.</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211B16"/>
                    </a:solidFill>
                  </a:tcPr>
                </a:tc>
              </a:tr>
              <a:tr h="1051560">
                <a:tc>
                  <a:txBody>
                    <a:bodyPr/>
                    <a:lstStyle/>
                    <a:p>
                      <a:pPr indent="0" marL="0">
                        <a:buNone/>
                      </a:pPr>
                      <a:r>
                        <a:rPr lang="en-US" sz="1700" b="1" dirty="0">
                          <a:solidFill>
                            <a:srgbClr val="7FB4FF"/>
                          </a:solidFill>
                          <a:latin typeface="Arial" pitchFamily="34" charset="0"/>
                          <a:ea typeface="Arial" pitchFamily="34" charset="-122"/>
                          <a:cs typeface="Arial" pitchFamily="34" charset="-120"/>
                        </a:rPr>
                        <a:t>One at a time</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E2530"/>
                    </a:solidFill>
                  </a:tcPr>
                </a:tc>
                <a:tc>
                  <a:txBody>
                    <a:bodyPr/>
                    <a:lstStyle/>
                    <a:p>
                      <a:pPr indent="0" marL="0">
                        <a:buNone/>
                      </a:pPr>
                      <a:r>
                        <a:rPr lang="en-US" sz="1700" dirty="0">
                          <a:solidFill>
                            <a:srgbClr val="F1E9DD"/>
                          </a:solidFill>
                          <a:latin typeface="Arial" pitchFamily="34" charset="0"/>
                          <a:ea typeface="Arial" pitchFamily="34" charset="-122"/>
                          <a:cs typeface="Arial" pitchFamily="34" charset="-120"/>
                        </a:rPr>
                        <a:t>Phones as mics, like Ava</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E2530"/>
                    </a:solidFill>
                  </a:tcPr>
                </a:tc>
                <a:tc>
                  <a:txBody>
                    <a:bodyPr/>
                    <a:lstStyle/>
                    <a:p>
                      <a:pPr indent="0" marL="0">
                        <a:buNone/>
                      </a:pPr>
                      <a:r>
                        <a:rPr lang="en-US" sz="1700" dirty="0">
                          <a:solidFill>
                            <a:srgbClr val="7FB4FF"/>
                          </a:solidFill>
                          <a:latin typeface="Arial" pitchFamily="34" charset="0"/>
                          <a:ea typeface="Arial" pitchFamily="34" charset="-122"/>
                          <a:cs typeface="Arial" pitchFamily="34" charset="-120"/>
                        </a:rPr>
                        <a:t>Amber on the talkers' phones. One sentence, one tap, on every phone.</a:t>
                      </a:r>
                      <a:endParaRPr lang="en-US" sz="1700" dirty="0">
                        <a:latin typeface="Arial" charset="0"/>
                        <a:ea typeface="Arial" charset="0"/>
                        <a:cs typeface="Arial" charset="0"/>
                      </a:endParaRPr>
                    </a:p>
                  </a:txBody>
                  <a:tcPr marL="164592" marR="164592" marT="137160" marB="137160" anchor="ctr">
                    <a:lnL w="12700" cap="flat" cmpd="sng" algn="ctr">
                      <a:solidFill>
                        <a:srgbClr val="171310"/>
                      </a:solidFill>
                      <a:prstDash val="solid"/>
                      <a:round/>
                      <a:headEnd type="none" w="med" len="med"/>
                      <a:tailEnd type="none" w="med" len="med"/>
                    </a:lnL>
                    <a:lnR w="12700" cap="flat" cmpd="sng" algn="ctr">
                      <a:solidFill>
                        <a:srgbClr val="171310"/>
                      </a:solidFill>
                      <a:prstDash val="solid"/>
                      <a:round/>
                      <a:headEnd type="none" w="med" len="med"/>
                      <a:tailEnd type="none" w="med" len="med"/>
                    </a:lnR>
                    <a:lnT w="12700" cap="flat" cmpd="sng" algn="ctr">
                      <a:solidFill>
                        <a:srgbClr val="171310"/>
                      </a:solidFill>
                      <a:prstDash val="solid"/>
                      <a:round/>
                      <a:headEnd type="none" w="med" len="med"/>
                      <a:tailEnd type="none" w="med" len="med"/>
                    </a:lnT>
                    <a:lnB w="12700" cap="flat" cmpd="sng" algn="ctr">
                      <a:solidFill>
                        <a:srgbClr val="171310"/>
                      </a:solidFill>
                      <a:prstDash val="solid"/>
                      <a:round/>
                      <a:headEnd type="none" w="med" len="med"/>
                      <a:tailEnd type="none" w="med" len="med"/>
                    </a:lnB>
                    <a:solidFill>
                      <a:srgbClr val="1E2530"/>
                    </a:solidFill>
                  </a:tcPr>
                </a:tc>
              </a:tr>
            </a:tbl>
          </a:graphicData>
        </a:graphic>
      </p:graphicFrame>
      <p:sp>
        <p:nvSpPr>
          <p:cNvPr id="6" name="Text 2"/>
          <p:cNvSpPr/>
          <p:nvPr/>
        </p:nvSpPr>
        <p:spPr>
          <a:xfrm>
            <a:off x="548640" y="6400800"/>
            <a:ext cx="8229600" cy="274320"/>
          </a:xfrm>
          <a:prstGeom prst="rect">
            <a:avLst/>
          </a:prstGeom>
          <a:noFill/>
          <a:ln/>
        </p:spPr>
        <p:txBody>
          <a:bodyPr wrap="square" lIns="0" tIns="0" rIns="0" bIns="0" rtlCol="0" anchor="ctr"/>
          <a:lstStyle/>
          <a:p>
            <a:pPr indent="0" marL="0">
              <a:buNone/>
            </a:pPr>
            <a:r>
              <a:rPr lang="en-US" sz="1100" dirty="0">
                <a:solidFill>
                  <a:srgbClr val="6F6457"/>
                </a:solidFill>
                <a:latin typeface="Arial" pitchFamily="34" charset="0"/>
                <a:ea typeface="Arial" pitchFamily="34" charset="-122"/>
                <a:cs typeface="Arial" pitchFamily="34" charset="-120"/>
              </a:rPr>
              <a:t>Sources: research/06-github-landscape.md, research/07-reddit-wishlist-analysis.md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310"/>
        </a:solidFill>
      </p:bgPr>
    </p:bg>
    <p:spTree>
      <p:nvGrpSpPr>
        <p:cNvPr id="1" name=""/>
        <p:cNvGrpSpPr/>
        <p:nvPr/>
      </p:nvGrpSpPr>
      <p:grpSpPr>
        <a:xfrm>
          <a:off x="0" y="0"/>
          <a:ext cx="0" cy="0"/>
          <a:chOff x="0" y="0"/>
          <a:chExt cx="0" cy="0"/>
        </a:xfrm>
      </p:grpSpPr>
      <p:sp>
        <p:nvSpPr>
          <p:cNvPr id="3" name="Text 0"/>
          <p:cNvSpPr/>
          <p:nvPr/>
        </p:nvSpPr>
        <p:spPr>
          <a:xfrm>
            <a:off x="548640" y="411480"/>
            <a:ext cx="9144000" cy="320040"/>
          </a:xfrm>
          <a:prstGeom prst="rect">
            <a:avLst/>
          </a:prstGeom>
          <a:noFill/>
          <a:ln/>
        </p:spPr>
        <p:txBody>
          <a:bodyPr wrap="square" lIns="0" tIns="0" rIns="0" bIns="0" rtlCol="0" anchor="ctr"/>
          <a:lstStyle/>
          <a:p>
            <a:pPr indent="0" marL="0">
              <a:buNone/>
            </a:pPr>
            <a:r>
              <a:rPr lang="en-US" sz="1300" b="1" spc="400" kern="0" dirty="0">
                <a:solidFill>
                  <a:srgbClr val="A89B8A"/>
                </a:solidFill>
                <a:latin typeface="Arial" pitchFamily="34" charset="0"/>
                <a:ea typeface="Arial" pitchFamily="34" charset="-122"/>
                <a:cs typeface="Arial" pitchFamily="34" charset="-120"/>
              </a:rPr>
              <a:t>SCOPE, LIMITS, NEXT</a:t>
            </a:r>
            <a:endParaRPr lang="en-US" sz="1300" dirty="0"/>
          </a:p>
        </p:txBody>
      </p:sp>
      <p:sp>
        <p:nvSpPr>
          <p:cNvPr id="4" name="Text 1"/>
          <p:cNvSpPr/>
          <p:nvPr/>
        </p:nvSpPr>
        <p:spPr>
          <a:xfrm>
            <a:off x="548640" y="731520"/>
            <a:ext cx="6035040" cy="731520"/>
          </a:xfrm>
          <a:prstGeom prst="rect">
            <a:avLst/>
          </a:prstGeom>
          <a:noFill/>
          <a:ln/>
        </p:spPr>
        <p:txBody>
          <a:bodyPr wrap="square" lIns="0" tIns="0" rIns="0" bIns="0" rtlCol="0" anchor="t"/>
          <a:lstStyle/>
          <a:p>
            <a:pPr indent="0" marL="0">
              <a:buNone/>
            </a:pPr>
            <a:r>
              <a:rPr lang="en-US" sz="4000" dirty="0">
                <a:solidFill>
                  <a:srgbClr val="F1E9DD"/>
                </a:solidFill>
                <a:latin typeface="Georgia" pitchFamily="34" charset="0"/>
                <a:ea typeface="Georgia" pitchFamily="34" charset="-122"/>
                <a:cs typeface="Georgia" pitchFamily="34" charset="-120"/>
              </a:rPr>
              <a:t>What this is, and isn't.</a:t>
            </a:r>
            <a:endParaRPr lang="en-US" sz="4000" dirty="0"/>
          </a:p>
        </p:txBody>
      </p:sp>
      <p:sp>
        <p:nvSpPr>
          <p:cNvPr id="5" name="Text 2"/>
          <p:cNvSpPr/>
          <p:nvPr/>
        </p:nvSpPr>
        <p:spPr>
          <a:xfrm>
            <a:off x="548640" y="172821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BUILT FOR</a:t>
            </a:r>
            <a:endParaRPr lang="en-US" sz="1300" dirty="0"/>
          </a:p>
        </p:txBody>
      </p:sp>
      <p:sp>
        <p:nvSpPr>
          <p:cNvPr id="6" name="Text 3"/>
          <p:cNvSpPr/>
          <p:nvPr/>
        </p:nvSpPr>
        <p:spPr>
          <a:xfrm>
            <a:off x="2011680" y="169164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hard-of-hearing and late-deafened adults, in hearing rooms.</a:t>
            </a:r>
            <a:endParaRPr lang="en-US" sz="1800" dirty="0"/>
          </a:p>
        </p:txBody>
      </p:sp>
      <p:sp>
        <p:nvSpPr>
          <p:cNvPr id="7" name="Text 4"/>
          <p:cNvSpPr/>
          <p:nvPr/>
        </p:nvSpPr>
        <p:spPr>
          <a:xfrm>
            <a:off x="548640" y="259689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NOT FOR</a:t>
            </a:r>
            <a:endParaRPr lang="en-US" sz="1300" dirty="0"/>
          </a:p>
        </p:txBody>
      </p:sp>
      <p:sp>
        <p:nvSpPr>
          <p:cNvPr id="8" name="Text 5"/>
          <p:cNvSpPr/>
          <p:nvPr/>
        </p:nvSpPr>
        <p:spPr>
          <a:xfrm>
            <a:off x="2011680" y="256032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sign-first Deaf users.</a:t>
            </a:r>
            <a:endParaRPr lang="en-US" sz="1800" dirty="0"/>
          </a:p>
        </p:txBody>
      </p:sp>
      <p:sp>
        <p:nvSpPr>
          <p:cNvPr id="9" name="Text 6"/>
          <p:cNvSpPr/>
          <p:nvPr/>
        </p:nvSpPr>
        <p:spPr>
          <a:xfrm>
            <a:off x="548640" y="346557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TESTED</a:t>
            </a:r>
            <a:endParaRPr lang="en-US" sz="1300" dirty="0"/>
          </a:p>
        </p:txBody>
      </p:sp>
      <p:sp>
        <p:nvSpPr>
          <p:cNvPr id="10" name="Text 7"/>
          <p:cNvSpPr/>
          <p:nvPr/>
        </p:nvSpPr>
        <p:spPr>
          <a:xfrm>
            <a:off x="2011680" y="342900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not yet with a hard-of-hearing user.</a:t>
            </a:r>
            <a:endParaRPr lang="en-US" sz="1800" dirty="0"/>
          </a:p>
        </p:txBody>
      </p:sp>
      <p:sp>
        <p:nvSpPr>
          <p:cNvPr id="11" name="Text 8"/>
          <p:cNvSpPr/>
          <p:nvPr/>
        </p:nvSpPr>
        <p:spPr>
          <a:xfrm>
            <a:off x="548640" y="4334256"/>
            <a:ext cx="1417320" cy="320040"/>
          </a:xfrm>
          <a:prstGeom prst="rect">
            <a:avLst/>
          </a:prstGeom>
          <a:noFill/>
          <a:ln/>
        </p:spPr>
        <p:txBody>
          <a:bodyPr wrap="square" lIns="0" tIns="0" rIns="0" bIns="0" rtlCol="0" anchor="t"/>
          <a:lstStyle/>
          <a:p>
            <a:pPr indent="0" marL="0">
              <a:buNone/>
            </a:pPr>
            <a:r>
              <a:rPr lang="en-US" sz="1300" b="1" spc="200" kern="0" dirty="0">
                <a:solidFill>
                  <a:srgbClr val="A89B8A"/>
                </a:solidFill>
                <a:latin typeface="Arial" pitchFamily="34" charset="0"/>
                <a:ea typeface="Arial" pitchFamily="34" charset="-122"/>
                <a:cs typeface="Arial" pitchFamily="34" charset="-120"/>
              </a:rPr>
              <a:t>REACH</a:t>
            </a:r>
            <a:endParaRPr lang="en-US" sz="1300" dirty="0"/>
          </a:p>
        </p:txBody>
      </p:sp>
      <p:sp>
        <p:nvSpPr>
          <p:cNvPr id="12" name="Text 9"/>
          <p:cNvSpPr/>
          <p:nvPr/>
        </p:nvSpPr>
        <p:spPr>
          <a:xfrm>
            <a:off x="2011680" y="429768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~10M in the EU could use it. Tonight it reaches a table.</a:t>
            </a:r>
            <a:endParaRPr lang="en-US" sz="1800" dirty="0"/>
          </a:p>
        </p:txBody>
      </p:sp>
      <p:sp>
        <p:nvSpPr>
          <p:cNvPr id="13" name="Text 10"/>
          <p:cNvSpPr/>
          <p:nvPr/>
        </p:nvSpPr>
        <p:spPr>
          <a:xfrm>
            <a:off x="548640" y="5202936"/>
            <a:ext cx="1417320" cy="320040"/>
          </a:xfrm>
          <a:prstGeom prst="rect">
            <a:avLst/>
          </a:prstGeom>
          <a:noFill/>
          <a:ln/>
        </p:spPr>
        <p:txBody>
          <a:bodyPr wrap="square" lIns="0" tIns="0" rIns="0" bIns="0" rtlCol="0" anchor="t"/>
          <a:lstStyle/>
          <a:p>
            <a:pPr indent="0" marL="0">
              <a:buNone/>
            </a:pPr>
            <a:r>
              <a:rPr lang="en-US" sz="1300" b="1" spc="200" kern="0" dirty="0">
                <a:solidFill>
                  <a:srgbClr val="7FB4FF"/>
                </a:solidFill>
                <a:latin typeface="Arial" pitchFamily="34" charset="0"/>
                <a:ea typeface="Arial" pitchFamily="34" charset="-122"/>
                <a:cs typeface="Arial" pitchFamily="34" charset="-120"/>
              </a:rPr>
              <a:t>NEXT</a:t>
            </a:r>
            <a:endParaRPr lang="en-US" sz="1300" dirty="0"/>
          </a:p>
        </p:txBody>
      </p:sp>
      <p:sp>
        <p:nvSpPr>
          <p:cNvPr id="14" name="Text 11"/>
          <p:cNvSpPr/>
          <p:nvPr/>
        </p:nvSpPr>
        <p:spPr>
          <a:xfrm>
            <a:off x="2011680" y="5166360"/>
            <a:ext cx="4572000" cy="1188720"/>
          </a:xfrm>
          <a:prstGeom prst="rect">
            <a:avLst/>
          </a:prstGeom>
          <a:noFill/>
          <a:ln/>
        </p:spPr>
        <p:txBody>
          <a:bodyPr wrap="square" lIns="0" tIns="0" rIns="0" bIns="0" rtlCol="0" anchor="t"/>
          <a:lstStyle/>
          <a:p>
            <a:pPr indent="0" marL="0">
              <a:buNone/>
            </a:pPr>
            <a:r>
              <a:rPr lang="en-US" sz="1800" dirty="0">
                <a:solidFill>
                  <a:srgbClr val="F1E9DD"/>
                </a:solidFill>
                <a:latin typeface="Arial" pitchFamily="34" charset="0"/>
                <a:ea typeface="Arial" pitchFamily="34" charset="-122"/>
                <a:cs typeface="Arial" pitchFamily="34" charset="-120"/>
              </a:rPr>
              <a:t>HoH user tests. The plans ledger and look-away catch-up are already built as the second layer — ask to see them. Italian and Turkish verified.</a:t>
            </a:r>
            <a:endParaRPr lang="en-US" sz="1800" dirty="0"/>
          </a:p>
        </p:txBody>
      </p:sp>
      <p:sp>
        <p:nvSpPr>
          <p:cNvPr id="15" name="Shape 12"/>
          <p:cNvSpPr/>
          <p:nvPr/>
        </p:nvSpPr>
        <p:spPr>
          <a:xfrm>
            <a:off x="6675120" y="411480"/>
            <a:ext cx="5150815" cy="6080760"/>
          </a:xfrm>
          <a:prstGeom prst="rect">
            <a:avLst/>
          </a:prstGeom>
          <a:solidFill>
            <a:srgbClr val="211B16"/>
          </a:solidFill>
          <a:ln w="9525">
            <a:solidFill>
              <a:srgbClr val="3A3029"/>
            </a:solidFill>
            <a:prstDash val="solid"/>
          </a:ln>
        </p:spPr>
      </p:sp>
      <p:sp>
        <p:nvSpPr>
          <p:cNvPr id="16" name="Text 13"/>
          <p:cNvSpPr/>
          <p:nvPr/>
        </p:nvSpPr>
        <p:spPr>
          <a:xfrm>
            <a:off x="6903720" y="594360"/>
            <a:ext cx="4739335" cy="274320"/>
          </a:xfrm>
          <a:prstGeom prst="rect">
            <a:avLst/>
          </a:prstGeom>
          <a:noFill/>
          <a:ln/>
        </p:spPr>
        <p:txBody>
          <a:bodyPr wrap="square" lIns="0" tIns="0" rIns="0" bIns="0" rtlCol="0" anchor="ctr"/>
          <a:lstStyle/>
          <a:p>
            <a:pPr indent="0" marL="0">
              <a:buNone/>
            </a:pPr>
            <a:r>
              <a:rPr lang="en-US" sz="1300" b="1" spc="300" kern="0" dirty="0">
                <a:solidFill>
                  <a:srgbClr val="A89B8A"/>
                </a:solidFill>
                <a:latin typeface="Arial" pitchFamily="34" charset="0"/>
                <a:ea typeface="Arial" pitchFamily="34" charset="-122"/>
                <a:cs typeface="Arial" pitchFamily="34" charset="-120"/>
              </a:rPr>
              <a:t>SOURCES</a:t>
            </a:r>
            <a:endParaRPr lang="en-US" sz="1300" dirty="0"/>
          </a:p>
        </p:txBody>
      </p:sp>
      <p:sp>
        <p:nvSpPr>
          <p:cNvPr id="17" name="Text 14"/>
          <p:cNvSpPr/>
          <p:nvPr/>
        </p:nvSpPr>
        <p:spPr>
          <a:xfrm>
            <a:off x="6903720" y="960120"/>
            <a:ext cx="4739335" cy="5394960"/>
          </a:xfrm>
          <a:prstGeom prst="rect">
            <a:avLst/>
          </a:prstGeom>
          <a:noFill/>
          <a:ln/>
        </p:spPr>
        <p:txBody>
          <a:bodyPr wrap="square" lIns="0" tIns="0" rIns="0" bIns="0" rtlCol="0" anchor="t"/>
          <a:lstStyle/>
          <a:p>
            <a:pPr indent="0" marL="0">
              <a:buNone/>
            </a:pPr>
            <a:r>
              <a:rPr lang="en-US" sz="1300" dirty="0">
                <a:solidFill>
                  <a:srgbClr val="F1E9DD"/>
                </a:solidFill>
                <a:latin typeface="Arial" pitchFamily="34" charset="0"/>
                <a:ea typeface="Arial" pitchFamily="34" charset="-122"/>
                <a:cs typeface="Arial" pitchFamily="34" charset="-120"/>
              </a:rPr>
              <a:t>1  AEA / EFHOH / EHIMA (EuroTrak), Getting the numbers right on hearing loss in Europe, 2024</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https://www.ehima.com/wp-content/uploads/2024/03/Getting-the-numbers-right-on-Hearing-Loss-Hearing-Care-and-Hearing-Aid-Use-in-Europe-2024.pdf</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2  EHIMA / Anovum, EuroTrak Italy 2022</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https://www.ehima.com/wp-content/uploads/2022/11/EuroTrak_Italy_2022.pdf</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3  Non-speech information in captions, EEG study, PMC7040021; May et al. 2025</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https://pmc.ncbi.nlm.nih.gov/articles/PMC7040021/</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4  r/deaf, "Anyone else struggling with group conversations at work…" (35↑)</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https://www.reddit.com/r/deaf/comments/1r2797f/</a:t>
            </a:r>
            <a:endParaRPr lang="en-US" sz="1300" dirty="0"/>
          </a:p>
          <a:p>
            <a:pPr indent="0" marL="0">
              <a:buNone/>
            </a:pPr>
            <a:r>
              <a:rPr lang="en-US" sz="1300" dirty="0">
                <a:solidFill>
                  <a:srgbClr val="F1E9DD"/>
                </a:solidFill>
                <a:latin typeface="Arial" pitchFamily="34" charset="0"/>
                <a:ea typeface="Arial" pitchFamily="34" charset="-122"/>
                <a:cs typeface="Arial" pitchFamily="34" charset="-120"/>
              </a:rPr>
              <a:t>5  r/deaf, "Exhausted and sad after family Sunday lunch" (36↑)</a:t>
            </a:r>
            <a:endParaRPr lang="en-US" sz="1300" dirty="0"/>
          </a:p>
          <a:p>
            <a:pPr indent="0" marL="0">
              <a:spcAft>
                <a:spcPts val="800"/>
              </a:spcAft>
              <a:buNone/>
            </a:pPr>
            <a:r>
              <a:rPr lang="en-US" sz="1050" u="sng" dirty="0">
                <a:solidFill>
                  <a:srgbClr val="7FB4FF"/>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https://www.reddit.com/r/deaf/comments/1fh8h7h/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at a time — BAINSA Hackathon 2026</dc:title>
  <dc:subject>PptxGenJS Presentation</dc:subject>
  <dc:creator>PptxGenJS</dc:creator>
  <cp:lastModifiedBy>PptxGenJS</cp:lastModifiedBy>
  <cp:revision>1</cp:revision>
  <dcterms:created xsi:type="dcterms:W3CDTF">2026-09-26T11:23:35Z</dcterms:created>
  <dcterms:modified xsi:type="dcterms:W3CDTF">2026-09-26T11:23:35Z</dcterms:modified>
</cp:coreProperties>
</file>