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Roles: Presenter narrates and holds the phone/laptop. Alex, Sam, Priya play a family Sunday lunch — three teammates as relatives (each phone is its owner's mic).
"Transcription tells you what was said. We tell you what you missed."
If Deepgram or the camera acts up, say so and press A to switch to ?replay=demo2 — it reproduces the exact same cards deterministically.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0:00–0:15 — the flip (before any card is on screen)
"Every accessibility tool puts the whole burden on the deaf person. Read faster. Ask again. Get told never mind. We built the other side."
(A relative's phone is already visible on screen, lying on the table like a placemat. As the presenter says this line, two relatives start talking over each other — that phone goes amber. This happens before a single card appears. The burden flips first; the product shows up second.)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Q10: Why family, and not work?
The numbers said so before we did: in the EuroTrak Italy survey, 56% of people with hearing loss say home with family is where hearing well matters most, against 21% for the workplace. And practically, a family will put their phones down for you in a way a client on a Zoom call never will. Work is the second scenario, not the first.
(Deck line: In the EU, about 50 million people say they have trouble hearing. Only about a third use hearing aids. And the place they most want to hear isn't the office — it's the family table. &gt;90% of deaf children have hearing parents is US-sourced child data, say "&gt;90%" and nothing stronger.)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Accessibility at a table is a contract between everyone present. We're the clerk that holds both sides to it — Claude is the clerk any family or team can hire; the contract and the evidence are ours.
Q2: Doesn't the crosstalk lamp shame the fast talker, or the loud aunt?
It goes amber, never red, and it's ambient light on the table's own phones — a mirror, not a scolding. Nobody has to be the one saying "one at a time" for the hundredth time; the lamp says it instead.
Q1: What if the AI says something I didn't mean?
It never speaks anything you haven't picked and can edit first. Say-it-as-text queues candidate lines from what's actually being said; you tap the one you want, you can edit it, and only then does it appear on the table's phones. It's autocomplete for the moment you're locked out of, not autopilot.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0:15–0:35 — phones on the table, plans form
Alex: "So are we doing Sunday at nonna's again?"  Sam: "I can bring the dessert if someone else does the pasta."  Priya: "I'll do the pasta, but not before 2."
(A Plans card fills live: "Sunday at nonna's — Sam: dessert, Priya: pasta (after 2)," each with the reason attached.)
0:35 — the joke. Someone tells a joke; the table laughs. A "Why they laughed" card appears: the last ~12 seconds, so the presenter gets the joke, not just the laughter.
0:45 — looking away. Presenter looks down at their phone; a pill reads "Away." Presenter looks up; a card opens by itself: "While you looked away: Sam changed dessert to tiramisu."
0:55 — asked you. Alex: "Bera, are you coming Sunday?" Phone buzzes. An "Asked you" card pulses.
1:05 — speak for me. Presenter taps a queued line — "yes, I'll bring wine" — and it appears as text on everyone's phone at the table. "I didn't have to shout over the table. It just showed up where everyone was already looking."
Close: "Not a transcript. The plan, the joke, the question aimed at you, and a way back in. Ava does the mics. We do what the mics are for."
Fallback: press A for ?replay=demo2.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Q8: Why not just use Ava or Otter?
Ava gets you named, colored mics from every phone — genuinely good infrastructure, and we don't pretend to compete on it. Otter and Teams' "catch me up" give you a transcript or a summary after the fact, built for a meeting room. Neither one has ever heard of a plan forming, a joke landing, or a question aimed at you by name. Ava does the mics. We do what the mics are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Q7: Other languages? It works in English, Italian and Turkish end to end, verified on Deepgram's nova-3 streaming model. Family tables code-switch — nonna in dialect, kids in English — so lines are labeled per language, not forced into one.
Q5: Bystander privacy? Nothing is stored after the session — in-memory ring buffer only, gone on refresh or close. There's an always-visible listening indicator and a pause button.
Q9: If Deepgram or Claude is down mid-demo? ?replay= needs neither key nor a mic and reproduces the exact same cards deterministically. Short of that, it degrades to the browser's Web Speech API: you keep live captions, you lose the plans/asked-you/why-they-laughed extraction until the connection's back. Neither is a crash.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Q3: Why not build for sign-first Deaf users?
Scoped out on purpose. Sign-first Deaf users are often better served by an interpreter or a full visual language — that's a different, well-served problem. We target the group in between: hard-of-hearing and late-deafened adults who rely on spoken language in rooms full of hearing people, where nobody brings an interpreter to Sunday lunch.
Q6: Cards on a phone at dinner — isn't that just more screens? One card at a time, no scrolling wall; they let you look up sooner, not later. A shared screen in the middle of the table (table mode) is on the roadmap for relatives who won't read a phone.
Close: "Not a transcript. The plan, the joke, the question aimed at you, and a way back in. Ava does the mics. We do what the mics are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slideLayout" Target="../slideLayouts/slideLayout1.xml"/><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1.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hyperlink" Target="https://www.ehima.com/wp-content/uploads/2024/03/Getting-the-numbers-right-on-Hearing-Loss-Hearing-Care-and-Hearing-Aid-Use-in-Europe-2024.pdf" TargetMode="External"/><Relationship Id="rId3" Type="http://schemas.openxmlformats.org/officeDocument/2006/relationships/hyperlink" Target="https://www.ehima.com/wp-content/uploads/2022/11/EuroTrak_Italy_2022.pdf" TargetMode="External"/><Relationship Id="rId4" Type="http://schemas.openxmlformats.org/officeDocument/2006/relationships/hyperlink" Target="https://pmc.ncbi.nlm.nih.gov/articles/PMC7040021/" TargetMode="External"/><Relationship Id="rId5" Type="http://schemas.openxmlformats.org/officeDocument/2006/relationships/hyperlink" Target="https://eric.ed.gov/?id=EJ747626" TargetMode="External"/><Relationship Id="rId6" Type="http://schemas.openxmlformats.org/officeDocument/2006/relationships/hyperlink" Target="https://nsuworks.nova.edu/tqr/vol25/iss6/16/" TargetMode="External"/><Relationship Id="rId7" Type="http://schemas.openxmlformats.org/officeDocument/2006/relationships/hyperlink" Target="https://www.reddit.com/r/deaf/comments/n8msyg/" TargetMode="External"/><Relationship Id="rId8" Type="http://schemas.openxmlformats.org/officeDocument/2006/relationships/hyperlink" Target="https://www.reddit.com/r/deaf/comments/1fh8h7h/" TargetMode="External"/><Relationship Id="rId9" Type="http://schemas.openxmlformats.org/officeDocument/2006/relationships/hyperlink" Target="https://www.reddit.com/r/deaf/comments/1pqqqbs/" TargetMode="External"/><Relationship Id="rId10" Type="http://schemas.openxmlformats.org/officeDocument/2006/relationships/hyperlink" Target="https://www.reddit.com/r/hardofhearing/comments/1tmpx4t/" TargetMode="External"/><Relationship Id="rId1" Type="http://schemas.openxmlformats.org/officeDocument/2006/relationships/image" Target="../media/image-8-1.png"/><Relationship Id="rId11" Type="http://schemas.openxmlformats.org/officeDocument/2006/relationships/slideLayout" Target="../slideLayouts/slideLayout1.xml"/><Relationship Id="rId1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1310"/>
        </a:solidFill>
      </p:bgPr>
    </p:bg>
    <p:spTree>
      <p:nvGrpSpPr>
        <p:cNvPr id="1" name=""/>
        <p:cNvGrpSpPr/>
        <p:nvPr/>
      </p:nvGrpSpPr>
      <p:grpSpPr>
        <a:xfrm>
          <a:off x="0" y="0"/>
          <a:ext cx="0" cy="0"/>
          <a:chOff x="0" y="0"/>
          <a:chExt cx="0" cy="0"/>
        </a:xfrm>
      </p:grpSpPr>
      <p:pic>
        <p:nvPicPr>
          <p:cNvPr id="3" name="Image 0" descr="/Users/bera/Documents/GitHub/bainsahack/pitch/build/assets/table.png">    </p:cNvPr>
          <p:cNvPicPr>
            <a:picLocks noChangeAspect="1"/>
          </p:cNvPicPr>
          <p:nvPr/>
        </p:nvPicPr>
        <p:blipFill>
          <a:blip r:embed="rId1"/>
          <a:stretch>
            <a:fillRect/>
          </a:stretch>
        </p:blipFill>
        <p:spPr>
          <a:xfrm>
            <a:off x="6903720" y="868680"/>
            <a:ext cx="4846320" cy="4846320"/>
          </a:xfrm>
          <a:prstGeom prst="rect">
            <a:avLst/>
          </a:prstGeom>
        </p:spPr>
      </p:pic>
      <p:pic>
        <p:nvPicPr>
          <p:cNvPr id="4" name="Image 1" descr="/Users/bera/Documents/GitHub/bainsahack/pitch/build/assets/lamp.png">    </p:cNvPr>
          <p:cNvPicPr>
            <a:picLocks noChangeAspect="1"/>
          </p:cNvPicPr>
          <p:nvPr/>
        </p:nvPicPr>
        <p:blipFill>
          <a:blip r:embed="rId2"/>
          <a:stretch>
            <a:fillRect/>
          </a:stretch>
        </p:blipFill>
        <p:spPr>
          <a:xfrm>
            <a:off x="9966960" y="502920"/>
            <a:ext cx="1371600" cy="1371600"/>
          </a:xfrm>
          <a:prstGeom prst="rect">
            <a:avLst/>
          </a:prstGeom>
        </p:spPr>
      </p:pic>
      <p:sp>
        <p:nvSpPr>
          <p:cNvPr id="5" name="Text 0"/>
          <p:cNvSpPr/>
          <p:nvPr/>
        </p:nvSpPr>
        <p:spPr>
          <a:xfrm>
            <a:off x="548640" y="548640"/>
            <a:ext cx="8686800" cy="320040"/>
          </a:xfrm>
          <a:prstGeom prst="rect">
            <a:avLst/>
          </a:prstGeom>
          <a:noFill/>
          <a:ln/>
        </p:spPr>
        <p:txBody>
          <a:bodyPr wrap="square" lIns="0" tIns="0" rIns="0" bIns="0" rtlCol="0" anchor="ctr"/>
          <a:lstStyle/>
          <a:p>
            <a:pPr indent="0" marL="0">
              <a:buNone/>
            </a:pPr>
            <a:r>
              <a:rPr lang="en-US" sz="1300" b="1" spc="300" kern="0" dirty="0">
                <a:solidFill>
                  <a:srgbClr val="A89B8A"/>
                </a:solidFill>
                <a:latin typeface="Arial" pitchFamily="34" charset="0"/>
                <a:ea typeface="Arial" pitchFamily="34" charset="-122"/>
                <a:cs typeface="Arial" pitchFamily="34" charset="-120"/>
              </a:rPr>
              <a:t>BAINSA HACKATHON 2026  ·  I MISSED THAT / SILENT SPECS</a:t>
            </a:r>
            <a:endParaRPr lang="en-US" sz="1300" dirty="0"/>
          </a:p>
        </p:txBody>
      </p:sp>
      <p:sp>
        <p:nvSpPr>
          <p:cNvPr id="6" name="Text 1"/>
          <p:cNvSpPr/>
          <p:nvPr/>
        </p:nvSpPr>
        <p:spPr>
          <a:xfrm>
            <a:off x="548640" y="1554480"/>
            <a:ext cx="6766560" cy="1371600"/>
          </a:xfrm>
          <a:prstGeom prst="rect">
            <a:avLst/>
          </a:prstGeom>
          <a:noFill/>
          <a:ln/>
        </p:spPr>
        <p:txBody>
          <a:bodyPr wrap="square" lIns="0" tIns="0" rIns="0" bIns="0" rtlCol="0" anchor="ctr"/>
          <a:lstStyle/>
          <a:p>
            <a:pPr indent="0" marL="0">
              <a:buNone/>
            </a:pPr>
            <a:r>
              <a:rPr lang="en-US" sz="7600" i="1" dirty="0">
                <a:solidFill>
                  <a:srgbClr val="F1E9DD"/>
                </a:solidFill>
                <a:latin typeface="Georgia" pitchFamily="34" charset="0"/>
                <a:ea typeface="Georgia" pitchFamily="34" charset="-122"/>
                <a:cs typeface="Georgia" pitchFamily="34" charset="-120"/>
              </a:rPr>
              <a:t>I Missed That</a:t>
            </a:r>
            <a:endParaRPr lang="en-US" sz="7600" dirty="0"/>
          </a:p>
        </p:txBody>
      </p:sp>
      <p:sp>
        <p:nvSpPr>
          <p:cNvPr id="7" name="Text 2"/>
          <p:cNvSpPr/>
          <p:nvPr/>
        </p:nvSpPr>
        <p:spPr>
          <a:xfrm>
            <a:off x="548640" y="3154680"/>
            <a:ext cx="6126480" cy="1280160"/>
          </a:xfrm>
          <a:prstGeom prst="rect">
            <a:avLst/>
          </a:prstGeom>
          <a:noFill/>
          <a:ln/>
        </p:spPr>
        <p:txBody>
          <a:bodyPr wrap="square" lIns="0" tIns="0" rIns="0" bIns="0" rtlCol="0" anchor="t"/>
          <a:lstStyle/>
          <a:p>
            <a:pPr indent="0" marL="0">
              <a:buNone/>
            </a:pPr>
            <a:r>
              <a:rPr lang="en-US" sz="2800" dirty="0">
                <a:solidFill>
                  <a:srgbClr val="F1E9DD"/>
                </a:solidFill>
                <a:latin typeface="Georgia" pitchFamily="34" charset="0"/>
                <a:ea typeface="Georgia" pitchFamily="34" charset="-122"/>
                <a:cs typeface="Georgia" pitchFamily="34" charset="-120"/>
              </a:rPr>
              <a:t>Transcription tells you what was said. </a:t>
            </a:r>
            <a:pPr indent="0" marL="0">
              <a:buNone/>
            </a:pPr>
            <a:r>
              <a:rPr lang="en-US" sz="2800" dirty="0">
                <a:solidFill>
                  <a:srgbClr val="7FB4FF"/>
                </a:solidFill>
                <a:latin typeface="Georgia" pitchFamily="34" charset="0"/>
                <a:ea typeface="Georgia" pitchFamily="34" charset="-122"/>
                <a:cs typeface="Georgia" pitchFamily="34" charset="-120"/>
              </a:rPr>
              <a:t>We tell you what you missed.</a:t>
            </a:r>
            <a:endParaRPr lang="en-US" sz="2800" dirty="0"/>
          </a:p>
        </p:txBody>
      </p:sp>
      <p:sp>
        <p:nvSpPr>
          <p:cNvPr id="8" name="Text 3"/>
          <p:cNvSpPr/>
          <p:nvPr/>
        </p:nvSpPr>
        <p:spPr>
          <a:xfrm>
            <a:off x="548640" y="4572000"/>
            <a:ext cx="6035040" cy="731520"/>
          </a:xfrm>
          <a:prstGeom prst="rect">
            <a:avLst/>
          </a:prstGeom>
          <a:noFill/>
          <a:ln/>
        </p:spPr>
        <p:txBody>
          <a:bodyPr wrap="square" lIns="0" tIns="0" rIns="0" bIns="0" rtlCol="0" anchor="t"/>
          <a:lstStyle/>
          <a:p>
            <a:pPr indent="0" marL="0">
              <a:buNone/>
            </a:pPr>
            <a:r>
              <a:rPr lang="en-US" sz="2000" dirty="0">
                <a:solidFill>
                  <a:srgbClr val="A89B8A"/>
                </a:solidFill>
                <a:latin typeface="Arial" pitchFamily="34" charset="0"/>
                <a:ea typeface="Arial" pitchFamily="34" charset="-122"/>
                <a:cs typeface="Arial" pitchFamily="34" charset="-120"/>
              </a:rPr>
              <a:t>For hard-of-hearing and late-deafened adults, at their hearing family's table.</a:t>
            </a:r>
            <a:endParaRPr lang="en-US" sz="2000" dirty="0"/>
          </a:p>
        </p:txBody>
      </p:sp>
      <p:sp>
        <p:nvSpPr>
          <p:cNvPr id="9" name="Text 4"/>
          <p:cNvSpPr/>
          <p:nvPr/>
        </p:nvSpPr>
        <p:spPr>
          <a:xfrm>
            <a:off x="548640" y="5897880"/>
            <a:ext cx="6400800" cy="411480"/>
          </a:xfrm>
          <a:prstGeom prst="rect">
            <a:avLst/>
          </a:prstGeom>
          <a:noFill/>
          <a:ln/>
        </p:spPr>
        <p:txBody>
          <a:bodyPr wrap="square" lIns="0" tIns="0" rIns="0" bIns="0" rtlCol="0" anchor="ctr"/>
          <a:lstStyle/>
          <a:p>
            <a:pPr indent="0" marL="0">
              <a:buNone/>
            </a:pPr>
            <a:r>
              <a:rPr lang="en-US" sz="1800" dirty="0">
                <a:solidFill>
                  <a:srgbClr val="F1E9DD"/>
                </a:solidFill>
                <a:latin typeface="Arial" pitchFamily="34" charset="0"/>
                <a:ea typeface="Arial" pitchFamily="34" charset="-122"/>
                <a:cs typeface="Arial" pitchFamily="34" charset="-120"/>
              </a:rPr>
              <a:t>Team: [Name] · [Name] · [Name] · [Name]</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71310"/>
        </a:solidFill>
      </p:bgPr>
    </p:bg>
    <p:spTree>
      <p:nvGrpSpPr>
        <p:cNvPr id="1" name=""/>
        <p:cNvGrpSpPr/>
        <p:nvPr/>
      </p:nvGrpSpPr>
      <p:grpSpPr>
        <a:xfrm>
          <a:off x="0" y="0"/>
          <a:ext cx="0" cy="0"/>
          <a:chOff x="0" y="0"/>
          <a:chExt cx="0" cy="0"/>
        </a:xfrm>
      </p:grpSpPr>
      <p:pic>
        <p:nvPicPr>
          <p:cNvPr id="3" name="Image 0" descr="/Users/bera/Documents/GitHub/bainsahack/pitch/build/assets/plate.png">    </p:cNvPr>
          <p:cNvPicPr>
            <a:picLocks noChangeAspect="1"/>
          </p:cNvPicPr>
          <p:nvPr/>
        </p:nvPicPr>
        <p:blipFill>
          <a:blip r:embed="rId1"/>
          <a:stretch>
            <a:fillRect/>
          </a:stretch>
        </p:blipFill>
        <p:spPr>
          <a:xfrm>
            <a:off x="10454335" y="411480"/>
            <a:ext cx="1188720" cy="1188720"/>
          </a:xfrm>
          <a:prstGeom prst="rect">
            <a:avLst/>
          </a:prstGeom>
        </p:spPr>
      </p:pic>
      <p:sp>
        <p:nvSpPr>
          <p:cNvPr id="4" name="Text 0"/>
          <p:cNvSpPr/>
          <p:nvPr/>
        </p:nvSpPr>
        <p:spPr>
          <a:xfrm>
            <a:off x="548640" y="502920"/>
            <a:ext cx="9692640" cy="1325880"/>
          </a:xfrm>
          <a:prstGeom prst="rect">
            <a:avLst/>
          </a:prstGeom>
          <a:noFill/>
          <a:ln/>
        </p:spPr>
        <p:txBody>
          <a:bodyPr wrap="square" lIns="0" tIns="0" rIns="0" bIns="0" rtlCol="0" anchor="t"/>
          <a:lstStyle/>
          <a:p>
            <a:pPr indent="0" marL="0">
              <a:buNone/>
            </a:pPr>
            <a:r>
              <a:rPr lang="en-US" sz="4000" dirty="0">
                <a:solidFill>
                  <a:srgbClr val="F1E9DD"/>
                </a:solidFill>
                <a:latin typeface="Georgia" pitchFamily="34" charset="0"/>
                <a:ea typeface="Georgia" pitchFamily="34" charset="-122"/>
                <a:cs typeface="Georgia" pitchFamily="34" charset="-120"/>
              </a:rPr>
              <a:t>Every accessibility tool puts the whole burden on the deaf person.</a:t>
            </a:r>
            <a:endParaRPr lang="en-US" sz="4000" dirty="0"/>
          </a:p>
        </p:txBody>
      </p:sp>
      <p:sp>
        <p:nvSpPr>
          <p:cNvPr id="5" name="Text 1"/>
          <p:cNvSpPr/>
          <p:nvPr/>
        </p:nvSpPr>
        <p:spPr>
          <a:xfrm>
            <a:off x="548640" y="1920240"/>
            <a:ext cx="10515600" cy="457200"/>
          </a:xfrm>
          <a:prstGeom prst="rect">
            <a:avLst/>
          </a:prstGeom>
          <a:noFill/>
          <a:ln/>
        </p:spPr>
        <p:txBody>
          <a:bodyPr wrap="square" lIns="0" tIns="0" rIns="0" bIns="0" rtlCol="0" anchor="ctr"/>
          <a:lstStyle/>
          <a:p>
            <a:pPr indent="0" marL="0">
              <a:buNone/>
            </a:pPr>
            <a:r>
              <a:rPr lang="en-US" sz="2200" dirty="0">
                <a:solidFill>
                  <a:srgbClr val="A89B8A"/>
                </a:solidFill>
                <a:latin typeface="Arial" pitchFamily="34" charset="0"/>
                <a:ea typeface="Arial" pitchFamily="34" charset="-122"/>
                <a:cs typeface="Arial" pitchFamily="34" charset="-120"/>
              </a:rPr>
              <a:t>Read faster. Ask again. Get told never mind. </a:t>
            </a:r>
            <a:pPr indent="0" marL="0">
              <a:buNone/>
            </a:pPr>
            <a:r>
              <a:rPr lang="en-US" sz="2200" b="1" dirty="0">
                <a:solidFill>
                  <a:srgbClr val="7FB4FF"/>
                </a:solidFill>
                <a:latin typeface="Arial" pitchFamily="34" charset="0"/>
                <a:ea typeface="Arial" pitchFamily="34" charset="-122"/>
                <a:cs typeface="Arial" pitchFamily="34" charset="-120"/>
              </a:rPr>
              <a:t>We built the other side.</a:t>
            </a:r>
            <a:endParaRPr lang="en-US" sz="2200" dirty="0"/>
          </a:p>
        </p:txBody>
      </p:sp>
      <p:sp>
        <p:nvSpPr>
          <p:cNvPr id="6" name="Shape 2"/>
          <p:cNvSpPr/>
          <p:nvPr/>
        </p:nvSpPr>
        <p:spPr>
          <a:xfrm>
            <a:off x="548640" y="2697480"/>
            <a:ext cx="3017520" cy="3611880"/>
          </a:xfrm>
          <a:prstGeom prst="rect">
            <a:avLst/>
          </a:prstGeom>
          <a:solidFill>
            <a:srgbClr val="211B16"/>
          </a:solidFill>
          <a:ln w="9525">
            <a:solidFill>
              <a:srgbClr val="3A3029"/>
            </a:solidFill>
            <a:prstDash val="solid"/>
          </a:ln>
        </p:spPr>
      </p:sp>
      <p:sp>
        <p:nvSpPr>
          <p:cNvPr id="7" name="Text 3"/>
          <p:cNvSpPr/>
          <p:nvPr/>
        </p:nvSpPr>
        <p:spPr>
          <a:xfrm>
            <a:off x="777240" y="2926080"/>
            <a:ext cx="2560320" cy="2651760"/>
          </a:xfrm>
          <a:prstGeom prst="rect">
            <a:avLst/>
          </a:prstGeom>
          <a:noFill/>
          <a:ln/>
        </p:spPr>
        <p:txBody>
          <a:bodyPr wrap="square" lIns="0" tIns="0" rIns="0" bIns="0" rtlCol="0" anchor="t"/>
          <a:lstStyle/>
          <a:p>
            <a:pPr indent="0" marL="0">
              <a:buNone/>
            </a:pPr>
            <a:r>
              <a:rPr lang="en-US" sz="2600" i="1" dirty="0">
                <a:solidFill>
                  <a:srgbClr val="F1E9DD"/>
                </a:solidFill>
                <a:latin typeface="Georgia" pitchFamily="34" charset="0"/>
                <a:ea typeface="Georgia" pitchFamily="34" charset="-122"/>
                <a:cs typeface="Georgia" pitchFamily="34" charset="-120"/>
              </a:rPr>
              <a:t>“Dinner table syndrome and I want to cry.”</a:t>
            </a:r>
            <a:endParaRPr lang="en-US" sz="2600" dirty="0"/>
          </a:p>
        </p:txBody>
      </p:sp>
      <p:sp>
        <p:nvSpPr>
          <p:cNvPr id="8" name="Text 4"/>
          <p:cNvSpPr/>
          <p:nvPr/>
        </p:nvSpPr>
        <p:spPr>
          <a:xfrm>
            <a:off x="777240" y="5669280"/>
            <a:ext cx="2560320" cy="457200"/>
          </a:xfrm>
          <a:prstGeom prst="rect">
            <a:avLst/>
          </a:prstGeom>
          <a:noFill/>
          <a:ln/>
        </p:spPr>
        <p:txBody>
          <a:bodyPr wrap="square" lIns="0" tIns="0" rIns="0" bIns="0" rtlCol="0" anchor="b"/>
          <a:lstStyle/>
          <a:p>
            <a:pPr indent="0" marL="0">
              <a:buNone/>
            </a:pPr>
            <a:r>
              <a:rPr lang="en-US" sz="1200" dirty="0">
                <a:solidFill>
                  <a:srgbClr val="A89B8A"/>
                </a:solidFill>
                <a:latin typeface="Arial" pitchFamily="34" charset="0"/>
                <a:ea typeface="Arial" pitchFamily="34" charset="-122"/>
                <a:cs typeface="Arial" pitchFamily="34" charset="-120"/>
              </a:rPr>
              <a:t>— thread title, r/deaf, 174↑</a:t>
            </a:r>
            <a:pPr indent="0" marL="0">
              <a:buNone/>
            </a:pPr>
            <a:r>
              <a:rPr lang="en-US" sz="1200" baseline="30000" dirty="0">
                <a:solidFill>
                  <a:srgbClr val="A89B8A"/>
                </a:solidFill>
                <a:latin typeface="Arial" pitchFamily="34" charset="0"/>
                <a:ea typeface="Arial" pitchFamily="34" charset="-122"/>
                <a:cs typeface="Arial" pitchFamily="34" charset="-120"/>
              </a:rPr>
              <a:t>7</a:t>
            </a:r>
            <a:endParaRPr lang="en-US" sz="1200" dirty="0"/>
          </a:p>
        </p:txBody>
      </p:sp>
      <p:sp>
        <p:nvSpPr>
          <p:cNvPr id="9" name="Shape 5"/>
          <p:cNvSpPr/>
          <p:nvPr/>
        </p:nvSpPr>
        <p:spPr>
          <a:xfrm>
            <a:off x="3749040" y="2697480"/>
            <a:ext cx="4663440" cy="3611880"/>
          </a:xfrm>
          <a:prstGeom prst="rect">
            <a:avLst/>
          </a:prstGeom>
          <a:solidFill>
            <a:srgbClr val="211B16"/>
          </a:solidFill>
          <a:ln w="9525">
            <a:solidFill>
              <a:srgbClr val="3A3029"/>
            </a:solidFill>
            <a:prstDash val="solid"/>
          </a:ln>
        </p:spPr>
      </p:sp>
      <p:sp>
        <p:nvSpPr>
          <p:cNvPr id="10" name="Text 6"/>
          <p:cNvSpPr/>
          <p:nvPr/>
        </p:nvSpPr>
        <p:spPr>
          <a:xfrm>
            <a:off x="3977640" y="2926080"/>
            <a:ext cx="4206240" cy="2651760"/>
          </a:xfrm>
          <a:prstGeom prst="rect">
            <a:avLst/>
          </a:prstGeom>
          <a:noFill/>
          <a:ln/>
        </p:spPr>
        <p:txBody>
          <a:bodyPr wrap="square" lIns="0" tIns="0" rIns="0" bIns="0" rtlCol="0" anchor="t"/>
          <a:lstStyle/>
          <a:p>
            <a:pPr indent="0" marL="0">
              <a:buNone/>
            </a:pPr>
            <a:r>
              <a:rPr lang="en-US" sz="1900" i="1" dirty="0">
                <a:solidFill>
                  <a:srgbClr val="F1E9DD"/>
                </a:solidFill>
                <a:latin typeface="Georgia" pitchFamily="34" charset="0"/>
                <a:ea typeface="Georgia" pitchFamily="34" charset="-122"/>
                <a:cs typeface="Georgia" pitchFamily="34" charset="-120"/>
              </a:rPr>
              <a:t>“DTS - Dinner Table Syndrome. Deaf people in hearing families are too familiar with this, myself included. It's simply too much work to follow along. Thats why you feel like you could sleep for a week, we have to work much harder than a hearing person to understand verbal conversations.”</a:t>
            </a:r>
            <a:endParaRPr lang="en-US" sz="1900" dirty="0"/>
          </a:p>
        </p:txBody>
      </p:sp>
      <p:sp>
        <p:nvSpPr>
          <p:cNvPr id="11" name="Text 7"/>
          <p:cNvSpPr/>
          <p:nvPr/>
        </p:nvSpPr>
        <p:spPr>
          <a:xfrm>
            <a:off x="3977640" y="5669280"/>
            <a:ext cx="4206240" cy="457200"/>
          </a:xfrm>
          <a:prstGeom prst="rect">
            <a:avLst/>
          </a:prstGeom>
          <a:noFill/>
          <a:ln/>
        </p:spPr>
        <p:txBody>
          <a:bodyPr wrap="square" lIns="0" tIns="0" rIns="0" bIns="0" rtlCol="0" anchor="b"/>
          <a:lstStyle/>
          <a:p>
            <a:pPr indent="0" marL="0">
              <a:buNone/>
            </a:pPr>
            <a:r>
              <a:rPr lang="en-US" sz="1200" dirty="0">
                <a:solidFill>
                  <a:srgbClr val="A89B8A"/>
                </a:solidFill>
                <a:latin typeface="Arial" pitchFamily="34" charset="0"/>
                <a:ea typeface="Arial" pitchFamily="34" charset="-122"/>
                <a:cs typeface="Arial" pitchFamily="34" charset="-120"/>
              </a:rPr>
              <a:t>— r/deaf, “Exhausted and sad after family Sunday lunch,” 36↑</a:t>
            </a:r>
            <a:pPr indent="0" marL="0">
              <a:buNone/>
            </a:pPr>
            <a:r>
              <a:rPr lang="en-US" sz="1200" baseline="30000" dirty="0">
                <a:solidFill>
                  <a:srgbClr val="A89B8A"/>
                </a:solidFill>
                <a:latin typeface="Arial" pitchFamily="34" charset="0"/>
                <a:ea typeface="Arial" pitchFamily="34" charset="-122"/>
                <a:cs typeface="Arial" pitchFamily="34" charset="-120"/>
              </a:rPr>
              <a:t>7</a:t>
            </a:r>
            <a:endParaRPr lang="en-US" sz="1200" dirty="0"/>
          </a:p>
        </p:txBody>
      </p:sp>
      <p:sp>
        <p:nvSpPr>
          <p:cNvPr id="12" name="Shape 8"/>
          <p:cNvSpPr/>
          <p:nvPr/>
        </p:nvSpPr>
        <p:spPr>
          <a:xfrm>
            <a:off x="8595360" y="2697480"/>
            <a:ext cx="3017520" cy="3611880"/>
          </a:xfrm>
          <a:prstGeom prst="rect">
            <a:avLst/>
          </a:prstGeom>
          <a:solidFill>
            <a:srgbClr val="211B16"/>
          </a:solidFill>
          <a:ln w="9525">
            <a:solidFill>
              <a:srgbClr val="3A3029"/>
            </a:solidFill>
            <a:prstDash val="solid"/>
          </a:ln>
        </p:spPr>
      </p:sp>
      <p:sp>
        <p:nvSpPr>
          <p:cNvPr id="13" name="Text 9"/>
          <p:cNvSpPr/>
          <p:nvPr/>
        </p:nvSpPr>
        <p:spPr>
          <a:xfrm>
            <a:off x="8823960" y="2926080"/>
            <a:ext cx="2560320" cy="2651760"/>
          </a:xfrm>
          <a:prstGeom prst="rect">
            <a:avLst/>
          </a:prstGeom>
          <a:noFill/>
          <a:ln/>
        </p:spPr>
        <p:txBody>
          <a:bodyPr wrap="square" lIns="0" tIns="0" rIns="0" bIns="0" rtlCol="0" anchor="t"/>
          <a:lstStyle/>
          <a:p>
            <a:pPr indent="0" marL="0">
              <a:buNone/>
            </a:pPr>
            <a:r>
              <a:rPr lang="en-US" sz="2000" i="1" dirty="0">
                <a:solidFill>
                  <a:srgbClr val="F1E9DD"/>
                </a:solidFill>
                <a:latin typeface="Georgia" pitchFamily="34" charset="0"/>
                <a:ea typeface="Georgia" pitchFamily="34" charset="-122"/>
                <a:cs typeface="Georgia" pitchFamily="34" charset="-120"/>
              </a:rPr>
              <a:t>“I'd say the hardest part for me as a Deaf person in a hearing family during the holidays is extreme dinner table syndrome.”</a:t>
            </a:r>
            <a:endParaRPr lang="en-US" sz="2000" dirty="0"/>
          </a:p>
        </p:txBody>
      </p:sp>
      <p:sp>
        <p:nvSpPr>
          <p:cNvPr id="14" name="Text 10"/>
          <p:cNvSpPr/>
          <p:nvPr/>
        </p:nvSpPr>
        <p:spPr>
          <a:xfrm>
            <a:off x="8823960" y="5669280"/>
            <a:ext cx="2560320" cy="457200"/>
          </a:xfrm>
          <a:prstGeom prst="rect">
            <a:avLst/>
          </a:prstGeom>
          <a:noFill/>
          <a:ln/>
        </p:spPr>
        <p:txBody>
          <a:bodyPr wrap="square" lIns="0" tIns="0" rIns="0" bIns="0" rtlCol="0" anchor="b"/>
          <a:lstStyle/>
          <a:p>
            <a:pPr indent="0" marL="0">
              <a:buNone/>
            </a:pPr>
            <a:r>
              <a:rPr lang="en-US" sz="1200" dirty="0">
                <a:solidFill>
                  <a:srgbClr val="A89B8A"/>
                </a:solidFill>
                <a:latin typeface="Arial" pitchFamily="34" charset="0"/>
                <a:ea typeface="Arial" pitchFamily="34" charset="-122"/>
                <a:cs typeface="Arial" pitchFamily="34" charset="-120"/>
              </a:rPr>
              <a:t>— r/deaf, “Christmas family diner experiences”</a:t>
            </a:r>
            <a:pPr indent="0" marL="0">
              <a:buNone/>
            </a:pPr>
            <a:r>
              <a:rPr lang="en-US" sz="1200" baseline="30000" dirty="0">
                <a:solidFill>
                  <a:srgbClr val="A89B8A"/>
                </a:solidFill>
                <a:latin typeface="Arial" pitchFamily="34" charset="0"/>
                <a:ea typeface="Arial" pitchFamily="34" charset="-122"/>
                <a:cs typeface="Arial" pitchFamily="34" charset="-120"/>
              </a:rPr>
              <a:t>7</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71310"/>
        </a:solidFill>
      </p:bgPr>
    </p:bg>
    <p:spTree>
      <p:nvGrpSpPr>
        <p:cNvPr id="1" name=""/>
        <p:cNvGrpSpPr/>
        <p:nvPr/>
      </p:nvGrpSpPr>
      <p:grpSpPr>
        <a:xfrm>
          <a:off x="0" y="0"/>
          <a:ext cx="0" cy="0"/>
          <a:chOff x="0" y="0"/>
          <a:chExt cx="0" cy="0"/>
        </a:xfrm>
      </p:grpSpPr>
      <p:sp>
        <p:nvSpPr>
          <p:cNvPr id="3" name="Text 0"/>
          <p:cNvSpPr/>
          <p:nvPr/>
        </p:nvSpPr>
        <p:spPr>
          <a:xfrm>
            <a:off x="548640" y="411480"/>
            <a:ext cx="7315200" cy="320040"/>
          </a:xfrm>
          <a:prstGeom prst="rect">
            <a:avLst/>
          </a:prstGeom>
          <a:noFill/>
          <a:ln/>
        </p:spPr>
        <p:txBody>
          <a:bodyPr wrap="square" lIns="0" tIns="0" rIns="0" bIns="0" rtlCol="0" anchor="ctr"/>
          <a:lstStyle/>
          <a:p>
            <a:pPr indent="0" marL="0">
              <a:buNone/>
            </a:pPr>
            <a:r>
              <a:rPr lang="en-US" sz="1300" b="1" spc="400" kern="0" dirty="0">
                <a:solidFill>
                  <a:srgbClr val="A89B8A"/>
                </a:solidFill>
                <a:latin typeface="Arial" pitchFamily="34" charset="0"/>
                <a:ea typeface="Arial" pitchFamily="34" charset="-122"/>
                <a:cs typeface="Arial" pitchFamily="34" charset="-120"/>
              </a:rPr>
              <a:t>THE NUMBERS</a:t>
            </a:r>
            <a:endParaRPr lang="en-US" sz="1300" dirty="0"/>
          </a:p>
        </p:txBody>
      </p:sp>
      <p:sp>
        <p:nvSpPr>
          <p:cNvPr id="4" name="Text 1"/>
          <p:cNvSpPr/>
          <p:nvPr/>
        </p:nvSpPr>
        <p:spPr>
          <a:xfrm>
            <a:off x="548640" y="914400"/>
            <a:ext cx="4023360" cy="1554480"/>
          </a:xfrm>
          <a:prstGeom prst="rect">
            <a:avLst/>
          </a:prstGeom>
          <a:noFill/>
          <a:ln/>
        </p:spPr>
        <p:txBody>
          <a:bodyPr wrap="square" lIns="0" tIns="0" rIns="0" bIns="0" rtlCol="0" anchor="ctr"/>
          <a:lstStyle/>
          <a:p>
            <a:pPr indent="0" marL="0">
              <a:buNone/>
            </a:pPr>
            <a:r>
              <a:rPr lang="en-US" sz="11000" dirty="0">
                <a:solidFill>
                  <a:srgbClr val="7FB4FF"/>
                </a:solidFill>
                <a:latin typeface="Georgia" pitchFamily="34" charset="0"/>
                <a:ea typeface="Georgia" pitchFamily="34" charset="-122"/>
                <a:cs typeface="Georgia" pitchFamily="34" charset="-120"/>
              </a:rPr>
              <a:t>50M</a:t>
            </a:r>
            <a:endParaRPr lang="en-US" sz="11000" dirty="0"/>
          </a:p>
        </p:txBody>
      </p:sp>
      <p:sp>
        <p:nvSpPr>
          <p:cNvPr id="5" name="Text 2"/>
          <p:cNvSpPr/>
          <p:nvPr/>
        </p:nvSpPr>
        <p:spPr>
          <a:xfrm>
            <a:off x="548640" y="2606040"/>
            <a:ext cx="3749040" cy="1188720"/>
          </a:xfrm>
          <a:prstGeom prst="rect">
            <a:avLst/>
          </a:prstGeom>
          <a:noFill/>
          <a:ln/>
        </p:spPr>
        <p:txBody>
          <a:bodyPr wrap="square" lIns="0" tIns="0" rIns="0" bIns="0" rtlCol="0" anchor="t"/>
          <a:lstStyle/>
          <a:p>
            <a:pPr indent="0" marL="0">
              <a:buNone/>
            </a:pPr>
            <a:r>
              <a:rPr lang="en-US" sz="2200" dirty="0">
                <a:solidFill>
                  <a:srgbClr val="F1E9DD"/>
                </a:solidFill>
                <a:latin typeface="Arial" pitchFamily="34" charset="0"/>
                <a:ea typeface="Arial" pitchFamily="34" charset="-122"/>
                <a:cs typeface="Arial" pitchFamily="34" charset="-120"/>
              </a:rPr>
              <a:t>people in the EU say they have trouble hearing. One in nine.</a:t>
            </a:r>
            <a:pPr indent="0" marL="0">
              <a:buNone/>
            </a:pPr>
            <a:r>
              <a:rPr lang="en-US" sz="2200" baseline="30000" dirty="0">
                <a:solidFill>
                  <a:srgbClr val="A89B8A"/>
                </a:solidFill>
                <a:latin typeface="Arial" pitchFamily="34" charset="0"/>
                <a:ea typeface="Arial" pitchFamily="34" charset="-122"/>
                <a:cs typeface="Arial" pitchFamily="34" charset="-120"/>
              </a:rPr>
              <a:t>1</a:t>
            </a:r>
            <a:endParaRPr lang="en-US" sz="2200" dirty="0"/>
          </a:p>
        </p:txBody>
      </p:sp>
      <p:sp>
        <p:nvSpPr>
          <p:cNvPr id="6" name="Text 3"/>
          <p:cNvSpPr/>
          <p:nvPr/>
        </p:nvSpPr>
        <p:spPr>
          <a:xfrm>
            <a:off x="548640" y="4160520"/>
            <a:ext cx="3657600" cy="1371600"/>
          </a:xfrm>
          <a:prstGeom prst="rect">
            <a:avLst/>
          </a:prstGeom>
          <a:noFill/>
          <a:ln/>
        </p:spPr>
        <p:txBody>
          <a:bodyPr wrap="square" lIns="0" tIns="0" rIns="0" bIns="0" rtlCol="0" anchor="t"/>
          <a:lstStyle/>
          <a:p>
            <a:pPr indent="0" marL="0">
              <a:buNone/>
            </a:pPr>
            <a:r>
              <a:rPr lang="en-US" sz="2200" i="1" dirty="0">
                <a:solidFill>
                  <a:srgbClr val="A89B8A"/>
                </a:solidFill>
                <a:latin typeface="Georgia" pitchFamily="34" charset="0"/>
                <a:ea typeface="Georgia" pitchFamily="34" charset="-122"/>
                <a:cs typeface="Georgia" pitchFamily="34" charset="-120"/>
              </a:rPr>
              <a:t>And the place they most want to hear isn't the office. It's the family table.</a:t>
            </a:r>
            <a:endParaRPr lang="en-US" sz="2200" dirty="0"/>
          </a:p>
        </p:txBody>
      </p:sp>
      <p:pic>
        <p:nvPicPr>
          <p:cNvPr id="7" name="Image 0" descr="/Users/bera/Documents/GitHub/bainsahack/pitch/build/assets/mug.png">    </p:cNvPr>
          <p:cNvPicPr>
            <a:picLocks noChangeAspect="1"/>
          </p:cNvPicPr>
          <p:nvPr/>
        </p:nvPicPr>
        <p:blipFill>
          <a:blip r:embed="rId1"/>
          <a:stretch>
            <a:fillRect/>
          </a:stretch>
        </p:blipFill>
        <p:spPr>
          <a:xfrm>
            <a:off x="457200" y="5440680"/>
            <a:ext cx="1051560" cy="1051560"/>
          </a:xfrm>
          <a:prstGeom prst="rect">
            <a:avLst/>
          </a:prstGeom>
        </p:spPr>
      </p:pic>
      <p:sp>
        <p:nvSpPr>
          <p:cNvPr id="8" name="Shape 4"/>
          <p:cNvSpPr/>
          <p:nvPr/>
        </p:nvSpPr>
        <p:spPr>
          <a:xfrm>
            <a:off x="4754880" y="914400"/>
            <a:ext cx="2194560" cy="2606040"/>
          </a:xfrm>
          <a:prstGeom prst="rect">
            <a:avLst/>
          </a:prstGeom>
          <a:solidFill>
            <a:srgbClr val="211B16"/>
          </a:solidFill>
          <a:ln w="9525">
            <a:solidFill>
              <a:srgbClr val="3A3029"/>
            </a:solidFill>
            <a:prstDash val="solid"/>
          </a:ln>
        </p:spPr>
      </p:sp>
      <p:sp>
        <p:nvSpPr>
          <p:cNvPr id="9" name="Text 5"/>
          <p:cNvSpPr/>
          <p:nvPr/>
        </p:nvSpPr>
        <p:spPr>
          <a:xfrm>
            <a:off x="4937760" y="1097280"/>
            <a:ext cx="1920240" cy="777240"/>
          </a:xfrm>
          <a:prstGeom prst="rect">
            <a:avLst/>
          </a:prstGeom>
          <a:noFill/>
          <a:ln/>
        </p:spPr>
        <p:txBody>
          <a:bodyPr wrap="square" lIns="0" tIns="0" rIns="0" bIns="0" rtlCol="0" anchor="ctr"/>
          <a:lstStyle/>
          <a:p>
            <a:pPr indent="0" marL="0">
              <a:buNone/>
            </a:pPr>
            <a:r>
              <a:rPr lang="en-US" sz="4400" dirty="0">
                <a:solidFill>
                  <a:srgbClr val="F1E9DD"/>
                </a:solidFill>
                <a:latin typeface="Georgia" pitchFamily="34" charset="0"/>
                <a:ea typeface="Georgia" pitchFamily="34" charset="-122"/>
                <a:cs typeface="Georgia" pitchFamily="34" charset="-120"/>
              </a:rPr>
              <a:t>~1/3</a:t>
            </a:r>
            <a:endParaRPr lang="en-US" sz="4400" dirty="0"/>
          </a:p>
        </p:txBody>
      </p:sp>
      <p:sp>
        <p:nvSpPr>
          <p:cNvPr id="10" name="Text 6"/>
          <p:cNvSpPr/>
          <p:nvPr/>
        </p:nvSpPr>
        <p:spPr>
          <a:xfrm>
            <a:off x="4937760" y="1965960"/>
            <a:ext cx="1828800" cy="1417320"/>
          </a:xfrm>
          <a:prstGeom prst="rect">
            <a:avLst/>
          </a:prstGeom>
          <a:noFill/>
          <a:ln/>
        </p:spPr>
        <p:txBody>
          <a:bodyPr wrap="square" lIns="0" tIns="0" rIns="0" bIns="0" rtlCol="0" anchor="t"/>
          <a:lstStyle/>
          <a:p>
            <a:pPr indent="0" marL="0">
              <a:buNone/>
            </a:pPr>
            <a:r>
              <a:rPr lang="en-US" sz="1800" dirty="0">
                <a:solidFill>
                  <a:srgbClr val="F1E9DD"/>
                </a:solidFill>
                <a:latin typeface="Arial" pitchFamily="34" charset="0"/>
                <a:ea typeface="Arial" pitchFamily="34" charset="-122"/>
                <a:cs typeface="Arial" pitchFamily="34" charset="-120"/>
              </a:rPr>
              <a:t>of them use hearing aids</a:t>
            </a:r>
            <a:pPr indent="0" marL="0">
              <a:buNone/>
            </a:pPr>
            <a:r>
              <a:rPr lang="en-US" sz="1800" baseline="30000" dirty="0">
                <a:solidFill>
                  <a:srgbClr val="A89B8A"/>
                </a:solidFill>
                <a:latin typeface="Arial" pitchFamily="34" charset="0"/>
                <a:ea typeface="Arial" pitchFamily="34" charset="-122"/>
                <a:cs typeface="Arial" pitchFamily="34" charset="-120"/>
              </a:rPr>
              <a:t>1</a:t>
            </a:r>
            <a:endParaRPr lang="en-US" sz="1800" dirty="0"/>
          </a:p>
        </p:txBody>
      </p:sp>
      <p:sp>
        <p:nvSpPr>
          <p:cNvPr id="11" name="Shape 7"/>
          <p:cNvSpPr/>
          <p:nvPr/>
        </p:nvSpPr>
        <p:spPr>
          <a:xfrm>
            <a:off x="7132320" y="914400"/>
            <a:ext cx="2194560" cy="2606040"/>
          </a:xfrm>
          <a:prstGeom prst="rect">
            <a:avLst/>
          </a:prstGeom>
          <a:solidFill>
            <a:srgbClr val="211B16"/>
          </a:solidFill>
          <a:ln w="9525">
            <a:solidFill>
              <a:srgbClr val="3A3029"/>
            </a:solidFill>
            <a:prstDash val="solid"/>
          </a:ln>
        </p:spPr>
      </p:sp>
      <p:sp>
        <p:nvSpPr>
          <p:cNvPr id="12" name="Text 8"/>
          <p:cNvSpPr/>
          <p:nvPr/>
        </p:nvSpPr>
        <p:spPr>
          <a:xfrm>
            <a:off x="7315200" y="1097280"/>
            <a:ext cx="1920240" cy="777240"/>
          </a:xfrm>
          <a:prstGeom prst="rect">
            <a:avLst/>
          </a:prstGeom>
          <a:noFill/>
          <a:ln/>
        </p:spPr>
        <p:txBody>
          <a:bodyPr wrap="square" lIns="0" tIns="0" rIns="0" bIns="0" rtlCol="0" anchor="ctr"/>
          <a:lstStyle/>
          <a:p>
            <a:pPr indent="0" marL="0">
              <a:buNone/>
            </a:pPr>
            <a:r>
              <a:rPr lang="en-US" sz="4400" dirty="0">
                <a:solidFill>
                  <a:srgbClr val="F1E9DD"/>
                </a:solidFill>
                <a:latin typeface="Georgia" pitchFamily="34" charset="0"/>
                <a:ea typeface="Georgia" pitchFamily="34" charset="-122"/>
                <a:cs typeface="Georgia" pitchFamily="34" charset="-120"/>
              </a:rPr>
              <a:t>56%</a:t>
            </a:r>
            <a:endParaRPr lang="en-US" sz="4400" dirty="0"/>
          </a:p>
        </p:txBody>
      </p:sp>
      <p:sp>
        <p:nvSpPr>
          <p:cNvPr id="13" name="Text 9"/>
          <p:cNvSpPr/>
          <p:nvPr/>
        </p:nvSpPr>
        <p:spPr>
          <a:xfrm>
            <a:off x="7315200" y="1965960"/>
            <a:ext cx="1828800" cy="1417320"/>
          </a:xfrm>
          <a:prstGeom prst="rect">
            <a:avLst/>
          </a:prstGeom>
          <a:noFill/>
          <a:ln/>
        </p:spPr>
        <p:txBody>
          <a:bodyPr wrap="square" lIns="0" tIns="0" rIns="0" bIns="0" rtlCol="0" anchor="t"/>
          <a:lstStyle/>
          <a:p>
            <a:pPr indent="0" marL="0">
              <a:buNone/>
            </a:pPr>
            <a:r>
              <a:rPr lang="en-US" sz="1800" dirty="0">
                <a:solidFill>
                  <a:srgbClr val="F1E9DD"/>
                </a:solidFill>
                <a:latin typeface="Arial" pitchFamily="34" charset="0"/>
                <a:ea typeface="Arial" pitchFamily="34" charset="-122"/>
                <a:cs typeface="Arial" pitchFamily="34" charset="-120"/>
              </a:rPr>
              <a:t>say the family table matters most. Work: 21%.</a:t>
            </a:r>
            <a:pPr indent="0" marL="0">
              <a:buNone/>
            </a:pPr>
            <a:r>
              <a:rPr lang="en-US" sz="1800" baseline="30000" dirty="0">
                <a:solidFill>
                  <a:srgbClr val="A89B8A"/>
                </a:solidFill>
                <a:latin typeface="Arial" pitchFamily="34" charset="0"/>
                <a:ea typeface="Arial" pitchFamily="34" charset="-122"/>
                <a:cs typeface="Arial" pitchFamily="34" charset="-120"/>
              </a:rPr>
              <a:t>2</a:t>
            </a:r>
            <a:endParaRPr lang="en-US" sz="1800" dirty="0"/>
          </a:p>
        </p:txBody>
      </p:sp>
      <p:sp>
        <p:nvSpPr>
          <p:cNvPr id="14" name="Shape 10"/>
          <p:cNvSpPr/>
          <p:nvPr/>
        </p:nvSpPr>
        <p:spPr>
          <a:xfrm>
            <a:off x="9509760" y="914400"/>
            <a:ext cx="2194560" cy="2606040"/>
          </a:xfrm>
          <a:prstGeom prst="rect">
            <a:avLst/>
          </a:prstGeom>
          <a:solidFill>
            <a:srgbClr val="211B16"/>
          </a:solidFill>
          <a:ln w="9525">
            <a:solidFill>
              <a:srgbClr val="3A3029"/>
            </a:solidFill>
            <a:prstDash val="solid"/>
          </a:ln>
        </p:spPr>
      </p:sp>
      <p:sp>
        <p:nvSpPr>
          <p:cNvPr id="15" name="Text 11"/>
          <p:cNvSpPr/>
          <p:nvPr/>
        </p:nvSpPr>
        <p:spPr>
          <a:xfrm>
            <a:off x="9692640" y="1097280"/>
            <a:ext cx="1920240" cy="777240"/>
          </a:xfrm>
          <a:prstGeom prst="rect">
            <a:avLst/>
          </a:prstGeom>
          <a:noFill/>
          <a:ln/>
        </p:spPr>
        <p:txBody>
          <a:bodyPr wrap="square" lIns="0" tIns="0" rIns="0" bIns="0" rtlCol="0" anchor="ctr"/>
          <a:lstStyle/>
          <a:p>
            <a:pPr indent="0" marL="0">
              <a:buNone/>
            </a:pPr>
            <a:r>
              <a:rPr lang="en-US" sz="4400" dirty="0">
                <a:solidFill>
                  <a:srgbClr val="F1E9DD"/>
                </a:solidFill>
                <a:latin typeface="Georgia" pitchFamily="34" charset="0"/>
                <a:ea typeface="Georgia" pitchFamily="34" charset="-122"/>
                <a:cs typeface="Georgia" pitchFamily="34" charset="-120"/>
              </a:rPr>
              <a:t>51.9%</a:t>
            </a:r>
            <a:endParaRPr lang="en-US" sz="4400" dirty="0"/>
          </a:p>
        </p:txBody>
      </p:sp>
      <p:sp>
        <p:nvSpPr>
          <p:cNvPr id="16" name="Text 12"/>
          <p:cNvSpPr/>
          <p:nvPr/>
        </p:nvSpPr>
        <p:spPr>
          <a:xfrm>
            <a:off x="9692640" y="1965960"/>
            <a:ext cx="1828800" cy="1417320"/>
          </a:xfrm>
          <a:prstGeom prst="rect">
            <a:avLst/>
          </a:prstGeom>
          <a:noFill/>
          <a:ln/>
        </p:spPr>
        <p:txBody>
          <a:bodyPr wrap="square" lIns="0" tIns="0" rIns="0" bIns="0" rtlCol="0" anchor="t"/>
          <a:lstStyle/>
          <a:p>
            <a:pPr indent="0" marL="0">
              <a:buNone/>
            </a:pPr>
            <a:r>
              <a:rPr lang="en-US" sz="1800" dirty="0">
                <a:solidFill>
                  <a:srgbClr val="F1E9DD"/>
                </a:solidFill>
                <a:latin typeface="Arial" pitchFamily="34" charset="0"/>
                <a:ea typeface="Arial" pitchFamily="34" charset="-122"/>
                <a:cs typeface="Arial" pitchFamily="34" charset="-120"/>
              </a:rPr>
              <a:t>of DHH live-caption users are frustrated with them</a:t>
            </a:r>
            <a:pPr indent="0" marL="0">
              <a:buNone/>
            </a:pPr>
            <a:r>
              <a:rPr lang="en-US" sz="1800" baseline="30000" dirty="0">
                <a:solidFill>
                  <a:srgbClr val="A89B8A"/>
                </a:solidFill>
                <a:latin typeface="Arial" pitchFamily="34" charset="0"/>
                <a:ea typeface="Arial" pitchFamily="34" charset="-122"/>
                <a:cs typeface="Arial" pitchFamily="34" charset="-120"/>
              </a:rPr>
              <a:t>3</a:t>
            </a:r>
            <a:endParaRPr lang="en-US" sz="1800" dirty="0"/>
          </a:p>
        </p:txBody>
      </p:sp>
      <p:sp>
        <p:nvSpPr>
          <p:cNvPr id="17" name="Shape 13"/>
          <p:cNvSpPr/>
          <p:nvPr/>
        </p:nvSpPr>
        <p:spPr>
          <a:xfrm>
            <a:off x="4754880" y="3703320"/>
            <a:ext cx="2194560" cy="2606040"/>
          </a:xfrm>
          <a:prstGeom prst="rect">
            <a:avLst/>
          </a:prstGeom>
          <a:solidFill>
            <a:srgbClr val="211B16"/>
          </a:solidFill>
          <a:ln w="9525">
            <a:solidFill>
              <a:srgbClr val="3A3029"/>
            </a:solidFill>
            <a:prstDash val="solid"/>
          </a:ln>
        </p:spPr>
      </p:sp>
      <p:sp>
        <p:nvSpPr>
          <p:cNvPr id="18" name="Text 14"/>
          <p:cNvSpPr/>
          <p:nvPr/>
        </p:nvSpPr>
        <p:spPr>
          <a:xfrm>
            <a:off x="4937760" y="3886200"/>
            <a:ext cx="1920240" cy="777240"/>
          </a:xfrm>
          <a:prstGeom prst="rect">
            <a:avLst/>
          </a:prstGeom>
          <a:noFill/>
          <a:ln/>
        </p:spPr>
        <p:txBody>
          <a:bodyPr wrap="square" lIns="0" tIns="0" rIns="0" bIns="0" rtlCol="0" anchor="ctr"/>
          <a:lstStyle/>
          <a:p>
            <a:pPr indent="0" marL="0">
              <a:buNone/>
            </a:pPr>
            <a:r>
              <a:rPr lang="en-US" sz="3400" dirty="0">
                <a:solidFill>
                  <a:srgbClr val="F1E9DD"/>
                </a:solidFill>
                <a:latin typeface="Georgia" pitchFamily="34" charset="0"/>
                <a:ea typeface="Georgia" pitchFamily="34" charset="-122"/>
                <a:cs typeface="Georgia" pitchFamily="34" charset="-120"/>
              </a:rPr>
              <a:t>170 wpm</a:t>
            </a:r>
            <a:endParaRPr lang="en-US" sz="3400" dirty="0"/>
          </a:p>
        </p:txBody>
      </p:sp>
      <p:sp>
        <p:nvSpPr>
          <p:cNvPr id="19" name="Text 15"/>
          <p:cNvSpPr/>
          <p:nvPr/>
        </p:nvSpPr>
        <p:spPr>
          <a:xfrm>
            <a:off x="4937760" y="4754880"/>
            <a:ext cx="1828800" cy="1417320"/>
          </a:xfrm>
          <a:prstGeom prst="rect">
            <a:avLst/>
          </a:prstGeom>
          <a:noFill/>
          <a:ln/>
        </p:spPr>
        <p:txBody>
          <a:bodyPr wrap="square" lIns="0" tIns="0" rIns="0" bIns="0" rtlCol="0" anchor="t"/>
          <a:lstStyle/>
          <a:p>
            <a:pPr indent="0" marL="0">
              <a:buNone/>
            </a:pPr>
            <a:r>
              <a:rPr lang="en-US" sz="1800" dirty="0">
                <a:solidFill>
                  <a:srgbClr val="F1E9DD"/>
                </a:solidFill>
                <a:latin typeface="Arial" pitchFamily="34" charset="0"/>
                <a:ea typeface="Arial" pitchFamily="34" charset="-122"/>
                <a:cs typeface="Arial" pitchFamily="34" charset="-120"/>
              </a:rPr>
              <a:t>caption comprehension drops. Group talk runs 160–220.</a:t>
            </a:r>
            <a:pPr indent="0" marL="0">
              <a:buNone/>
            </a:pPr>
            <a:r>
              <a:rPr lang="en-US" sz="1800" baseline="30000" dirty="0">
                <a:solidFill>
                  <a:srgbClr val="A89B8A"/>
                </a:solidFill>
                <a:latin typeface="Arial" pitchFamily="34" charset="0"/>
                <a:ea typeface="Arial" pitchFamily="34" charset="-122"/>
                <a:cs typeface="Arial" pitchFamily="34" charset="-120"/>
              </a:rPr>
              <a:t>3</a:t>
            </a:r>
            <a:endParaRPr lang="en-US" sz="1800" dirty="0"/>
          </a:p>
        </p:txBody>
      </p:sp>
      <p:sp>
        <p:nvSpPr>
          <p:cNvPr id="20" name="Shape 16"/>
          <p:cNvSpPr/>
          <p:nvPr/>
        </p:nvSpPr>
        <p:spPr>
          <a:xfrm>
            <a:off x="7132320" y="3703320"/>
            <a:ext cx="2194560" cy="2606040"/>
          </a:xfrm>
          <a:prstGeom prst="rect">
            <a:avLst/>
          </a:prstGeom>
          <a:solidFill>
            <a:srgbClr val="211B16"/>
          </a:solidFill>
          <a:ln w="9525">
            <a:solidFill>
              <a:srgbClr val="3A3029"/>
            </a:solidFill>
            <a:prstDash val="solid"/>
          </a:ln>
        </p:spPr>
      </p:sp>
      <p:sp>
        <p:nvSpPr>
          <p:cNvPr id="21" name="Text 17"/>
          <p:cNvSpPr/>
          <p:nvPr/>
        </p:nvSpPr>
        <p:spPr>
          <a:xfrm>
            <a:off x="7315200" y="3886200"/>
            <a:ext cx="1920240" cy="777240"/>
          </a:xfrm>
          <a:prstGeom prst="rect">
            <a:avLst/>
          </a:prstGeom>
          <a:noFill/>
          <a:ln/>
        </p:spPr>
        <p:txBody>
          <a:bodyPr wrap="square" lIns="0" tIns="0" rIns="0" bIns="0" rtlCol="0" anchor="ctr"/>
          <a:lstStyle/>
          <a:p>
            <a:pPr indent="0" marL="0">
              <a:buNone/>
            </a:pPr>
            <a:r>
              <a:rPr lang="en-US" sz="4400" dirty="0">
                <a:solidFill>
                  <a:srgbClr val="F1E9DD"/>
                </a:solidFill>
                <a:latin typeface="Georgia" pitchFamily="34" charset="0"/>
                <a:ea typeface="Georgia" pitchFamily="34" charset="-122"/>
                <a:cs typeface="Georgia" pitchFamily="34" charset="-120"/>
              </a:rPr>
              <a:t>4%</a:t>
            </a:r>
            <a:endParaRPr lang="en-US" sz="4400" dirty="0"/>
          </a:p>
        </p:txBody>
      </p:sp>
      <p:sp>
        <p:nvSpPr>
          <p:cNvPr id="22" name="Text 18"/>
          <p:cNvSpPr/>
          <p:nvPr/>
        </p:nvSpPr>
        <p:spPr>
          <a:xfrm>
            <a:off x="7315200" y="4754880"/>
            <a:ext cx="1828800" cy="1417320"/>
          </a:xfrm>
          <a:prstGeom prst="rect">
            <a:avLst/>
          </a:prstGeom>
          <a:noFill/>
          <a:ln/>
        </p:spPr>
        <p:txBody>
          <a:bodyPr wrap="square" lIns="0" tIns="0" rIns="0" bIns="0" rtlCol="0" anchor="t"/>
          <a:lstStyle/>
          <a:p>
            <a:pPr indent="0" marL="0">
              <a:buNone/>
            </a:pPr>
            <a:r>
              <a:rPr lang="en-US" sz="1800" dirty="0">
                <a:solidFill>
                  <a:srgbClr val="F1E9DD"/>
                </a:solidFill>
                <a:latin typeface="Arial" pitchFamily="34" charset="0"/>
                <a:ea typeface="Arial" pitchFamily="34" charset="-122"/>
                <a:cs typeface="Arial" pitchFamily="34" charset="-120"/>
              </a:rPr>
              <a:t>of videos caption non-speech sound: laughter, tone</a:t>
            </a:r>
            <a:pPr indent="0" marL="0">
              <a:buNone/>
            </a:pPr>
            <a:r>
              <a:rPr lang="en-US" sz="1800" baseline="30000" dirty="0">
                <a:solidFill>
                  <a:srgbClr val="A89B8A"/>
                </a:solidFill>
                <a:latin typeface="Arial" pitchFamily="34" charset="0"/>
                <a:ea typeface="Arial" pitchFamily="34" charset="-122"/>
                <a:cs typeface="Arial" pitchFamily="34" charset="-120"/>
              </a:rPr>
              <a:t>4</a:t>
            </a:r>
            <a:endParaRPr lang="en-US" sz="1800" dirty="0"/>
          </a:p>
        </p:txBody>
      </p:sp>
      <p:sp>
        <p:nvSpPr>
          <p:cNvPr id="23" name="Shape 19"/>
          <p:cNvSpPr/>
          <p:nvPr/>
        </p:nvSpPr>
        <p:spPr>
          <a:xfrm>
            <a:off x="9509760" y="3703320"/>
            <a:ext cx="2194560" cy="2606040"/>
          </a:xfrm>
          <a:prstGeom prst="rect">
            <a:avLst/>
          </a:prstGeom>
          <a:solidFill>
            <a:srgbClr val="211B16"/>
          </a:solidFill>
          <a:ln w="9525">
            <a:solidFill>
              <a:srgbClr val="3A3029"/>
            </a:solidFill>
            <a:prstDash val="solid"/>
          </a:ln>
        </p:spPr>
      </p:sp>
      <p:sp>
        <p:nvSpPr>
          <p:cNvPr id="24" name="Text 20"/>
          <p:cNvSpPr/>
          <p:nvPr/>
        </p:nvSpPr>
        <p:spPr>
          <a:xfrm>
            <a:off x="9692640" y="3886200"/>
            <a:ext cx="1920240" cy="777240"/>
          </a:xfrm>
          <a:prstGeom prst="rect">
            <a:avLst/>
          </a:prstGeom>
          <a:noFill/>
          <a:ln/>
        </p:spPr>
        <p:txBody>
          <a:bodyPr wrap="square" lIns="0" tIns="0" rIns="0" bIns="0" rtlCol="0" anchor="ctr"/>
          <a:lstStyle/>
          <a:p>
            <a:pPr indent="0" marL="0">
              <a:buNone/>
            </a:pPr>
            <a:r>
              <a:rPr lang="en-US" sz="4400" dirty="0">
                <a:solidFill>
                  <a:srgbClr val="F1E9DD"/>
                </a:solidFill>
                <a:latin typeface="Georgia" pitchFamily="34" charset="0"/>
                <a:ea typeface="Georgia" pitchFamily="34" charset="-122"/>
                <a:cs typeface="Georgia" pitchFamily="34" charset="-120"/>
              </a:rPr>
              <a:t>&gt;90%</a:t>
            </a:r>
            <a:endParaRPr lang="en-US" sz="4400" dirty="0"/>
          </a:p>
        </p:txBody>
      </p:sp>
      <p:sp>
        <p:nvSpPr>
          <p:cNvPr id="25" name="Text 21"/>
          <p:cNvSpPr/>
          <p:nvPr/>
        </p:nvSpPr>
        <p:spPr>
          <a:xfrm>
            <a:off x="9692640" y="4754880"/>
            <a:ext cx="1828800" cy="1417320"/>
          </a:xfrm>
          <a:prstGeom prst="rect">
            <a:avLst/>
          </a:prstGeom>
          <a:noFill/>
          <a:ln/>
        </p:spPr>
        <p:txBody>
          <a:bodyPr wrap="square" lIns="0" tIns="0" rIns="0" bIns="0" rtlCol="0" anchor="t"/>
          <a:lstStyle/>
          <a:p>
            <a:pPr indent="0" marL="0">
              <a:buNone/>
            </a:pPr>
            <a:r>
              <a:rPr lang="en-US" sz="1800" dirty="0">
                <a:solidFill>
                  <a:srgbClr val="F1E9DD"/>
                </a:solidFill>
                <a:latin typeface="Arial" pitchFamily="34" charset="0"/>
                <a:ea typeface="Arial" pitchFamily="34" charset="-122"/>
                <a:cs typeface="Arial" pitchFamily="34" charset="-120"/>
              </a:rPr>
              <a:t>of deaf children have hearing parents</a:t>
            </a:r>
            <a:pPr indent="0" marL="0">
              <a:buNone/>
            </a:pPr>
            <a:r>
              <a:rPr lang="en-US" sz="1800" baseline="30000" dirty="0">
                <a:solidFill>
                  <a:srgbClr val="A89B8A"/>
                </a:solidFill>
                <a:latin typeface="Arial" pitchFamily="34" charset="0"/>
                <a:ea typeface="Arial" pitchFamily="34" charset="-122"/>
                <a:cs typeface="Arial" pitchFamily="34" charset="-120"/>
              </a:rPr>
              <a:t>5</a:t>
            </a:r>
            <a:endParaRPr lang="en-US" sz="1800" dirty="0"/>
          </a:p>
        </p:txBody>
      </p:sp>
      <p:sp>
        <p:nvSpPr>
          <p:cNvPr id="26" name="Text 22"/>
          <p:cNvSpPr/>
          <p:nvPr/>
        </p:nvSpPr>
        <p:spPr>
          <a:xfrm>
            <a:off x="4754880" y="6336792"/>
            <a:ext cx="6949440" cy="365760"/>
          </a:xfrm>
          <a:prstGeom prst="rect">
            <a:avLst/>
          </a:prstGeom>
          <a:noFill/>
          <a:ln/>
        </p:spPr>
        <p:txBody>
          <a:bodyPr wrap="square" lIns="0" tIns="0" rIns="0" bIns="0" rtlCol="0" anchor="ctr"/>
          <a:lstStyle/>
          <a:p>
            <a:pPr indent="0" marL="0">
              <a:buNone/>
            </a:pPr>
            <a:r>
              <a:rPr lang="en-US" sz="1100" dirty="0">
                <a:solidFill>
                  <a:srgbClr val="6F6457"/>
                </a:solidFill>
                <a:latin typeface="Arial" pitchFamily="34" charset="0"/>
                <a:ea typeface="Arial" pitchFamily="34" charset="-122"/>
                <a:cs typeface="Arial" pitchFamily="34" charset="-120"/>
              </a:rPr>
              <a:t>Sources on the last slide. ¹ EU27 figure derived from the 59M Europe (EU+UK+NO+CH) total. ⁵ US data, children.</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71310"/>
        </a:solidFill>
      </p:bgPr>
    </p:bg>
    <p:spTree>
      <p:nvGrpSpPr>
        <p:cNvPr id="1" name=""/>
        <p:cNvGrpSpPr/>
        <p:nvPr/>
      </p:nvGrpSpPr>
      <p:grpSpPr>
        <a:xfrm>
          <a:off x="0" y="0"/>
          <a:ext cx="0" cy="0"/>
          <a:chOff x="0" y="0"/>
          <a:chExt cx="0" cy="0"/>
        </a:xfrm>
      </p:grpSpPr>
      <p:sp>
        <p:nvSpPr>
          <p:cNvPr id="3" name="Text 0"/>
          <p:cNvSpPr/>
          <p:nvPr/>
        </p:nvSpPr>
        <p:spPr>
          <a:xfrm>
            <a:off x="548640" y="411480"/>
            <a:ext cx="7315200" cy="320040"/>
          </a:xfrm>
          <a:prstGeom prst="rect">
            <a:avLst/>
          </a:prstGeom>
          <a:noFill/>
          <a:ln/>
        </p:spPr>
        <p:txBody>
          <a:bodyPr wrap="square" lIns="0" tIns="0" rIns="0" bIns="0" rtlCol="0" anchor="ctr"/>
          <a:lstStyle/>
          <a:p>
            <a:pPr indent="0" marL="0">
              <a:buNone/>
            </a:pPr>
            <a:r>
              <a:rPr lang="en-US" sz="1300" b="1" spc="400" kern="0" dirty="0">
                <a:solidFill>
                  <a:srgbClr val="A89B8A"/>
                </a:solidFill>
                <a:latin typeface="Arial" pitchFamily="34" charset="0"/>
                <a:ea typeface="Arial" pitchFamily="34" charset="-122"/>
                <a:cs typeface="Arial" pitchFamily="34" charset="-120"/>
              </a:rPr>
              <a:t>THE CONTRACT</a:t>
            </a:r>
            <a:endParaRPr lang="en-US" sz="1300" dirty="0"/>
          </a:p>
        </p:txBody>
      </p:sp>
      <p:sp>
        <p:nvSpPr>
          <p:cNvPr id="4" name="Text 1"/>
          <p:cNvSpPr/>
          <p:nvPr/>
        </p:nvSpPr>
        <p:spPr>
          <a:xfrm>
            <a:off x="548640" y="731520"/>
            <a:ext cx="11094415" cy="731520"/>
          </a:xfrm>
          <a:prstGeom prst="rect">
            <a:avLst/>
          </a:prstGeom>
          <a:noFill/>
          <a:ln/>
        </p:spPr>
        <p:txBody>
          <a:bodyPr wrap="square" lIns="0" tIns="0" rIns="0" bIns="0" rtlCol="0" anchor="t"/>
          <a:lstStyle/>
          <a:p>
            <a:pPr indent="0" marL="0">
              <a:buNone/>
            </a:pPr>
            <a:r>
              <a:rPr lang="en-US" sz="4000" dirty="0">
                <a:solidFill>
                  <a:srgbClr val="F1E9DD"/>
                </a:solidFill>
                <a:latin typeface="Georgia" pitchFamily="34" charset="0"/>
                <a:ea typeface="Georgia" pitchFamily="34" charset="-122"/>
                <a:cs typeface="Georgia" pitchFamily="34" charset="-120"/>
              </a:rPr>
              <a:t>A table is a contract. We hold both sides to it.</a:t>
            </a:r>
            <a:endParaRPr lang="en-US" sz="4000" dirty="0"/>
          </a:p>
        </p:txBody>
      </p:sp>
      <p:sp>
        <p:nvSpPr>
          <p:cNvPr id="5" name="Text 2"/>
          <p:cNvSpPr/>
          <p:nvPr/>
        </p:nvSpPr>
        <p:spPr>
          <a:xfrm>
            <a:off x="548640" y="1920240"/>
            <a:ext cx="3611880" cy="274320"/>
          </a:xfrm>
          <a:prstGeom prst="rect">
            <a:avLst/>
          </a:prstGeom>
          <a:noFill/>
          <a:ln/>
        </p:spPr>
        <p:txBody>
          <a:bodyPr wrap="square" lIns="0" tIns="0" rIns="0" bIns="0" rtlCol="0" anchor="ctr"/>
          <a:lstStyle/>
          <a:p>
            <a:pPr indent="0" marL="0">
              <a:buNone/>
            </a:pPr>
            <a:r>
              <a:rPr lang="en-US" sz="1300" b="1" spc="300" kern="0" dirty="0">
                <a:solidFill>
                  <a:srgbClr val="A89B8A"/>
                </a:solidFill>
                <a:latin typeface="Arial" pitchFamily="34" charset="0"/>
                <a:ea typeface="Arial" pitchFamily="34" charset="-122"/>
                <a:cs typeface="Arial" pitchFamily="34" charset="-120"/>
              </a:rPr>
              <a:t>THE TABLE'S SIDE</a:t>
            </a:r>
            <a:endParaRPr lang="en-US" sz="1300" dirty="0"/>
          </a:p>
        </p:txBody>
      </p:sp>
      <p:pic>
        <p:nvPicPr>
          <p:cNvPr id="6" name="Image 0" descr="/Users/bera/Documents/GitHub/bainsahack/pitch/build/assets/phone.png">    </p:cNvPr>
          <p:cNvPicPr>
            <a:picLocks noChangeAspect="1"/>
          </p:cNvPicPr>
          <p:nvPr/>
        </p:nvPicPr>
        <p:blipFill>
          <a:blip r:embed="rId1"/>
          <a:stretch>
            <a:fillRect/>
          </a:stretch>
        </p:blipFill>
        <p:spPr>
          <a:xfrm>
            <a:off x="548640" y="2331720"/>
            <a:ext cx="777240" cy="777240"/>
          </a:xfrm>
          <a:prstGeom prst="rect">
            <a:avLst/>
          </a:prstGeom>
        </p:spPr>
      </p:pic>
      <p:sp>
        <p:nvSpPr>
          <p:cNvPr id="7" name="Text 3"/>
          <p:cNvSpPr/>
          <p:nvPr/>
        </p:nvSpPr>
        <p:spPr>
          <a:xfrm>
            <a:off x="1435608" y="2350008"/>
            <a:ext cx="2724912" cy="384048"/>
          </a:xfrm>
          <a:prstGeom prst="rect">
            <a:avLst/>
          </a:prstGeom>
          <a:noFill/>
          <a:ln/>
        </p:spPr>
        <p:txBody>
          <a:bodyPr wrap="square" lIns="0" tIns="0" rIns="0" bIns="0" rtlCol="0" anchor="t"/>
          <a:lstStyle/>
          <a:p>
            <a:pPr indent="0" marL="0">
              <a:buNone/>
            </a:pPr>
            <a:r>
              <a:rPr lang="en-US" sz="1900" b="1" dirty="0">
                <a:solidFill>
                  <a:srgbClr val="F1E9DD"/>
                </a:solidFill>
                <a:latin typeface="Arial" pitchFamily="34" charset="0"/>
                <a:ea typeface="Arial" pitchFamily="34" charset="-122"/>
                <a:cs typeface="Arial" pitchFamily="34" charset="-120"/>
              </a:rPr>
              <a:t>Phones as mics</a:t>
            </a:r>
            <a:endParaRPr lang="en-US" sz="1900" dirty="0"/>
          </a:p>
        </p:txBody>
      </p:sp>
      <p:sp>
        <p:nvSpPr>
          <p:cNvPr id="8" name="Text 4"/>
          <p:cNvSpPr/>
          <p:nvPr/>
        </p:nvSpPr>
        <p:spPr>
          <a:xfrm>
            <a:off x="1435608" y="2743200"/>
            <a:ext cx="2724912" cy="685800"/>
          </a:xfrm>
          <a:prstGeom prst="rect">
            <a:avLst/>
          </a:prstGeom>
          <a:noFill/>
          <a:ln/>
        </p:spPr>
        <p:txBody>
          <a:bodyPr wrap="square" lIns="0" tIns="0" rIns="0" bIns="0" rtlCol="0" anchor="t"/>
          <a:lstStyle/>
          <a:p>
            <a:pPr indent="0" marL="0">
              <a:buNone/>
            </a:pPr>
            <a:r>
              <a:rPr lang="en-US" sz="1500" dirty="0">
                <a:solidFill>
                  <a:srgbClr val="A89B8A"/>
                </a:solidFill>
                <a:latin typeface="Arial" pitchFamily="34" charset="0"/>
                <a:ea typeface="Arial" pitchFamily="34" charset="-122"/>
                <a:cs typeface="Arial" pitchFamily="34" charset="-120"/>
              </a:rPr>
              <a:t>QR join, no install. Each voice arrives named.</a:t>
            </a:r>
            <a:endParaRPr lang="en-US" sz="1500" dirty="0"/>
          </a:p>
        </p:txBody>
      </p:sp>
      <p:pic>
        <p:nvPicPr>
          <p:cNvPr id="9" name="Image 1" descr="/Users/bera/Documents/GitHub/bainsahack/pitch/build/assets/lamp.png">    </p:cNvPr>
          <p:cNvPicPr>
            <a:picLocks noChangeAspect="1"/>
          </p:cNvPicPr>
          <p:nvPr/>
        </p:nvPicPr>
        <p:blipFill>
          <a:blip r:embed="rId2"/>
          <a:stretch>
            <a:fillRect/>
          </a:stretch>
        </p:blipFill>
        <p:spPr>
          <a:xfrm>
            <a:off x="548640" y="3657600"/>
            <a:ext cx="777240" cy="777240"/>
          </a:xfrm>
          <a:prstGeom prst="rect">
            <a:avLst/>
          </a:prstGeom>
        </p:spPr>
      </p:pic>
      <p:sp>
        <p:nvSpPr>
          <p:cNvPr id="10" name="Text 5"/>
          <p:cNvSpPr/>
          <p:nvPr/>
        </p:nvSpPr>
        <p:spPr>
          <a:xfrm>
            <a:off x="1435608" y="3675888"/>
            <a:ext cx="2724912" cy="384048"/>
          </a:xfrm>
          <a:prstGeom prst="rect">
            <a:avLst/>
          </a:prstGeom>
          <a:noFill/>
          <a:ln/>
        </p:spPr>
        <p:txBody>
          <a:bodyPr wrap="square" lIns="0" tIns="0" rIns="0" bIns="0" rtlCol="0" anchor="t"/>
          <a:lstStyle/>
          <a:p>
            <a:pPr indent="0" marL="0">
              <a:buNone/>
            </a:pPr>
            <a:r>
              <a:rPr lang="en-US" sz="1900" b="1" dirty="0">
                <a:solidFill>
                  <a:srgbClr val="F1E9DD"/>
                </a:solidFill>
                <a:latin typeface="Arial" pitchFamily="34" charset="0"/>
                <a:ea typeface="Arial" pitchFamily="34" charset="-122"/>
                <a:cs typeface="Arial" pitchFamily="34" charset="-120"/>
              </a:rPr>
              <a:t>Crosstalk lamp</a:t>
            </a:r>
            <a:endParaRPr lang="en-US" sz="1900" dirty="0"/>
          </a:p>
        </p:txBody>
      </p:sp>
      <p:sp>
        <p:nvSpPr>
          <p:cNvPr id="11" name="Text 6"/>
          <p:cNvSpPr/>
          <p:nvPr/>
        </p:nvSpPr>
        <p:spPr>
          <a:xfrm>
            <a:off x="1435608" y="4069080"/>
            <a:ext cx="2724912" cy="685800"/>
          </a:xfrm>
          <a:prstGeom prst="rect">
            <a:avLst/>
          </a:prstGeom>
          <a:noFill/>
          <a:ln/>
        </p:spPr>
        <p:txBody>
          <a:bodyPr wrap="square" lIns="0" tIns="0" rIns="0" bIns="0" rtlCol="0" anchor="t"/>
          <a:lstStyle/>
          <a:p>
            <a:pPr indent="0" marL="0">
              <a:buNone/>
            </a:pPr>
            <a:r>
              <a:rPr lang="en-US" sz="1500" dirty="0">
                <a:solidFill>
                  <a:srgbClr val="A89B8A"/>
                </a:solidFill>
                <a:latin typeface="Arial" pitchFamily="34" charset="0"/>
                <a:ea typeface="Arial" pitchFamily="34" charset="-122"/>
                <a:cs typeface="Arial" pitchFamily="34" charset="-120"/>
              </a:rPr>
              <a:t>Glows amber when two people talk at once.</a:t>
            </a:r>
            <a:endParaRPr lang="en-US" sz="1500" dirty="0"/>
          </a:p>
        </p:txBody>
      </p:sp>
      <p:pic>
        <p:nvPicPr>
          <p:cNvPr id="12" name="Image 2" descr="/Users/bera/Documents/GitHub/bainsahack/pitch/build/assets/hand.png">    </p:cNvPr>
          <p:cNvPicPr>
            <a:picLocks noChangeAspect="1"/>
          </p:cNvPicPr>
          <p:nvPr/>
        </p:nvPicPr>
        <p:blipFill>
          <a:blip r:embed="rId3"/>
          <a:stretch>
            <a:fillRect/>
          </a:stretch>
        </p:blipFill>
        <p:spPr>
          <a:xfrm>
            <a:off x="548640" y="4983480"/>
            <a:ext cx="777240" cy="777240"/>
          </a:xfrm>
          <a:prstGeom prst="rect">
            <a:avLst/>
          </a:prstGeom>
        </p:spPr>
      </p:pic>
      <p:sp>
        <p:nvSpPr>
          <p:cNvPr id="13" name="Text 7"/>
          <p:cNvSpPr/>
          <p:nvPr/>
        </p:nvSpPr>
        <p:spPr>
          <a:xfrm>
            <a:off x="1435608" y="5001768"/>
            <a:ext cx="2724912" cy="384048"/>
          </a:xfrm>
          <a:prstGeom prst="rect">
            <a:avLst/>
          </a:prstGeom>
          <a:noFill/>
          <a:ln/>
        </p:spPr>
        <p:txBody>
          <a:bodyPr wrap="square" lIns="0" tIns="0" rIns="0" bIns="0" rtlCol="0" anchor="t"/>
          <a:lstStyle/>
          <a:p>
            <a:pPr indent="0" marL="0">
              <a:buNone/>
            </a:pPr>
            <a:r>
              <a:rPr lang="en-US" sz="1900" b="1" dirty="0">
                <a:solidFill>
                  <a:srgbClr val="F1E9DD"/>
                </a:solidFill>
                <a:latin typeface="Arial" pitchFamily="34" charset="0"/>
                <a:ea typeface="Arial" pitchFamily="34" charset="-122"/>
                <a:cs typeface="Arial" pitchFamily="34" charset="-120"/>
              </a:rPr>
              <a:t>One at a time</a:t>
            </a:r>
            <a:endParaRPr lang="en-US" sz="1900" dirty="0"/>
          </a:p>
        </p:txBody>
      </p:sp>
      <p:sp>
        <p:nvSpPr>
          <p:cNvPr id="14" name="Text 8"/>
          <p:cNvSpPr/>
          <p:nvPr/>
        </p:nvSpPr>
        <p:spPr>
          <a:xfrm>
            <a:off x="1435608" y="5394960"/>
            <a:ext cx="2724912" cy="685800"/>
          </a:xfrm>
          <a:prstGeom prst="rect">
            <a:avLst/>
          </a:prstGeom>
          <a:noFill/>
          <a:ln/>
        </p:spPr>
        <p:txBody>
          <a:bodyPr wrap="square" lIns="0" tIns="0" rIns="0" bIns="0" rtlCol="0" anchor="t"/>
          <a:lstStyle/>
          <a:p>
            <a:pPr indent="0" marL="0">
              <a:buNone/>
            </a:pPr>
            <a:r>
              <a:rPr lang="en-US" sz="1500" dirty="0">
                <a:solidFill>
                  <a:srgbClr val="A89B8A"/>
                </a:solidFill>
                <a:latin typeface="Arial" pitchFamily="34" charset="0"/>
                <a:ea typeface="Arial" pitchFamily="34" charset="-122"/>
                <a:cs typeface="Arial" pitchFamily="34" charset="-120"/>
              </a:rPr>
              <a:t>A gentle nudge when the talk keeps flapping.</a:t>
            </a:r>
            <a:endParaRPr lang="en-US" sz="1500" dirty="0"/>
          </a:p>
        </p:txBody>
      </p:sp>
      <p:sp>
        <p:nvSpPr>
          <p:cNvPr id="15" name="Shape 9"/>
          <p:cNvSpPr/>
          <p:nvPr/>
        </p:nvSpPr>
        <p:spPr>
          <a:xfrm>
            <a:off x="4434840" y="1965960"/>
            <a:ext cx="0" cy="4343400"/>
          </a:xfrm>
          <a:prstGeom prst="line">
            <a:avLst/>
          </a:prstGeom>
          <a:noFill/>
          <a:ln w="12700">
            <a:solidFill>
              <a:srgbClr val="3A3029"/>
            </a:solidFill>
            <a:prstDash val="solid"/>
          </a:ln>
        </p:spPr>
      </p:sp>
      <p:sp>
        <p:nvSpPr>
          <p:cNvPr id="16" name="Text 10"/>
          <p:cNvSpPr/>
          <p:nvPr/>
        </p:nvSpPr>
        <p:spPr>
          <a:xfrm>
            <a:off x="4709160" y="1920240"/>
            <a:ext cx="5486400" cy="274320"/>
          </a:xfrm>
          <a:prstGeom prst="rect">
            <a:avLst/>
          </a:prstGeom>
          <a:noFill/>
          <a:ln/>
        </p:spPr>
        <p:txBody>
          <a:bodyPr wrap="square" lIns="0" tIns="0" rIns="0" bIns="0" rtlCol="0" anchor="ctr"/>
          <a:lstStyle/>
          <a:p>
            <a:pPr indent="0" marL="0">
              <a:buNone/>
            </a:pPr>
            <a:r>
              <a:rPr lang="en-US" sz="1300" b="1" spc="300" kern="0" dirty="0">
                <a:solidFill>
                  <a:srgbClr val="7FB4FF"/>
                </a:solidFill>
                <a:latin typeface="Arial" pitchFamily="34" charset="0"/>
                <a:ea typeface="Arial" pitchFamily="34" charset="-122"/>
                <a:cs typeface="Arial" pitchFamily="34" charset="-120"/>
              </a:rPr>
              <a:t>YOUR SIDE</a:t>
            </a:r>
            <a:endParaRPr lang="en-US" sz="1300" dirty="0"/>
          </a:p>
        </p:txBody>
      </p:sp>
      <p:pic>
        <p:nvPicPr>
          <p:cNvPr id="17" name="Image 3" descr="/Users/bera/Documents/GitHub/bainsahack/pitch/build/assets/note.png">    </p:cNvPr>
          <p:cNvPicPr>
            <a:picLocks noChangeAspect="1"/>
          </p:cNvPicPr>
          <p:nvPr/>
        </p:nvPicPr>
        <p:blipFill>
          <a:blip r:embed="rId4"/>
          <a:stretch>
            <a:fillRect/>
          </a:stretch>
        </p:blipFill>
        <p:spPr>
          <a:xfrm>
            <a:off x="4709160" y="2331720"/>
            <a:ext cx="777240" cy="777240"/>
          </a:xfrm>
          <a:prstGeom prst="rect">
            <a:avLst/>
          </a:prstGeom>
        </p:spPr>
      </p:pic>
      <p:sp>
        <p:nvSpPr>
          <p:cNvPr id="18" name="Text 11"/>
          <p:cNvSpPr/>
          <p:nvPr/>
        </p:nvSpPr>
        <p:spPr>
          <a:xfrm>
            <a:off x="5596128" y="2350008"/>
            <a:ext cx="2496312" cy="384048"/>
          </a:xfrm>
          <a:prstGeom prst="rect">
            <a:avLst/>
          </a:prstGeom>
          <a:noFill/>
          <a:ln/>
        </p:spPr>
        <p:txBody>
          <a:bodyPr wrap="square" lIns="0" tIns="0" rIns="0" bIns="0" rtlCol="0" anchor="t"/>
          <a:lstStyle/>
          <a:p>
            <a:pPr indent="0" marL="0">
              <a:buNone/>
            </a:pPr>
            <a:r>
              <a:rPr lang="en-US" sz="1900" b="1" dirty="0">
                <a:solidFill>
                  <a:srgbClr val="F1E9DD"/>
                </a:solidFill>
                <a:latin typeface="Arial" pitchFamily="34" charset="0"/>
                <a:ea typeface="Arial" pitchFamily="34" charset="-122"/>
                <a:cs typeface="Arial" pitchFamily="34" charset="-120"/>
              </a:rPr>
              <a:t>Plans, with why</a:t>
            </a:r>
            <a:endParaRPr lang="en-US" sz="1900" dirty="0"/>
          </a:p>
        </p:txBody>
      </p:sp>
      <p:sp>
        <p:nvSpPr>
          <p:cNvPr id="19" name="Text 12"/>
          <p:cNvSpPr/>
          <p:nvPr/>
        </p:nvSpPr>
        <p:spPr>
          <a:xfrm>
            <a:off x="5596128" y="2743200"/>
            <a:ext cx="2496312" cy="685800"/>
          </a:xfrm>
          <a:prstGeom prst="rect">
            <a:avLst/>
          </a:prstGeom>
          <a:noFill/>
          <a:ln/>
        </p:spPr>
        <p:txBody>
          <a:bodyPr wrap="square" lIns="0" tIns="0" rIns="0" bIns="0" rtlCol="0" anchor="t"/>
          <a:lstStyle/>
          <a:p>
            <a:pPr indent="0" marL="0">
              <a:buNone/>
            </a:pPr>
            <a:r>
              <a:rPr lang="en-US" sz="1500" dirty="0">
                <a:solidFill>
                  <a:srgbClr val="A89B8A"/>
                </a:solidFill>
                <a:latin typeface="Arial" pitchFamily="34" charset="0"/>
                <a:ea typeface="Arial" pitchFamily="34" charset="-122"/>
                <a:cs typeface="Arial" pitchFamily="34" charset="-120"/>
              </a:rPr>
              <a:t>Sunday at nonna's: who brings what, and why.</a:t>
            </a:r>
            <a:endParaRPr lang="en-US" sz="1500" dirty="0"/>
          </a:p>
        </p:txBody>
      </p:sp>
      <p:pic>
        <p:nvPicPr>
          <p:cNvPr id="20" name="Image 4" descr="/Users/bera/Documents/GitHub/bainsahack/pitch/build/assets/bell.png">    </p:cNvPr>
          <p:cNvPicPr>
            <a:picLocks noChangeAspect="1"/>
          </p:cNvPicPr>
          <p:nvPr/>
        </p:nvPicPr>
        <p:blipFill>
          <a:blip r:embed="rId5"/>
          <a:stretch>
            <a:fillRect/>
          </a:stretch>
        </p:blipFill>
        <p:spPr>
          <a:xfrm>
            <a:off x="8275320" y="2331720"/>
            <a:ext cx="777240" cy="777240"/>
          </a:xfrm>
          <a:prstGeom prst="rect">
            <a:avLst/>
          </a:prstGeom>
        </p:spPr>
      </p:pic>
      <p:sp>
        <p:nvSpPr>
          <p:cNvPr id="21" name="Text 13"/>
          <p:cNvSpPr/>
          <p:nvPr/>
        </p:nvSpPr>
        <p:spPr>
          <a:xfrm>
            <a:off x="9162288" y="2350008"/>
            <a:ext cx="2496312" cy="384048"/>
          </a:xfrm>
          <a:prstGeom prst="rect">
            <a:avLst/>
          </a:prstGeom>
          <a:noFill/>
          <a:ln/>
        </p:spPr>
        <p:txBody>
          <a:bodyPr wrap="square" lIns="0" tIns="0" rIns="0" bIns="0" rtlCol="0" anchor="t"/>
          <a:lstStyle/>
          <a:p>
            <a:pPr indent="0" marL="0">
              <a:buNone/>
            </a:pPr>
            <a:r>
              <a:rPr lang="en-US" sz="1900" b="1" dirty="0">
                <a:solidFill>
                  <a:srgbClr val="F1C76A"/>
                </a:solidFill>
                <a:latin typeface="Arial" pitchFamily="34" charset="0"/>
                <a:ea typeface="Arial" pitchFamily="34" charset="-122"/>
                <a:cs typeface="Arial" pitchFamily="34" charset="-120"/>
              </a:rPr>
              <a:t>Asked you</a:t>
            </a:r>
            <a:endParaRPr lang="en-US" sz="1900" dirty="0"/>
          </a:p>
        </p:txBody>
      </p:sp>
      <p:sp>
        <p:nvSpPr>
          <p:cNvPr id="22" name="Text 14"/>
          <p:cNvSpPr/>
          <p:nvPr/>
        </p:nvSpPr>
        <p:spPr>
          <a:xfrm>
            <a:off x="9162288" y="2743200"/>
            <a:ext cx="2496312" cy="685800"/>
          </a:xfrm>
          <a:prstGeom prst="rect">
            <a:avLst/>
          </a:prstGeom>
          <a:noFill/>
          <a:ln/>
        </p:spPr>
        <p:txBody>
          <a:bodyPr wrap="square" lIns="0" tIns="0" rIns="0" bIns="0" rtlCol="0" anchor="t"/>
          <a:lstStyle/>
          <a:p>
            <a:pPr indent="0" marL="0">
              <a:buNone/>
            </a:pPr>
            <a:r>
              <a:rPr lang="en-US" sz="1500" dirty="0">
                <a:solidFill>
                  <a:srgbClr val="A89B8A"/>
                </a:solidFill>
                <a:latin typeface="Arial" pitchFamily="34" charset="0"/>
                <a:ea typeface="Arial" pitchFamily="34" charset="-122"/>
                <a:cs typeface="Arial" pitchFamily="34" charset="-120"/>
              </a:rPr>
              <a:t>The moment someone asks you, with a buzz.</a:t>
            </a:r>
            <a:endParaRPr lang="en-US" sz="1500" dirty="0"/>
          </a:p>
        </p:txBody>
      </p:sp>
      <p:pic>
        <p:nvPicPr>
          <p:cNvPr id="23" name="Image 5" descr="/Users/bera/Documents/GitHub/bainsahack/pitch/build/assets/popper.png">    </p:cNvPr>
          <p:cNvPicPr>
            <a:picLocks noChangeAspect="1"/>
          </p:cNvPicPr>
          <p:nvPr/>
        </p:nvPicPr>
        <p:blipFill>
          <a:blip r:embed="rId6"/>
          <a:stretch>
            <a:fillRect/>
          </a:stretch>
        </p:blipFill>
        <p:spPr>
          <a:xfrm>
            <a:off x="4709160" y="3657600"/>
            <a:ext cx="777240" cy="777240"/>
          </a:xfrm>
          <a:prstGeom prst="rect">
            <a:avLst/>
          </a:prstGeom>
        </p:spPr>
      </p:pic>
      <p:sp>
        <p:nvSpPr>
          <p:cNvPr id="24" name="Text 15"/>
          <p:cNvSpPr/>
          <p:nvPr/>
        </p:nvSpPr>
        <p:spPr>
          <a:xfrm>
            <a:off x="5596128" y="3675888"/>
            <a:ext cx="2496312" cy="384048"/>
          </a:xfrm>
          <a:prstGeom prst="rect">
            <a:avLst/>
          </a:prstGeom>
          <a:noFill/>
          <a:ln/>
        </p:spPr>
        <p:txBody>
          <a:bodyPr wrap="square" lIns="0" tIns="0" rIns="0" bIns="0" rtlCol="0" anchor="t"/>
          <a:lstStyle/>
          <a:p>
            <a:pPr indent="0" marL="0">
              <a:buNone/>
            </a:pPr>
            <a:r>
              <a:rPr lang="en-US" sz="1900" b="1" dirty="0">
                <a:solidFill>
                  <a:srgbClr val="F1E9DD"/>
                </a:solidFill>
                <a:latin typeface="Arial" pitchFamily="34" charset="0"/>
                <a:ea typeface="Arial" pitchFamily="34" charset="-122"/>
                <a:cs typeface="Arial" pitchFamily="34" charset="-120"/>
              </a:rPr>
              <a:t>Why they laughed</a:t>
            </a:r>
            <a:endParaRPr lang="en-US" sz="1900" dirty="0"/>
          </a:p>
        </p:txBody>
      </p:sp>
      <p:sp>
        <p:nvSpPr>
          <p:cNvPr id="25" name="Text 16"/>
          <p:cNvSpPr/>
          <p:nvPr/>
        </p:nvSpPr>
        <p:spPr>
          <a:xfrm>
            <a:off x="5596128" y="4069080"/>
            <a:ext cx="2496312" cy="685800"/>
          </a:xfrm>
          <a:prstGeom prst="rect">
            <a:avLst/>
          </a:prstGeom>
          <a:noFill/>
          <a:ln/>
        </p:spPr>
        <p:txBody>
          <a:bodyPr wrap="square" lIns="0" tIns="0" rIns="0" bIns="0" rtlCol="0" anchor="t"/>
          <a:lstStyle/>
          <a:p>
            <a:pPr indent="0" marL="0">
              <a:buNone/>
            </a:pPr>
            <a:r>
              <a:rPr lang="en-US" sz="1500" dirty="0">
                <a:solidFill>
                  <a:srgbClr val="A89B8A"/>
                </a:solidFill>
                <a:latin typeface="Arial" pitchFamily="34" charset="0"/>
                <a:ea typeface="Arial" pitchFamily="34" charset="-122"/>
                <a:cs typeface="Arial" pitchFamily="34" charset="-120"/>
              </a:rPr>
              <a:t>The joke itself, so you can laugh for real.</a:t>
            </a:r>
            <a:endParaRPr lang="en-US" sz="1500" dirty="0"/>
          </a:p>
        </p:txBody>
      </p:sp>
      <p:pic>
        <p:nvPicPr>
          <p:cNvPr id="26" name="Image 6" descr="/Users/bera/Documents/GitHub/bainsahack/pitch/build/assets/mug.png">    </p:cNvPr>
          <p:cNvPicPr>
            <a:picLocks noChangeAspect="1"/>
          </p:cNvPicPr>
          <p:nvPr/>
        </p:nvPicPr>
        <p:blipFill>
          <a:blip r:embed="rId7"/>
          <a:stretch>
            <a:fillRect/>
          </a:stretch>
        </p:blipFill>
        <p:spPr>
          <a:xfrm>
            <a:off x="8275320" y="3657600"/>
            <a:ext cx="777240" cy="777240"/>
          </a:xfrm>
          <a:prstGeom prst="rect">
            <a:avLst/>
          </a:prstGeom>
        </p:spPr>
      </p:pic>
      <p:sp>
        <p:nvSpPr>
          <p:cNvPr id="27" name="Text 17"/>
          <p:cNvSpPr/>
          <p:nvPr/>
        </p:nvSpPr>
        <p:spPr>
          <a:xfrm>
            <a:off x="9162288" y="3675888"/>
            <a:ext cx="2496312" cy="384048"/>
          </a:xfrm>
          <a:prstGeom prst="rect">
            <a:avLst/>
          </a:prstGeom>
          <a:noFill/>
          <a:ln/>
        </p:spPr>
        <p:txBody>
          <a:bodyPr wrap="square" lIns="0" tIns="0" rIns="0" bIns="0" rtlCol="0" anchor="t"/>
          <a:lstStyle/>
          <a:p>
            <a:pPr indent="0" marL="0">
              <a:buNone/>
            </a:pPr>
            <a:r>
              <a:rPr lang="en-US" sz="1900" b="1" dirty="0">
                <a:solidFill>
                  <a:srgbClr val="F1E9DD"/>
                </a:solidFill>
                <a:latin typeface="Arial" pitchFamily="34" charset="0"/>
                <a:ea typeface="Arial" pitchFamily="34" charset="-122"/>
                <a:cs typeface="Arial" pitchFamily="34" charset="-120"/>
              </a:rPr>
              <a:t>Look-away catch-up</a:t>
            </a:r>
            <a:endParaRPr lang="en-US" sz="1900" dirty="0"/>
          </a:p>
        </p:txBody>
      </p:sp>
      <p:sp>
        <p:nvSpPr>
          <p:cNvPr id="28" name="Text 18"/>
          <p:cNvSpPr/>
          <p:nvPr/>
        </p:nvSpPr>
        <p:spPr>
          <a:xfrm>
            <a:off x="9162288" y="4069080"/>
            <a:ext cx="2496312" cy="685800"/>
          </a:xfrm>
          <a:prstGeom prst="rect">
            <a:avLst/>
          </a:prstGeom>
          <a:noFill/>
          <a:ln/>
        </p:spPr>
        <p:txBody>
          <a:bodyPr wrap="square" lIns="0" tIns="0" rIns="0" bIns="0" rtlCol="0" anchor="t"/>
          <a:lstStyle/>
          <a:p>
            <a:pPr indent="0" marL="0">
              <a:buNone/>
            </a:pPr>
            <a:r>
              <a:rPr lang="en-US" sz="1500" dirty="0">
                <a:solidFill>
                  <a:srgbClr val="A89B8A"/>
                </a:solidFill>
                <a:latin typeface="Arial" pitchFamily="34" charset="0"/>
                <a:ea typeface="Arial" pitchFamily="34" charset="-122"/>
                <a:cs typeface="Arial" pitchFamily="34" charset="-120"/>
              </a:rPr>
              <a:t>Look back up and the card opens itself.</a:t>
            </a:r>
            <a:endParaRPr lang="en-US" sz="1500" dirty="0"/>
          </a:p>
        </p:txBody>
      </p:sp>
      <p:pic>
        <p:nvPicPr>
          <p:cNvPr id="29" name="Image 7" descr="/Users/bera/Documents/GitHub/bainsahack/pitch/build/assets/card.png">    </p:cNvPr>
          <p:cNvPicPr>
            <a:picLocks noChangeAspect="1"/>
          </p:cNvPicPr>
          <p:nvPr/>
        </p:nvPicPr>
        <p:blipFill>
          <a:blip r:embed="rId8"/>
          <a:stretch>
            <a:fillRect/>
          </a:stretch>
        </p:blipFill>
        <p:spPr>
          <a:xfrm>
            <a:off x="4709160" y="4983480"/>
            <a:ext cx="777240" cy="777240"/>
          </a:xfrm>
          <a:prstGeom prst="rect">
            <a:avLst/>
          </a:prstGeom>
        </p:spPr>
      </p:pic>
      <p:sp>
        <p:nvSpPr>
          <p:cNvPr id="30" name="Text 19"/>
          <p:cNvSpPr/>
          <p:nvPr/>
        </p:nvSpPr>
        <p:spPr>
          <a:xfrm>
            <a:off x="5596128" y="5001768"/>
            <a:ext cx="2496312" cy="384048"/>
          </a:xfrm>
          <a:prstGeom prst="rect">
            <a:avLst/>
          </a:prstGeom>
          <a:noFill/>
          <a:ln/>
        </p:spPr>
        <p:txBody>
          <a:bodyPr wrap="square" lIns="0" tIns="0" rIns="0" bIns="0" rtlCol="0" anchor="t"/>
          <a:lstStyle/>
          <a:p>
            <a:pPr indent="0" marL="0">
              <a:buNone/>
            </a:pPr>
            <a:r>
              <a:rPr lang="en-US" sz="1900" b="1" dirty="0">
                <a:solidFill>
                  <a:srgbClr val="F1E9DD"/>
                </a:solidFill>
                <a:latin typeface="Arial" pitchFamily="34" charset="0"/>
                <a:ea typeface="Arial" pitchFamily="34" charset="-122"/>
                <a:cs typeface="Arial" pitchFamily="34" charset="-120"/>
              </a:rPr>
              <a:t>Say it as text</a:t>
            </a:r>
            <a:endParaRPr lang="en-US" sz="1900" dirty="0"/>
          </a:p>
        </p:txBody>
      </p:sp>
      <p:sp>
        <p:nvSpPr>
          <p:cNvPr id="31" name="Text 20"/>
          <p:cNvSpPr/>
          <p:nvPr/>
        </p:nvSpPr>
        <p:spPr>
          <a:xfrm>
            <a:off x="5596128" y="5394960"/>
            <a:ext cx="2496312" cy="685800"/>
          </a:xfrm>
          <a:prstGeom prst="rect">
            <a:avLst/>
          </a:prstGeom>
          <a:noFill/>
          <a:ln/>
        </p:spPr>
        <p:txBody>
          <a:bodyPr wrap="square" lIns="0" tIns="0" rIns="0" bIns="0" rtlCol="0" anchor="t"/>
          <a:lstStyle/>
          <a:p>
            <a:pPr indent="0" marL="0">
              <a:buNone/>
            </a:pPr>
            <a:r>
              <a:rPr lang="en-US" sz="1500" dirty="0">
                <a:solidFill>
                  <a:srgbClr val="A89B8A"/>
                </a:solidFill>
                <a:latin typeface="Arial" pitchFamily="34" charset="0"/>
                <a:ea typeface="Arial" pitchFamily="34" charset="-122"/>
                <a:cs typeface="Arial" pitchFamily="34" charset="-120"/>
              </a:rPr>
              <a:t>One tap, shown on every phone at the table.</a:t>
            </a:r>
            <a:endParaRPr lang="en-US" sz="1500" dirty="0"/>
          </a:p>
        </p:txBody>
      </p:sp>
      <p:pic>
        <p:nvPicPr>
          <p:cNvPr id="32" name="Image 8" descr="/Users/bera/Documents/GitHub/bainsahack/pitch/build/assets/eraser.png">    </p:cNvPr>
          <p:cNvPicPr>
            <a:picLocks noChangeAspect="1"/>
          </p:cNvPicPr>
          <p:nvPr/>
        </p:nvPicPr>
        <p:blipFill>
          <a:blip r:embed="rId9"/>
          <a:stretch>
            <a:fillRect/>
          </a:stretch>
        </p:blipFill>
        <p:spPr>
          <a:xfrm>
            <a:off x="8275320" y="4983480"/>
            <a:ext cx="777240" cy="777240"/>
          </a:xfrm>
          <a:prstGeom prst="rect">
            <a:avLst/>
          </a:prstGeom>
        </p:spPr>
      </p:pic>
      <p:sp>
        <p:nvSpPr>
          <p:cNvPr id="33" name="Text 21"/>
          <p:cNvSpPr/>
          <p:nvPr/>
        </p:nvSpPr>
        <p:spPr>
          <a:xfrm>
            <a:off x="9162288" y="5001768"/>
            <a:ext cx="2496312" cy="384048"/>
          </a:xfrm>
          <a:prstGeom prst="rect">
            <a:avLst/>
          </a:prstGeom>
          <a:noFill/>
          <a:ln/>
        </p:spPr>
        <p:txBody>
          <a:bodyPr wrap="square" lIns="0" tIns="0" rIns="0" bIns="0" rtlCol="0" anchor="t"/>
          <a:lstStyle/>
          <a:p>
            <a:pPr indent="0" marL="0">
              <a:buNone/>
            </a:pPr>
            <a:r>
              <a:rPr lang="en-US" sz="1900" b="1" dirty="0">
                <a:solidFill>
                  <a:srgbClr val="F1E9DD"/>
                </a:solidFill>
                <a:latin typeface="Arial" pitchFamily="34" charset="0"/>
                <a:ea typeface="Arial" pitchFamily="34" charset="-122"/>
                <a:cs typeface="Arial" pitchFamily="34" charset="-120"/>
              </a:rPr>
              <a:t>Doubt words</a:t>
            </a:r>
            <a:endParaRPr lang="en-US" sz="1900" dirty="0"/>
          </a:p>
        </p:txBody>
      </p:sp>
      <p:sp>
        <p:nvSpPr>
          <p:cNvPr id="34" name="Text 22"/>
          <p:cNvSpPr/>
          <p:nvPr/>
        </p:nvSpPr>
        <p:spPr>
          <a:xfrm>
            <a:off x="9162288" y="5394960"/>
            <a:ext cx="2496312" cy="685800"/>
          </a:xfrm>
          <a:prstGeom prst="rect">
            <a:avLst/>
          </a:prstGeom>
          <a:noFill/>
          <a:ln/>
        </p:spPr>
        <p:txBody>
          <a:bodyPr wrap="square" lIns="0" tIns="0" rIns="0" bIns="0" rtlCol="0" anchor="t"/>
          <a:lstStyle/>
          <a:p>
            <a:pPr indent="0" marL="0">
              <a:buNone/>
            </a:pPr>
            <a:r>
              <a:rPr lang="en-US" sz="1500" dirty="0">
                <a:solidFill>
                  <a:srgbClr val="A89B8A"/>
                </a:solidFill>
                <a:latin typeface="Arial" pitchFamily="34" charset="0"/>
                <a:ea typeface="Arial" pitchFamily="34" charset="-122"/>
                <a:cs typeface="Arial" pitchFamily="34" charset="-120"/>
              </a:rPr>
              <a:t>Unsure words dimmed. Tap to ask again.</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71310"/>
        </a:solidFill>
      </p:bgPr>
    </p:bg>
    <p:spTree>
      <p:nvGrpSpPr>
        <p:cNvPr id="1" name=""/>
        <p:cNvGrpSpPr/>
        <p:nvPr/>
      </p:nvGrpSpPr>
      <p:grpSpPr>
        <a:xfrm>
          <a:off x="0" y="0"/>
          <a:ext cx="0" cy="0"/>
          <a:chOff x="0" y="0"/>
          <a:chExt cx="0" cy="0"/>
        </a:xfrm>
      </p:grpSpPr>
      <p:sp>
        <p:nvSpPr>
          <p:cNvPr id="3" name="Text 0"/>
          <p:cNvSpPr/>
          <p:nvPr/>
        </p:nvSpPr>
        <p:spPr>
          <a:xfrm>
            <a:off x="548640" y="411480"/>
            <a:ext cx="7315200" cy="320040"/>
          </a:xfrm>
          <a:prstGeom prst="rect">
            <a:avLst/>
          </a:prstGeom>
          <a:noFill/>
          <a:ln/>
        </p:spPr>
        <p:txBody>
          <a:bodyPr wrap="square" lIns="0" tIns="0" rIns="0" bIns="0" rtlCol="0" anchor="ctr"/>
          <a:lstStyle/>
          <a:p>
            <a:pPr indent="0" marL="0">
              <a:buNone/>
            </a:pPr>
            <a:r>
              <a:rPr lang="en-US" sz="1300" b="1" spc="400" kern="0" dirty="0">
                <a:solidFill>
                  <a:srgbClr val="A89B8A"/>
                </a:solidFill>
                <a:latin typeface="Arial" pitchFamily="34" charset="0"/>
                <a:ea typeface="Arial" pitchFamily="34" charset="-122"/>
                <a:cs typeface="Arial" pitchFamily="34" charset="-120"/>
              </a:rPr>
              <a:t>LIVE DEMO  ·  90 SECONDS</a:t>
            </a:r>
            <a:endParaRPr lang="en-US" sz="1300" dirty="0"/>
          </a:p>
        </p:txBody>
      </p:sp>
      <p:sp>
        <p:nvSpPr>
          <p:cNvPr id="4" name="Shape 1"/>
          <p:cNvSpPr/>
          <p:nvPr/>
        </p:nvSpPr>
        <p:spPr>
          <a:xfrm>
            <a:off x="512064" y="832104"/>
            <a:ext cx="5730240" cy="4050792"/>
          </a:xfrm>
          <a:prstGeom prst="rect">
            <a:avLst/>
          </a:prstGeom>
          <a:solidFill>
            <a:srgbClr val="3A3029"/>
          </a:solidFill>
          <a:ln w="12700">
            <a:solidFill>
              <a:srgbClr val="3A3029"/>
            </a:solidFill>
            <a:prstDash val="solid"/>
          </a:ln>
        </p:spPr>
      </p:sp>
      <p:pic>
        <p:nvPicPr>
          <p:cNvPr id="5" name="Image 0" descr="/Users/bera/Documents/GitHub/bainsahack/pitch/build/assets/table-app.png">    </p:cNvPr>
          <p:cNvPicPr>
            <a:picLocks noChangeAspect="1"/>
          </p:cNvPicPr>
          <p:nvPr/>
        </p:nvPicPr>
        <p:blipFill>
          <a:blip r:embed="rId1"/>
          <a:stretch>
            <a:fillRect/>
          </a:stretch>
        </p:blipFill>
        <p:spPr>
          <a:xfrm>
            <a:off x="548640" y="868680"/>
            <a:ext cx="5657088" cy="3977640"/>
          </a:xfrm>
          <a:prstGeom prst="rect">
            <a:avLst/>
          </a:prstGeom>
        </p:spPr>
      </p:pic>
      <p:sp>
        <p:nvSpPr>
          <p:cNvPr id="6" name="Text 2"/>
          <p:cNvSpPr/>
          <p:nvPr/>
        </p:nvSpPr>
        <p:spPr>
          <a:xfrm>
            <a:off x="6617208" y="868680"/>
            <a:ext cx="5025847" cy="1188720"/>
          </a:xfrm>
          <a:prstGeom prst="rect">
            <a:avLst/>
          </a:prstGeom>
          <a:noFill/>
          <a:ln/>
        </p:spPr>
        <p:txBody>
          <a:bodyPr wrap="square" lIns="0" tIns="0" rIns="0" bIns="0" rtlCol="0" anchor="t"/>
          <a:lstStyle/>
          <a:p>
            <a:pPr indent="0" marL="0">
              <a:buNone/>
            </a:pPr>
            <a:r>
              <a:rPr lang="en-US" sz="3000" dirty="0">
                <a:solidFill>
                  <a:srgbClr val="F1E9DD"/>
                </a:solidFill>
                <a:latin typeface="Georgia" pitchFamily="34" charset="0"/>
                <a:ea typeface="Georgia" pitchFamily="34" charset="-122"/>
                <a:cs typeface="Georgia" pitchFamily="34" charset="-120"/>
              </a:rPr>
              <a:t>A family Sunday lunch. Three phones, one clerk.</a:t>
            </a:r>
            <a:endParaRPr lang="en-US" sz="3000" dirty="0"/>
          </a:p>
        </p:txBody>
      </p:sp>
      <p:sp>
        <p:nvSpPr>
          <p:cNvPr id="7" name="Text 3"/>
          <p:cNvSpPr/>
          <p:nvPr/>
        </p:nvSpPr>
        <p:spPr>
          <a:xfrm>
            <a:off x="6617208" y="2331720"/>
            <a:ext cx="5025847" cy="1554480"/>
          </a:xfrm>
          <a:prstGeom prst="rect">
            <a:avLst/>
          </a:prstGeom>
          <a:noFill/>
          <a:ln/>
        </p:spPr>
        <p:txBody>
          <a:bodyPr wrap="square" lIns="0" tIns="0" rIns="0" bIns="0" rtlCol="0" anchor="t"/>
          <a:lstStyle/>
          <a:p>
            <a:pPr indent="0" marL="0">
              <a:buNone/>
            </a:pPr>
            <a:r>
              <a:rPr lang="en-US" sz="2100" i="1" dirty="0">
                <a:solidFill>
                  <a:srgbClr val="A89B8A"/>
                </a:solidFill>
                <a:latin typeface="Georgia" pitchFamily="34" charset="0"/>
                <a:ea typeface="Georgia" pitchFamily="34" charset="-122"/>
                <a:cs typeface="Georgia" pitchFamily="34" charset="-120"/>
              </a:rPr>
              <a:t>Not a transcript. The plan, the joke, the question aimed at you, and a way back in.</a:t>
            </a:r>
            <a:endParaRPr lang="en-US" sz="2100" dirty="0"/>
          </a:p>
        </p:txBody>
      </p:sp>
      <p:sp>
        <p:nvSpPr>
          <p:cNvPr id="8" name="Text 4"/>
          <p:cNvSpPr/>
          <p:nvPr/>
        </p:nvSpPr>
        <p:spPr>
          <a:xfrm>
            <a:off x="6617208" y="4069080"/>
            <a:ext cx="5025847" cy="731520"/>
          </a:xfrm>
          <a:prstGeom prst="rect">
            <a:avLst/>
          </a:prstGeom>
          <a:noFill/>
          <a:ln/>
        </p:spPr>
        <p:txBody>
          <a:bodyPr wrap="square" lIns="0" tIns="0" rIns="0" bIns="0" rtlCol="0" anchor="t"/>
          <a:lstStyle/>
          <a:p>
            <a:pPr indent="0" marL="0">
              <a:buNone/>
            </a:pPr>
            <a:r>
              <a:rPr lang="en-US" sz="1400" dirty="0">
                <a:solidFill>
                  <a:srgbClr val="6F6457"/>
                </a:solidFill>
                <a:latin typeface="Arial" pitchFamily="34" charset="0"/>
                <a:ea typeface="Arial" pitchFamily="34" charset="-122"/>
                <a:cs typeface="Arial" pitchFamily="34" charset="-120"/>
              </a:rPr>
              <a:t>Backup: ?replay=demo2 replays the same cards, no mic needed.</a:t>
            </a:r>
            <a:endParaRPr lang="en-US" sz="1400" dirty="0"/>
          </a:p>
        </p:txBody>
      </p:sp>
      <p:sp>
        <p:nvSpPr>
          <p:cNvPr id="9" name="Shape 5"/>
          <p:cNvSpPr/>
          <p:nvPr/>
        </p:nvSpPr>
        <p:spPr>
          <a:xfrm>
            <a:off x="822960" y="5257800"/>
            <a:ext cx="10545775" cy="0"/>
          </a:xfrm>
          <a:prstGeom prst="line">
            <a:avLst/>
          </a:prstGeom>
          <a:noFill/>
          <a:ln w="19050">
            <a:solidFill>
              <a:srgbClr val="3A3029"/>
            </a:solidFill>
            <a:prstDash val="solid"/>
          </a:ln>
        </p:spPr>
      </p:sp>
      <p:sp>
        <p:nvSpPr>
          <p:cNvPr id="10" name="Shape 6"/>
          <p:cNvSpPr/>
          <p:nvPr/>
        </p:nvSpPr>
        <p:spPr>
          <a:xfrm>
            <a:off x="749808" y="5184648"/>
            <a:ext cx="146304" cy="146304"/>
          </a:xfrm>
          <a:prstGeom prst="ellipse">
            <a:avLst/>
          </a:prstGeom>
          <a:solidFill>
            <a:srgbClr val="7FB4FF"/>
          </a:solidFill>
          <a:ln w="12700">
            <a:solidFill>
              <a:srgbClr val="7FB4FF"/>
            </a:solidFill>
            <a:prstDash val="solid"/>
          </a:ln>
        </p:spPr>
      </p:sp>
      <p:pic>
        <p:nvPicPr>
          <p:cNvPr id="11" name="Image 1" descr="/Users/bera/Documents/GitHub/bainsahack/pitch/build/assets/hand.png">    </p:cNvPr>
          <p:cNvPicPr>
            <a:picLocks noChangeAspect="1"/>
          </p:cNvPicPr>
          <p:nvPr/>
        </p:nvPicPr>
        <p:blipFill>
          <a:blip r:embed="rId2"/>
          <a:stretch>
            <a:fillRect/>
          </a:stretch>
        </p:blipFill>
        <p:spPr>
          <a:xfrm>
            <a:off x="594360" y="5440680"/>
            <a:ext cx="566928" cy="566928"/>
          </a:xfrm>
          <a:prstGeom prst="rect">
            <a:avLst/>
          </a:prstGeom>
        </p:spPr>
      </p:pic>
      <p:sp>
        <p:nvSpPr>
          <p:cNvPr id="12" name="Text 7"/>
          <p:cNvSpPr/>
          <p:nvPr/>
        </p:nvSpPr>
        <p:spPr>
          <a:xfrm>
            <a:off x="1234440" y="5559552"/>
            <a:ext cx="914400" cy="320040"/>
          </a:xfrm>
          <a:prstGeom prst="rect">
            <a:avLst/>
          </a:prstGeom>
          <a:noFill/>
          <a:ln/>
        </p:spPr>
        <p:txBody>
          <a:bodyPr wrap="square" lIns="0" tIns="0" rIns="0" bIns="0" rtlCol="0" anchor="ctr"/>
          <a:lstStyle/>
          <a:p>
            <a:pPr indent="0" marL="0">
              <a:buNone/>
            </a:pPr>
            <a:r>
              <a:rPr lang="en-US" sz="1600" b="1" dirty="0">
                <a:solidFill>
                  <a:srgbClr val="7FB4FF"/>
                </a:solidFill>
                <a:latin typeface="Arial" pitchFamily="34" charset="0"/>
                <a:ea typeface="Arial" pitchFamily="34" charset="-122"/>
                <a:cs typeface="Arial" pitchFamily="34" charset="-120"/>
              </a:rPr>
              <a:t>0:00</a:t>
            </a:r>
            <a:endParaRPr lang="en-US" sz="1600" dirty="0"/>
          </a:p>
        </p:txBody>
      </p:sp>
      <p:sp>
        <p:nvSpPr>
          <p:cNvPr id="13" name="Text 8"/>
          <p:cNvSpPr/>
          <p:nvPr/>
        </p:nvSpPr>
        <p:spPr>
          <a:xfrm>
            <a:off x="640080" y="6080760"/>
            <a:ext cx="1711909" cy="594360"/>
          </a:xfrm>
          <a:prstGeom prst="rect">
            <a:avLst/>
          </a:prstGeom>
          <a:noFill/>
          <a:ln/>
        </p:spPr>
        <p:txBody>
          <a:bodyPr wrap="square" lIns="0" tIns="0" rIns="0" bIns="0" rtlCol="0" anchor="t"/>
          <a:lstStyle/>
          <a:p>
            <a:pPr indent="0" marL="0">
              <a:buNone/>
            </a:pPr>
            <a:r>
              <a:rPr lang="en-US" sz="1700" dirty="0">
                <a:solidFill>
                  <a:srgbClr val="F1E9DD"/>
                </a:solidFill>
                <a:latin typeface="Arial" pitchFamily="34" charset="0"/>
                <a:ea typeface="Arial" pitchFamily="34" charset="-122"/>
                <a:cs typeface="Arial" pitchFamily="34" charset="-120"/>
              </a:rPr>
              <a:t>The flip</a:t>
            </a:r>
            <a:endParaRPr lang="en-US" sz="1700" dirty="0"/>
          </a:p>
        </p:txBody>
      </p:sp>
      <p:sp>
        <p:nvSpPr>
          <p:cNvPr id="14" name="Shape 9"/>
          <p:cNvSpPr/>
          <p:nvPr/>
        </p:nvSpPr>
        <p:spPr>
          <a:xfrm>
            <a:off x="2598877" y="5184648"/>
            <a:ext cx="146304" cy="146304"/>
          </a:xfrm>
          <a:prstGeom prst="ellipse">
            <a:avLst/>
          </a:prstGeom>
          <a:solidFill>
            <a:srgbClr val="7FB4FF"/>
          </a:solidFill>
          <a:ln w="12700">
            <a:solidFill>
              <a:srgbClr val="7FB4FF"/>
            </a:solidFill>
            <a:prstDash val="solid"/>
          </a:ln>
        </p:spPr>
      </p:sp>
      <p:pic>
        <p:nvPicPr>
          <p:cNvPr id="15" name="Image 2" descr="/Users/bera/Documents/GitHub/bainsahack/pitch/build/assets/note.png">    </p:cNvPr>
          <p:cNvPicPr>
            <a:picLocks noChangeAspect="1"/>
          </p:cNvPicPr>
          <p:nvPr/>
        </p:nvPicPr>
        <p:blipFill>
          <a:blip r:embed="rId3"/>
          <a:stretch>
            <a:fillRect/>
          </a:stretch>
        </p:blipFill>
        <p:spPr>
          <a:xfrm>
            <a:off x="2443429" y="5440680"/>
            <a:ext cx="566928" cy="566928"/>
          </a:xfrm>
          <a:prstGeom prst="rect">
            <a:avLst/>
          </a:prstGeom>
        </p:spPr>
      </p:pic>
      <p:sp>
        <p:nvSpPr>
          <p:cNvPr id="16" name="Text 10"/>
          <p:cNvSpPr/>
          <p:nvPr/>
        </p:nvSpPr>
        <p:spPr>
          <a:xfrm>
            <a:off x="3083509" y="5559552"/>
            <a:ext cx="914400" cy="320040"/>
          </a:xfrm>
          <a:prstGeom prst="rect">
            <a:avLst/>
          </a:prstGeom>
          <a:noFill/>
          <a:ln/>
        </p:spPr>
        <p:txBody>
          <a:bodyPr wrap="square" lIns="0" tIns="0" rIns="0" bIns="0" rtlCol="0" anchor="ctr"/>
          <a:lstStyle/>
          <a:p>
            <a:pPr indent="0" marL="0">
              <a:buNone/>
            </a:pPr>
            <a:r>
              <a:rPr lang="en-US" sz="1600" b="1" dirty="0">
                <a:solidFill>
                  <a:srgbClr val="7FB4FF"/>
                </a:solidFill>
                <a:latin typeface="Arial" pitchFamily="34" charset="0"/>
                <a:ea typeface="Arial" pitchFamily="34" charset="-122"/>
                <a:cs typeface="Arial" pitchFamily="34" charset="-120"/>
              </a:rPr>
              <a:t>0:15</a:t>
            </a:r>
            <a:endParaRPr lang="en-US" sz="1600" dirty="0"/>
          </a:p>
        </p:txBody>
      </p:sp>
      <p:sp>
        <p:nvSpPr>
          <p:cNvPr id="17" name="Text 11"/>
          <p:cNvSpPr/>
          <p:nvPr/>
        </p:nvSpPr>
        <p:spPr>
          <a:xfrm>
            <a:off x="2489149" y="6080760"/>
            <a:ext cx="1711909" cy="594360"/>
          </a:xfrm>
          <a:prstGeom prst="rect">
            <a:avLst/>
          </a:prstGeom>
          <a:noFill/>
          <a:ln/>
        </p:spPr>
        <p:txBody>
          <a:bodyPr wrap="square" lIns="0" tIns="0" rIns="0" bIns="0" rtlCol="0" anchor="t"/>
          <a:lstStyle/>
          <a:p>
            <a:pPr indent="0" marL="0">
              <a:buNone/>
            </a:pPr>
            <a:r>
              <a:rPr lang="en-US" sz="1700" dirty="0">
                <a:solidFill>
                  <a:srgbClr val="F1E9DD"/>
                </a:solidFill>
                <a:latin typeface="Arial" pitchFamily="34" charset="0"/>
                <a:ea typeface="Arial" pitchFamily="34" charset="-122"/>
                <a:cs typeface="Arial" pitchFamily="34" charset="-120"/>
              </a:rPr>
              <a:t>Plans form</a:t>
            </a:r>
            <a:endParaRPr lang="en-US" sz="1700" dirty="0"/>
          </a:p>
        </p:txBody>
      </p:sp>
      <p:sp>
        <p:nvSpPr>
          <p:cNvPr id="18" name="Shape 12"/>
          <p:cNvSpPr/>
          <p:nvPr/>
        </p:nvSpPr>
        <p:spPr>
          <a:xfrm>
            <a:off x="4447946" y="5184648"/>
            <a:ext cx="146304" cy="146304"/>
          </a:xfrm>
          <a:prstGeom prst="ellipse">
            <a:avLst/>
          </a:prstGeom>
          <a:solidFill>
            <a:srgbClr val="7FB4FF"/>
          </a:solidFill>
          <a:ln w="12700">
            <a:solidFill>
              <a:srgbClr val="7FB4FF"/>
            </a:solidFill>
            <a:prstDash val="solid"/>
          </a:ln>
        </p:spPr>
      </p:sp>
      <p:pic>
        <p:nvPicPr>
          <p:cNvPr id="19" name="Image 3" descr="/Users/bera/Documents/GitHub/bainsahack/pitch/build/assets/popper.png">    </p:cNvPr>
          <p:cNvPicPr>
            <a:picLocks noChangeAspect="1"/>
          </p:cNvPicPr>
          <p:nvPr/>
        </p:nvPicPr>
        <p:blipFill>
          <a:blip r:embed="rId4"/>
          <a:stretch>
            <a:fillRect/>
          </a:stretch>
        </p:blipFill>
        <p:spPr>
          <a:xfrm>
            <a:off x="4292498" y="5440680"/>
            <a:ext cx="566928" cy="566928"/>
          </a:xfrm>
          <a:prstGeom prst="rect">
            <a:avLst/>
          </a:prstGeom>
        </p:spPr>
      </p:pic>
      <p:sp>
        <p:nvSpPr>
          <p:cNvPr id="20" name="Text 13"/>
          <p:cNvSpPr/>
          <p:nvPr/>
        </p:nvSpPr>
        <p:spPr>
          <a:xfrm>
            <a:off x="4932578" y="5559552"/>
            <a:ext cx="914400" cy="320040"/>
          </a:xfrm>
          <a:prstGeom prst="rect">
            <a:avLst/>
          </a:prstGeom>
          <a:noFill/>
          <a:ln/>
        </p:spPr>
        <p:txBody>
          <a:bodyPr wrap="square" lIns="0" tIns="0" rIns="0" bIns="0" rtlCol="0" anchor="ctr"/>
          <a:lstStyle/>
          <a:p>
            <a:pPr indent="0" marL="0">
              <a:buNone/>
            </a:pPr>
            <a:r>
              <a:rPr lang="en-US" sz="1600" b="1" dirty="0">
                <a:solidFill>
                  <a:srgbClr val="7FB4FF"/>
                </a:solidFill>
                <a:latin typeface="Arial" pitchFamily="34" charset="0"/>
                <a:ea typeface="Arial" pitchFamily="34" charset="-122"/>
                <a:cs typeface="Arial" pitchFamily="34" charset="-120"/>
              </a:rPr>
              <a:t>0:35</a:t>
            </a:r>
            <a:endParaRPr lang="en-US" sz="1600" dirty="0"/>
          </a:p>
        </p:txBody>
      </p:sp>
      <p:sp>
        <p:nvSpPr>
          <p:cNvPr id="21" name="Text 14"/>
          <p:cNvSpPr/>
          <p:nvPr/>
        </p:nvSpPr>
        <p:spPr>
          <a:xfrm>
            <a:off x="4338218" y="6080760"/>
            <a:ext cx="1711909" cy="594360"/>
          </a:xfrm>
          <a:prstGeom prst="rect">
            <a:avLst/>
          </a:prstGeom>
          <a:noFill/>
          <a:ln/>
        </p:spPr>
        <p:txBody>
          <a:bodyPr wrap="square" lIns="0" tIns="0" rIns="0" bIns="0" rtlCol="0" anchor="t"/>
          <a:lstStyle/>
          <a:p>
            <a:pPr indent="0" marL="0">
              <a:buNone/>
            </a:pPr>
            <a:r>
              <a:rPr lang="en-US" sz="1700" dirty="0">
                <a:solidFill>
                  <a:srgbClr val="F1E9DD"/>
                </a:solidFill>
                <a:latin typeface="Arial" pitchFamily="34" charset="0"/>
                <a:ea typeface="Arial" pitchFamily="34" charset="-122"/>
                <a:cs typeface="Arial" pitchFamily="34" charset="-120"/>
              </a:rPr>
              <a:t>Why they laughed</a:t>
            </a:r>
            <a:endParaRPr lang="en-US" sz="1700" dirty="0"/>
          </a:p>
        </p:txBody>
      </p:sp>
      <p:sp>
        <p:nvSpPr>
          <p:cNvPr id="22" name="Shape 15"/>
          <p:cNvSpPr/>
          <p:nvPr/>
        </p:nvSpPr>
        <p:spPr>
          <a:xfrm>
            <a:off x="6297016" y="5184648"/>
            <a:ext cx="146304" cy="146304"/>
          </a:xfrm>
          <a:prstGeom prst="ellipse">
            <a:avLst/>
          </a:prstGeom>
          <a:solidFill>
            <a:srgbClr val="7FB4FF"/>
          </a:solidFill>
          <a:ln w="12700">
            <a:solidFill>
              <a:srgbClr val="7FB4FF"/>
            </a:solidFill>
            <a:prstDash val="solid"/>
          </a:ln>
        </p:spPr>
      </p:sp>
      <p:pic>
        <p:nvPicPr>
          <p:cNvPr id="23" name="Image 4" descr="/Users/bera/Documents/GitHub/bainsahack/pitch/build/assets/mug.png">    </p:cNvPr>
          <p:cNvPicPr>
            <a:picLocks noChangeAspect="1"/>
          </p:cNvPicPr>
          <p:nvPr/>
        </p:nvPicPr>
        <p:blipFill>
          <a:blip r:embed="rId5"/>
          <a:stretch>
            <a:fillRect/>
          </a:stretch>
        </p:blipFill>
        <p:spPr>
          <a:xfrm>
            <a:off x="6141568" y="5440680"/>
            <a:ext cx="566928" cy="566928"/>
          </a:xfrm>
          <a:prstGeom prst="rect">
            <a:avLst/>
          </a:prstGeom>
        </p:spPr>
      </p:pic>
      <p:sp>
        <p:nvSpPr>
          <p:cNvPr id="24" name="Text 16"/>
          <p:cNvSpPr/>
          <p:nvPr/>
        </p:nvSpPr>
        <p:spPr>
          <a:xfrm>
            <a:off x="6781648" y="5559552"/>
            <a:ext cx="914400" cy="320040"/>
          </a:xfrm>
          <a:prstGeom prst="rect">
            <a:avLst/>
          </a:prstGeom>
          <a:noFill/>
          <a:ln/>
        </p:spPr>
        <p:txBody>
          <a:bodyPr wrap="square" lIns="0" tIns="0" rIns="0" bIns="0" rtlCol="0" anchor="ctr"/>
          <a:lstStyle/>
          <a:p>
            <a:pPr indent="0" marL="0">
              <a:buNone/>
            </a:pPr>
            <a:r>
              <a:rPr lang="en-US" sz="1600" b="1" dirty="0">
                <a:solidFill>
                  <a:srgbClr val="7FB4FF"/>
                </a:solidFill>
                <a:latin typeface="Arial" pitchFamily="34" charset="0"/>
                <a:ea typeface="Arial" pitchFamily="34" charset="-122"/>
                <a:cs typeface="Arial" pitchFamily="34" charset="-120"/>
              </a:rPr>
              <a:t>0:45</a:t>
            </a:r>
            <a:endParaRPr lang="en-US" sz="1600" dirty="0"/>
          </a:p>
        </p:txBody>
      </p:sp>
      <p:sp>
        <p:nvSpPr>
          <p:cNvPr id="25" name="Text 17"/>
          <p:cNvSpPr/>
          <p:nvPr/>
        </p:nvSpPr>
        <p:spPr>
          <a:xfrm>
            <a:off x="6187288" y="6080760"/>
            <a:ext cx="1711909" cy="594360"/>
          </a:xfrm>
          <a:prstGeom prst="rect">
            <a:avLst/>
          </a:prstGeom>
          <a:noFill/>
          <a:ln/>
        </p:spPr>
        <p:txBody>
          <a:bodyPr wrap="square" lIns="0" tIns="0" rIns="0" bIns="0" rtlCol="0" anchor="t"/>
          <a:lstStyle/>
          <a:p>
            <a:pPr indent="0" marL="0">
              <a:buNone/>
            </a:pPr>
            <a:r>
              <a:rPr lang="en-US" sz="1700" dirty="0">
                <a:solidFill>
                  <a:srgbClr val="F1E9DD"/>
                </a:solidFill>
                <a:latin typeface="Arial" pitchFamily="34" charset="0"/>
                <a:ea typeface="Arial" pitchFamily="34" charset="-122"/>
                <a:cs typeface="Arial" pitchFamily="34" charset="-120"/>
              </a:rPr>
              <a:t>Look-away</a:t>
            </a:r>
            <a:endParaRPr lang="en-US" sz="1700" dirty="0"/>
          </a:p>
        </p:txBody>
      </p:sp>
      <p:sp>
        <p:nvSpPr>
          <p:cNvPr id="26" name="Shape 18"/>
          <p:cNvSpPr/>
          <p:nvPr/>
        </p:nvSpPr>
        <p:spPr>
          <a:xfrm>
            <a:off x="8146085" y="5184648"/>
            <a:ext cx="146304" cy="146304"/>
          </a:xfrm>
          <a:prstGeom prst="ellipse">
            <a:avLst/>
          </a:prstGeom>
          <a:solidFill>
            <a:srgbClr val="F1C76A"/>
          </a:solidFill>
          <a:ln w="12700">
            <a:solidFill>
              <a:srgbClr val="F1C76A"/>
            </a:solidFill>
            <a:prstDash val="solid"/>
          </a:ln>
        </p:spPr>
      </p:sp>
      <p:pic>
        <p:nvPicPr>
          <p:cNvPr id="27" name="Image 5" descr="/Users/bera/Documents/GitHub/bainsahack/pitch/build/assets/bell.png">    </p:cNvPr>
          <p:cNvPicPr>
            <a:picLocks noChangeAspect="1"/>
          </p:cNvPicPr>
          <p:nvPr/>
        </p:nvPicPr>
        <p:blipFill>
          <a:blip r:embed="rId6"/>
          <a:stretch>
            <a:fillRect/>
          </a:stretch>
        </p:blipFill>
        <p:spPr>
          <a:xfrm>
            <a:off x="7990637" y="5440680"/>
            <a:ext cx="566928" cy="566928"/>
          </a:xfrm>
          <a:prstGeom prst="rect">
            <a:avLst/>
          </a:prstGeom>
        </p:spPr>
      </p:pic>
      <p:sp>
        <p:nvSpPr>
          <p:cNvPr id="28" name="Text 19"/>
          <p:cNvSpPr/>
          <p:nvPr/>
        </p:nvSpPr>
        <p:spPr>
          <a:xfrm>
            <a:off x="8630717" y="5559552"/>
            <a:ext cx="914400" cy="320040"/>
          </a:xfrm>
          <a:prstGeom prst="rect">
            <a:avLst/>
          </a:prstGeom>
          <a:noFill/>
          <a:ln/>
        </p:spPr>
        <p:txBody>
          <a:bodyPr wrap="square" lIns="0" tIns="0" rIns="0" bIns="0" rtlCol="0" anchor="ctr"/>
          <a:lstStyle/>
          <a:p>
            <a:pPr indent="0" marL="0">
              <a:buNone/>
            </a:pPr>
            <a:r>
              <a:rPr lang="en-US" sz="1600" b="1" dirty="0">
                <a:solidFill>
                  <a:srgbClr val="F1C76A"/>
                </a:solidFill>
                <a:latin typeface="Arial" pitchFamily="34" charset="0"/>
                <a:ea typeface="Arial" pitchFamily="34" charset="-122"/>
                <a:cs typeface="Arial" pitchFamily="34" charset="-120"/>
              </a:rPr>
              <a:t>0:55</a:t>
            </a:r>
            <a:endParaRPr lang="en-US" sz="1600" dirty="0"/>
          </a:p>
        </p:txBody>
      </p:sp>
      <p:sp>
        <p:nvSpPr>
          <p:cNvPr id="29" name="Text 20"/>
          <p:cNvSpPr/>
          <p:nvPr/>
        </p:nvSpPr>
        <p:spPr>
          <a:xfrm>
            <a:off x="8036357" y="6080760"/>
            <a:ext cx="1711909" cy="594360"/>
          </a:xfrm>
          <a:prstGeom prst="rect">
            <a:avLst/>
          </a:prstGeom>
          <a:noFill/>
          <a:ln/>
        </p:spPr>
        <p:txBody>
          <a:bodyPr wrap="square" lIns="0" tIns="0" rIns="0" bIns="0" rtlCol="0" anchor="t"/>
          <a:lstStyle/>
          <a:p>
            <a:pPr indent="0" marL="0">
              <a:buNone/>
            </a:pPr>
            <a:r>
              <a:rPr lang="en-US" sz="1700" dirty="0">
                <a:solidFill>
                  <a:srgbClr val="F1E9DD"/>
                </a:solidFill>
                <a:latin typeface="Arial" pitchFamily="34" charset="0"/>
                <a:ea typeface="Arial" pitchFamily="34" charset="-122"/>
                <a:cs typeface="Arial" pitchFamily="34" charset="-120"/>
              </a:rPr>
              <a:t>Asked you</a:t>
            </a:r>
            <a:endParaRPr lang="en-US" sz="1700" dirty="0"/>
          </a:p>
        </p:txBody>
      </p:sp>
      <p:sp>
        <p:nvSpPr>
          <p:cNvPr id="30" name="Shape 21"/>
          <p:cNvSpPr/>
          <p:nvPr/>
        </p:nvSpPr>
        <p:spPr>
          <a:xfrm>
            <a:off x="9995154" y="5184648"/>
            <a:ext cx="146304" cy="146304"/>
          </a:xfrm>
          <a:prstGeom prst="ellipse">
            <a:avLst/>
          </a:prstGeom>
          <a:solidFill>
            <a:srgbClr val="7FB4FF"/>
          </a:solidFill>
          <a:ln w="12700">
            <a:solidFill>
              <a:srgbClr val="7FB4FF"/>
            </a:solidFill>
            <a:prstDash val="solid"/>
          </a:ln>
        </p:spPr>
      </p:sp>
      <p:pic>
        <p:nvPicPr>
          <p:cNvPr id="31" name="Image 6" descr="/Users/bera/Documents/GitHub/bainsahack/pitch/build/assets/card.png">    </p:cNvPr>
          <p:cNvPicPr>
            <a:picLocks noChangeAspect="1"/>
          </p:cNvPicPr>
          <p:nvPr/>
        </p:nvPicPr>
        <p:blipFill>
          <a:blip r:embed="rId7"/>
          <a:stretch>
            <a:fillRect/>
          </a:stretch>
        </p:blipFill>
        <p:spPr>
          <a:xfrm>
            <a:off x="9839706" y="5440680"/>
            <a:ext cx="566928" cy="566928"/>
          </a:xfrm>
          <a:prstGeom prst="rect">
            <a:avLst/>
          </a:prstGeom>
        </p:spPr>
      </p:pic>
      <p:sp>
        <p:nvSpPr>
          <p:cNvPr id="32" name="Text 22"/>
          <p:cNvSpPr/>
          <p:nvPr/>
        </p:nvSpPr>
        <p:spPr>
          <a:xfrm>
            <a:off x="10479786" y="5559552"/>
            <a:ext cx="914400" cy="320040"/>
          </a:xfrm>
          <a:prstGeom prst="rect">
            <a:avLst/>
          </a:prstGeom>
          <a:noFill/>
          <a:ln/>
        </p:spPr>
        <p:txBody>
          <a:bodyPr wrap="square" lIns="0" tIns="0" rIns="0" bIns="0" rtlCol="0" anchor="ctr"/>
          <a:lstStyle/>
          <a:p>
            <a:pPr indent="0" marL="0">
              <a:buNone/>
            </a:pPr>
            <a:r>
              <a:rPr lang="en-US" sz="1600" b="1" dirty="0">
                <a:solidFill>
                  <a:srgbClr val="7FB4FF"/>
                </a:solidFill>
                <a:latin typeface="Arial" pitchFamily="34" charset="0"/>
                <a:ea typeface="Arial" pitchFamily="34" charset="-122"/>
                <a:cs typeface="Arial" pitchFamily="34" charset="-120"/>
              </a:rPr>
              <a:t>1:05</a:t>
            </a:r>
            <a:endParaRPr lang="en-US" sz="1600" dirty="0"/>
          </a:p>
        </p:txBody>
      </p:sp>
      <p:sp>
        <p:nvSpPr>
          <p:cNvPr id="33" name="Text 23"/>
          <p:cNvSpPr/>
          <p:nvPr/>
        </p:nvSpPr>
        <p:spPr>
          <a:xfrm>
            <a:off x="9885426" y="6080760"/>
            <a:ext cx="1711909" cy="594360"/>
          </a:xfrm>
          <a:prstGeom prst="rect">
            <a:avLst/>
          </a:prstGeom>
          <a:noFill/>
          <a:ln/>
        </p:spPr>
        <p:txBody>
          <a:bodyPr wrap="square" lIns="0" tIns="0" rIns="0" bIns="0" rtlCol="0" anchor="t"/>
          <a:lstStyle/>
          <a:p>
            <a:pPr indent="0" marL="0">
              <a:buNone/>
            </a:pPr>
            <a:r>
              <a:rPr lang="en-US" sz="1700" dirty="0">
                <a:solidFill>
                  <a:srgbClr val="F1E9DD"/>
                </a:solidFill>
                <a:latin typeface="Arial" pitchFamily="34" charset="0"/>
                <a:ea typeface="Arial" pitchFamily="34" charset="-122"/>
                <a:cs typeface="Arial" pitchFamily="34" charset="-120"/>
              </a:rPr>
              <a:t>Speak for me</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71310"/>
        </a:solidFill>
      </p:bgPr>
    </p:bg>
    <p:spTree>
      <p:nvGrpSpPr>
        <p:cNvPr id="1" name=""/>
        <p:cNvGrpSpPr/>
        <p:nvPr/>
      </p:nvGrpSpPr>
      <p:grpSpPr>
        <a:xfrm>
          <a:off x="0" y="0"/>
          <a:ext cx="0" cy="0"/>
          <a:chOff x="0" y="0"/>
          <a:chExt cx="0" cy="0"/>
        </a:xfrm>
      </p:grpSpPr>
      <p:sp>
        <p:nvSpPr>
          <p:cNvPr id="3" name="Text 0"/>
          <p:cNvSpPr/>
          <p:nvPr/>
        </p:nvSpPr>
        <p:spPr>
          <a:xfrm>
            <a:off x="548640" y="411480"/>
            <a:ext cx="7315200" cy="320040"/>
          </a:xfrm>
          <a:prstGeom prst="rect">
            <a:avLst/>
          </a:prstGeom>
          <a:noFill/>
          <a:ln/>
        </p:spPr>
        <p:txBody>
          <a:bodyPr wrap="square" lIns="0" tIns="0" rIns="0" bIns="0" rtlCol="0" anchor="ctr"/>
          <a:lstStyle/>
          <a:p>
            <a:pPr indent="0" marL="0">
              <a:buNone/>
            </a:pPr>
            <a:r>
              <a:rPr lang="en-US" sz="1300" b="1" spc="400" kern="0" dirty="0">
                <a:solidFill>
                  <a:srgbClr val="A89B8A"/>
                </a:solidFill>
                <a:latin typeface="Arial" pitchFamily="34" charset="0"/>
                <a:ea typeface="Arial" pitchFamily="34" charset="-122"/>
                <a:cs typeface="Arial" pitchFamily="34" charset="-120"/>
              </a:rPr>
              <a:t>WHAT'S NEW</a:t>
            </a:r>
            <a:endParaRPr lang="en-US" sz="1300" dirty="0"/>
          </a:p>
        </p:txBody>
      </p:sp>
      <p:sp>
        <p:nvSpPr>
          <p:cNvPr id="4" name="Text 1"/>
          <p:cNvSpPr/>
          <p:nvPr/>
        </p:nvSpPr>
        <p:spPr>
          <a:xfrm>
            <a:off x="548640" y="731520"/>
            <a:ext cx="11094415" cy="731520"/>
          </a:xfrm>
          <a:prstGeom prst="rect">
            <a:avLst/>
          </a:prstGeom>
          <a:noFill/>
          <a:ln/>
        </p:spPr>
        <p:txBody>
          <a:bodyPr wrap="square" lIns="0" tIns="0" rIns="0" bIns="0" rtlCol="0" anchor="t"/>
          <a:lstStyle/>
          <a:p>
            <a:pPr indent="0" marL="0">
              <a:buNone/>
            </a:pPr>
            <a:r>
              <a:rPr lang="en-US" sz="4000" dirty="0">
                <a:solidFill>
                  <a:srgbClr val="F1E9DD"/>
                </a:solidFill>
                <a:latin typeface="Georgia" pitchFamily="34" charset="0"/>
                <a:ea typeface="Georgia" pitchFamily="34" charset="-122"/>
                <a:cs typeface="Georgia" pitchFamily="34" charset="-120"/>
              </a:rPr>
              <a:t>Ava does the mics. </a:t>
            </a:r>
            <a:pPr indent="0" marL="0">
              <a:buNone/>
            </a:pPr>
            <a:r>
              <a:rPr lang="en-US" sz="4000" dirty="0">
                <a:solidFill>
                  <a:srgbClr val="7FB4FF"/>
                </a:solidFill>
                <a:latin typeface="Georgia" pitchFamily="34" charset="0"/>
                <a:ea typeface="Georgia" pitchFamily="34" charset="-122"/>
                <a:cs typeface="Georgia" pitchFamily="34" charset="-120"/>
              </a:rPr>
              <a:t>We do what the mics are for.</a:t>
            </a:r>
            <a:endParaRPr lang="en-US" sz="4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4415" cy="914400"/>
        </p:xfrm>
        <a:graphic>
          <a:graphicData uri="http://schemas.openxmlformats.org/drawingml/2006/table">
            <a:tbl>
              <a:tblPr/>
              <a:tblGrid>
                <a:gridCol w="2743200"/>
                <a:gridCol w="3840480"/>
                <a:gridCol w="4507992"/>
              </a:tblGrid>
              <a:tr h="365760">
                <a:tc>
                  <a:txBody>
                    <a:bodyPr/>
                    <a:lstStyle/>
                    <a:p>
                      <a:pPr indent="0" marL="0">
                        <a:buNone/>
                      </a:pPr>
                      <a:r>
                        <a:rPr lang="en-US" sz="1300" b="1" spc="200" kern="0" dirty="0">
                          <a:solidFill>
                            <a:srgbClr val="A89B8A"/>
                          </a:solidFill>
                          <a:latin typeface="Arial" pitchFamily="34" charset="0"/>
                          <a:ea typeface="Arial" pitchFamily="34" charset="-122"/>
                          <a:cs typeface="Arial" pitchFamily="34" charset="-120"/>
                        </a:rPr>
                        <a:t>TOOL</a:t>
                      </a:r>
                      <a:endParaRPr lang="en-US" sz="1300" dirty="0">
                        <a:latin typeface="Arial" charset="0"/>
                        <a:ea typeface="Arial" charset="0"/>
                        <a:cs typeface="Arial" charset="0"/>
                      </a:endParaRPr>
                    </a:p>
                  </a:txBody>
                  <a:tcPr marL="137160" marR="137160" marT="91440" marB="91440" anchor="ctr">
                    <a:lnL w="12700" cap="flat" cmpd="sng" algn="ctr">
                      <a:solidFill>
                        <a:srgbClr val="171310"/>
                      </a:solidFill>
                      <a:prstDash val="solid"/>
                      <a:round/>
                      <a:headEnd type="none" w="med" len="med"/>
                      <a:tailEnd type="none" w="med" len="med"/>
                    </a:lnL>
                    <a:lnR w="12700" cap="flat" cmpd="sng" algn="ctr">
                      <a:solidFill>
                        <a:srgbClr val="171310"/>
                      </a:solidFill>
                      <a:prstDash val="solid"/>
                      <a:round/>
                      <a:headEnd type="none" w="med" len="med"/>
                      <a:tailEnd type="none" w="med" len="med"/>
                    </a:lnR>
                    <a:lnT w="12700" cap="flat" cmpd="sng" algn="ctr">
                      <a:solidFill>
                        <a:srgbClr val="171310"/>
                      </a:solidFill>
                      <a:prstDash val="solid"/>
                      <a:round/>
                      <a:headEnd type="none" w="med" len="med"/>
                      <a:tailEnd type="none" w="med" len="med"/>
                    </a:lnT>
                    <a:lnB w="12700" cap="flat" cmpd="sng" algn="ctr">
                      <a:solidFill>
                        <a:srgbClr val="171310"/>
                      </a:solidFill>
                      <a:prstDash val="solid"/>
                      <a:round/>
                      <a:headEnd type="none" w="med" len="med"/>
                      <a:tailEnd type="none" w="med" len="med"/>
                    </a:lnB>
                    <a:solidFill>
                      <a:srgbClr val="171310"/>
                    </a:solidFill>
                  </a:tcPr>
                </a:tc>
                <a:tc>
                  <a:txBody>
                    <a:bodyPr/>
                    <a:lstStyle/>
                    <a:p>
                      <a:pPr indent="0" marL="0">
                        <a:buNone/>
                      </a:pPr>
                      <a:r>
                        <a:rPr lang="en-US" sz="1300" b="1" spc="200" kern="0" dirty="0">
                          <a:solidFill>
                            <a:srgbClr val="A89B8A"/>
                          </a:solidFill>
                          <a:latin typeface="Arial" pitchFamily="34" charset="0"/>
                          <a:ea typeface="Arial" pitchFamily="34" charset="-122"/>
                          <a:cs typeface="Arial" pitchFamily="34" charset="-120"/>
                        </a:rPr>
                        <a:t>ALREADY DOES</a:t>
                      </a:r>
                      <a:endParaRPr lang="en-US" sz="1300" dirty="0">
                        <a:latin typeface="Arial" charset="0"/>
                        <a:ea typeface="Arial" charset="0"/>
                        <a:cs typeface="Arial" charset="0"/>
                      </a:endParaRPr>
                    </a:p>
                  </a:txBody>
                  <a:tcPr marL="137160" marR="137160" marT="91440" marB="91440" anchor="ctr">
                    <a:lnL w="12700" cap="flat" cmpd="sng" algn="ctr">
                      <a:solidFill>
                        <a:srgbClr val="171310"/>
                      </a:solidFill>
                      <a:prstDash val="solid"/>
                      <a:round/>
                      <a:headEnd type="none" w="med" len="med"/>
                      <a:tailEnd type="none" w="med" len="med"/>
                    </a:lnL>
                    <a:lnR w="12700" cap="flat" cmpd="sng" algn="ctr">
                      <a:solidFill>
                        <a:srgbClr val="171310"/>
                      </a:solidFill>
                      <a:prstDash val="solid"/>
                      <a:round/>
                      <a:headEnd type="none" w="med" len="med"/>
                      <a:tailEnd type="none" w="med" len="med"/>
                    </a:lnR>
                    <a:lnT w="12700" cap="flat" cmpd="sng" algn="ctr">
                      <a:solidFill>
                        <a:srgbClr val="171310"/>
                      </a:solidFill>
                      <a:prstDash val="solid"/>
                      <a:round/>
                      <a:headEnd type="none" w="med" len="med"/>
                      <a:tailEnd type="none" w="med" len="med"/>
                    </a:lnT>
                    <a:lnB w="12700" cap="flat" cmpd="sng" algn="ctr">
                      <a:solidFill>
                        <a:srgbClr val="171310"/>
                      </a:solidFill>
                      <a:prstDash val="solid"/>
                      <a:round/>
                      <a:headEnd type="none" w="med" len="med"/>
                      <a:tailEnd type="none" w="med" len="med"/>
                    </a:lnB>
                    <a:solidFill>
                      <a:srgbClr val="171310"/>
                    </a:solidFill>
                  </a:tcPr>
                </a:tc>
                <a:tc>
                  <a:txBody>
                    <a:bodyPr/>
                    <a:lstStyle/>
                    <a:p>
                      <a:pPr indent="0" marL="0">
                        <a:buNone/>
                      </a:pPr>
                      <a:r>
                        <a:rPr lang="en-US" sz="1300" b="1" spc="200" kern="0" dirty="0">
                          <a:solidFill>
                            <a:srgbClr val="A89B8A"/>
                          </a:solidFill>
                          <a:latin typeface="Arial" pitchFamily="34" charset="0"/>
                          <a:ea typeface="Arial" pitchFamily="34" charset="-122"/>
                          <a:cs typeface="Arial" pitchFamily="34" charset="-120"/>
                        </a:rPr>
                        <a:t>DOESN'T DO</a:t>
                      </a:r>
                      <a:endParaRPr lang="en-US" sz="1300" dirty="0">
                        <a:latin typeface="Arial" charset="0"/>
                        <a:ea typeface="Arial" charset="0"/>
                        <a:cs typeface="Arial" charset="0"/>
                      </a:endParaRPr>
                    </a:p>
                  </a:txBody>
                  <a:tcPr marL="137160" marR="137160" marT="91440" marB="91440" anchor="ctr">
                    <a:lnL w="12700" cap="flat" cmpd="sng" algn="ctr">
                      <a:solidFill>
                        <a:srgbClr val="171310"/>
                      </a:solidFill>
                      <a:prstDash val="solid"/>
                      <a:round/>
                      <a:headEnd type="none" w="med" len="med"/>
                      <a:tailEnd type="none" w="med" len="med"/>
                    </a:lnL>
                    <a:lnR w="12700" cap="flat" cmpd="sng" algn="ctr">
                      <a:solidFill>
                        <a:srgbClr val="171310"/>
                      </a:solidFill>
                      <a:prstDash val="solid"/>
                      <a:round/>
                      <a:headEnd type="none" w="med" len="med"/>
                      <a:tailEnd type="none" w="med" len="med"/>
                    </a:lnR>
                    <a:lnT w="12700" cap="flat" cmpd="sng" algn="ctr">
                      <a:solidFill>
                        <a:srgbClr val="171310"/>
                      </a:solidFill>
                      <a:prstDash val="solid"/>
                      <a:round/>
                      <a:headEnd type="none" w="med" len="med"/>
                      <a:tailEnd type="none" w="med" len="med"/>
                    </a:lnT>
                    <a:lnB w="12700" cap="flat" cmpd="sng" algn="ctr">
                      <a:solidFill>
                        <a:srgbClr val="171310"/>
                      </a:solidFill>
                      <a:prstDash val="solid"/>
                      <a:round/>
                      <a:headEnd type="none" w="med" len="med"/>
                      <a:tailEnd type="none" w="med" len="med"/>
                    </a:lnB>
                    <a:solidFill>
                      <a:srgbClr val="171310"/>
                    </a:solidFill>
                  </a:tcPr>
                </a:tc>
              </a:tr>
              <a:tr h="777240">
                <a:tc>
                  <a:txBody>
                    <a:bodyPr/>
                    <a:lstStyle/>
                    <a:p>
                      <a:pPr indent="0" marL="0">
                        <a:buNone/>
                      </a:pPr>
                      <a:r>
                        <a:rPr lang="en-US" sz="1700" b="1" dirty="0">
                          <a:solidFill>
                            <a:srgbClr val="F1E9DD"/>
                          </a:solidFill>
                          <a:latin typeface="Arial" pitchFamily="34" charset="0"/>
                          <a:ea typeface="Arial" pitchFamily="34" charset="-122"/>
                          <a:cs typeface="Arial" pitchFamily="34" charset="-120"/>
                        </a:rPr>
                        <a:t>Ava</a:t>
                      </a:r>
                      <a:endParaRPr lang="en-US" sz="1700" dirty="0">
                        <a:latin typeface="Arial" charset="0"/>
                        <a:ea typeface="Arial" charset="0"/>
                        <a:cs typeface="Arial" charset="0"/>
                      </a:endParaRPr>
                    </a:p>
                  </a:txBody>
                  <a:tcPr marL="137160" marR="137160" marT="91440" marB="91440" anchor="ctr">
                    <a:lnL w="12700" cap="flat" cmpd="sng" algn="ctr">
                      <a:solidFill>
                        <a:srgbClr val="171310"/>
                      </a:solidFill>
                      <a:prstDash val="solid"/>
                      <a:round/>
                      <a:headEnd type="none" w="med" len="med"/>
                      <a:tailEnd type="none" w="med" len="med"/>
                    </a:lnL>
                    <a:lnR w="12700" cap="flat" cmpd="sng" algn="ctr">
                      <a:solidFill>
                        <a:srgbClr val="171310"/>
                      </a:solidFill>
                      <a:prstDash val="solid"/>
                      <a:round/>
                      <a:headEnd type="none" w="med" len="med"/>
                      <a:tailEnd type="none" w="med" len="med"/>
                    </a:lnR>
                    <a:lnT w="12700" cap="flat" cmpd="sng" algn="ctr">
                      <a:solidFill>
                        <a:srgbClr val="171310"/>
                      </a:solidFill>
                      <a:prstDash val="solid"/>
                      <a:round/>
                      <a:headEnd type="none" w="med" len="med"/>
                      <a:tailEnd type="none" w="med" len="med"/>
                    </a:lnT>
                    <a:lnB w="12700" cap="flat" cmpd="sng" algn="ctr">
                      <a:solidFill>
                        <a:srgbClr val="171310"/>
                      </a:solidFill>
                      <a:prstDash val="solid"/>
                      <a:round/>
                      <a:headEnd type="none" w="med" len="med"/>
                      <a:tailEnd type="none" w="med" len="med"/>
                    </a:lnB>
                    <a:solidFill>
                      <a:srgbClr val="211B16"/>
                    </a:solidFill>
                  </a:tcPr>
                </a:tc>
                <a:tc>
                  <a:txBody>
                    <a:bodyPr/>
                    <a:lstStyle/>
                    <a:p>
                      <a:pPr indent="0" marL="0">
                        <a:buNone/>
                      </a:pPr>
                      <a:r>
                        <a:rPr lang="en-US" sz="1700" dirty="0">
                          <a:solidFill>
                            <a:srgbClr val="F1E9DD"/>
                          </a:solidFill>
                          <a:latin typeface="Arial" pitchFamily="34" charset="0"/>
                          <a:ea typeface="Arial" pitchFamily="34" charset="-122"/>
                          <a:cs typeface="Arial" pitchFamily="34" charset="-120"/>
                        </a:rPr>
                        <a:t>Phones join as named mics, speaker colours, type-to-speak</a:t>
                      </a:r>
                      <a:endParaRPr lang="en-US" sz="1700" dirty="0">
                        <a:latin typeface="Arial" charset="0"/>
                        <a:ea typeface="Arial" charset="0"/>
                        <a:cs typeface="Arial" charset="0"/>
                      </a:endParaRPr>
                    </a:p>
                  </a:txBody>
                  <a:tcPr marL="137160" marR="137160" marT="91440" marB="91440" anchor="ctr">
                    <a:lnL w="12700" cap="flat" cmpd="sng" algn="ctr">
                      <a:solidFill>
                        <a:srgbClr val="171310"/>
                      </a:solidFill>
                      <a:prstDash val="solid"/>
                      <a:round/>
                      <a:headEnd type="none" w="med" len="med"/>
                      <a:tailEnd type="none" w="med" len="med"/>
                    </a:lnL>
                    <a:lnR w="12700" cap="flat" cmpd="sng" algn="ctr">
                      <a:solidFill>
                        <a:srgbClr val="171310"/>
                      </a:solidFill>
                      <a:prstDash val="solid"/>
                      <a:round/>
                      <a:headEnd type="none" w="med" len="med"/>
                      <a:tailEnd type="none" w="med" len="med"/>
                    </a:lnR>
                    <a:lnT w="12700" cap="flat" cmpd="sng" algn="ctr">
                      <a:solidFill>
                        <a:srgbClr val="171310"/>
                      </a:solidFill>
                      <a:prstDash val="solid"/>
                      <a:round/>
                      <a:headEnd type="none" w="med" len="med"/>
                      <a:tailEnd type="none" w="med" len="med"/>
                    </a:lnT>
                    <a:lnB w="12700" cap="flat" cmpd="sng" algn="ctr">
                      <a:solidFill>
                        <a:srgbClr val="171310"/>
                      </a:solidFill>
                      <a:prstDash val="solid"/>
                      <a:round/>
                      <a:headEnd type="none" w="med" len="med"/>
                      <a:tailEnd type="none" w="med" len="med"/>
                    </a:lnB>
                    <a:solidFill>
                      <a:srgbClr val="211B16"/>
                    </a:solidFill>
                  </a:tcPr>
                </a:tc>
                <a:tc>
                  <a:txBody>
                    <a:bodyPr/>
                    <a:lstStyle/>
                    <a:p>
                      <a:pPr indent="0" marL="0">
                        <a:buNone/>
                      </a:pPr>
                      <a:r>
                        <a:rPr lang="en-US" sz="1700" dirty="0">
                          <a:solidFill>
                            <a:srgbClr val="F1E9DD"/>
                          </a:solidFill>
                          <a:latin typeface="Arial" pitchFamily="34" charset="0"/>
                          <a:ea typeface="Arial" pitchFamily="34" charset="-122"/>
                          <a:cs typeface="Arial" pitchFamily="34" charset="-120"/>
                        </a:rPr>
                        <a:t>No plans, no “asked you,” no “why they laughed.”</a:t>
                      </a:r>
                      <a:endParaRPr lang="en-US" sz="1700" dirty="0">
                        <a:latin typeface="Arial" charset="0"/>
                        <a:ea typeface="Arial" charset="0"/>
                        <a:cs typeface="Arial" charset="0"/>
                      </a:endParaRPr>
                    </a:p>
                  </a:txBody>
                  <a:tcPr marL="137160" marR="137160" marT="91440" marB="91440" anchor="ctr">
                    <a:lnL w="12700" cap="flat" cmpd="sng" algn="ctr">
                      <a:solidFill>
                        <a:srgbClr val="171310"/>
                      </a:solidFill>
                      <a:prstDash val="solid"/>
                      <a:round/>
                      <a:headEnd type="none" w="med" len="med"/>
                      <a:tailEnd type="none" w="med" len="med"/>
                    </a:lnL>
                    <a:lnR w="12700" cap="flat" cmpd="sng" algn="ctr">
                      <a:solidFill>
                        <a:srgbClr val="171310"/>
                      </a:solidFill>
                      <a:prstDash val="solid"/>
                      <a:round/>
                      <a:headEnd type="none" w="med" len="med"/>
                      <a:tailEnd type="none" w="med" len="med"/>
                    </a:lnR>
                    <a:lnT w="12700" cap="flat" cmpd="sng" algn="ctr">
                      <a:solidFill>
                        <a:srgbClr val="171310"/>
                      </a:solidFill>
                      <a:prstDash val="solid"/>
                      <a:round/>
                      <a:headEnd type="none" w="med" len="med"/>
                      <a:tailEnd type="none" w="med" len="med"/>
                    </a:lnT>
                    <a:lnB w="12700" cap="flat" cmpd="sng" algn="ctr">
                      <a:solidFill>
                        <a:srgbClr val="171310"/>
                      </a:solidFill>
                      <a:prstDash val="solid"/>
                      <a:round/>
                      <a:headEnd type="none" w="med" len="med"/>
                      <a:tailEnd type="none" w="med" len="med"/>
                    </a:lnB>
                    <a:solidFill>
                      <a:srgbClr val="211B16"/>
                    </a:solidFill>
                  </a:tcPr>
                </a:tc>
              </a:tr>
              <a:tr h="777240">
                <a:tc>
                  <a:txBody>
                    <a:bodyPr/>
                    <a:lstStyle/>
                    <a:p>
                      <a:pPr indent="0" marL="0">
                        <a:buNone/>
                      </a:pPr>
                      <a:r>
                        <a:rPr lang="en-US" sz="1700" b="1" dirty="0">
                          <a:solidFill>
                            <a:srgbClr val="F1E9DD"/>
                          </a:solidFill>
                          <a:latin typeface="Arial" pitchFamily="34" charset="0"/>
                          <a:ea typeface="Arial" pitchFamily="34" charset="-122"/>
                          <a:cs typeface="Arial" pitchFamily="34" charset="-120"/>
                        </a:rPr>
                        <a:t>Otter / Teams “Catch me up”</a:t>
                      </a:r>
                      <a:endParaRPr lang="en-US" sz="1700" dirty="0">
                        <a:latin typeface="Arial" charset="0"/>
                        <a:ea typeface="Arial" charset="0"/>
                        <a:cs typeface="Arial" charset="0"/>
                      </a:endParaRPr>
                    </a:p>
                  </a:txBody>
                  <a:tcPr marL="137160" marR="137160" marT="91440" marB="91440" anchor="ctr">
                    <a:lnL w="12700" cap="flat" cmpd="sng" algn="ctr">
                      <a:solidFill>
                        <a:srgbClr val="171310"/>
                      </a:solidFill>
                      <a:prstDash val="solid"/>
                      <a:round/>
                      <a:headEnd type="none" w="med" len="med"/>
                      <a:tailEnd type="none" w="med" len="med"/>
                    </a:lnL>
                    <a:lnR w="12700" cap="flat" cmpd="sng" algn="ctr">
                      <a:solidFill>
                        <a:srgbClr val="171310"/>
                      </a:solidFill>
                      <a:prstDash val="solid"/>
                      <a:round/>
                      <a:headEnd type="none" w="med" len="med"/>
                      <a:tailEnd type="none" w="med" len="med"/>
                    </a:lnR>
                    <a:lnT w="12700" cap="flat" cmpd="sng" algn="ctr">
                      <a:solidFill>
                        <a:srgbClr val="171310"/>
                      </a:solidFill>
                      <a:prstDash val="solid"/>
                      <a:round/>
                      <a:headEnd type="none" w="med" len="med"/>
                      <a:tailEnd type="none" w="med" len="med"/>
                    </a:lnT>
                    <a:lnB w="12700" cap="flat" cmpd="sng" algn="ctr">
                      <a:solidFill>
                        <a:srgbClr val="171310"/>
                      </a:solidFill>
                      <a:prstDash val="solid"/>
                      <a:round/>
                      <a:headEnd type="none" w="med" len="med"/>
                      <a:tailEnd type="none" w="med" len="med"/>
                    </a:lnB>
                    <a:solidFill>
                      <a:srgbClr val="211B16"/>
                    </a:solidFill>
                  </a:tcPr>
                </a:tc>
                <a:tc>
                  <a:txBody>
                    <a:bodyPr/>
                    <a:lstStyle/>
                    <a:p>
                      <a:pPr indent="0" marL="0">
                        <a:buNone/>
                      </a:pPr>
                      <a:r>
                        <a:rPr lang="en-US" sz="1700" dirty="0">
                          <a:solidFill>
                            <a:srgbClr val="F1E9DD"/>
                          </a:solidFill>
                          <a:latin typeface="Arial" pitchFamily="34" charset="0"/>
                          <a:ea typeface="Arial" pitchFamily="34" charset="-122"/>
                          <a:cs typeface="Arial" pitchFamily="34" charset="-120"/>
                        </a:rPr>
                        <a:t>A summary after the fact, or on demand</a:t>
                      </a:r>
                      <a:endParaRPr lang="en-US" sz="1700" dirty="0">
                        <a:latin typeface="Arial" charset="0"/>
                        <a:ea typeface="Arial" charset="0"/>
                        <a:cs typeface="Arial" charset="0"/>
                      </a:endParaRPr>
                    </a:p>
                  </a:txBody>
                  <a:tcPr marL="137160" marR="137160" marT="91440" marB="91440" anchor="ctr">
                    <a:lnL w="12700" cap="flat" cmpd="sng" algn="ctr">
                      <a:solidFill>
                        <a:srgbClr val="171310"/>
                      </a:solidFill>
                      <a:prstDash val="solid"/>
                      <a:round/>
                      <a:headEnd type="none" w="med" len="med"/>
                      <a:tailEnd type="none" w="med" len="med"/>
                    </a:lnL>
                    <a:lnR w="12700" cap="flat" cmpd="sng" algn="ctr">
                      <a:solidFill>
                        <a:srgbClr val="171310"/>
                      </a:solidFill>
                      <a:prstDash val="solid"/>
                      <a:round/>
                      <a:headEnd type="none" w="med" len="med"/>
                      <a:tailEnd type="none" w="med" len="med"/>
                    </a:lnR>
                    <a:lnT w="12700" cap="flat" cmpd="sng" algn="ctr">
                      <a:solidFill>
                        <a:srgbClr val="171310"/>
                      </a:solidFill>
                      <a:prstDash val="solid"/>
                      <a:round/>
                      <a:headEnd type="none" w="med" len="med"/>
                      <a:tailEnd type="none" w="med" len="med"/>
                    </a:lnT>
                    <a:lnB w="12700" cap="flat" cmpd="sng" algn="ctr">
                      <a:solidFill>
                        <a:srgbClr val="171310"/>
                      </a:solidFill>
                      <a:prstDash val="solid"/>
                      <a:round/>
                      <a:headEnd type="none" w="med" len="med"/>
                      <a:tailEnd type="none" w="med" len="med"/>
                    </a:lnB>
                    <a:solidFill>
                      <a:srgbClr val="211B16"/>
                    </a:solidFill>
                  </a:tcPr>
                </a:tc>
                <a:tc>
                  <a:txBody>
                    <a:bodyPr/>
                    <a:lstStyle/>
                    <a:p>
                      <a:pPr indent="0" marL="0">
                        <a:buNone/>
                      </a:pPr>
                      <a:r>
                        <a:rPr lang="en-US" sz="1700" dirty="0">
                          <a:solidFill>
                            <a:srgbClr val="F1E9DD"/>
                          </a:solidFill>
                          <a:latin typeface="Arial" pitchFamily="34" charset="0"/>
                          <a:ea typeface="Arial" pitchFamily="34" charset="-122"/>
                          <a:cs typeface="Arial" pitchFamily="34" charset="-120"/>
                        </a:rPr>
                        <a:t>Built for a meeting room, not a dinner table</a:t>
                      </a:r>
                      <a:endParaRPr lang="en-US" sz="1700" dirty="0">
                        <a:latin typeface="Arial" charset="0"/>
                        <a:ea typeface="Arial" charset="0"/>
                        <a:cs typeface="Arial" charset="0"/>
                      </a:endParaRPr>
                    </a:p>
                  </a:txBody>
                  <a:tcPr marL="137160" marR="137160" marT="91440" marB="91440" anchor="ctr">
                    <a:lnL w="12700" cap="flat" cmpd="sng" algn="ctr">
                      <a:solidFill>
                        <a:srgbClr val="171310"/>
                      </a:solidFill>
                      <a:prstDash val="solid"/>
                      <a:round/>
                      <a:headEnd type="none" w="med" len="med"/>
                      <a:tailEnd type="none" w="med" len="med"/>
                    </a:lnL>
                    <a:lnR w="12700" cap="flat" cmpd="sng" algn="ctr">
                      <a:solidFill>
                        <a:srgbClr val="171310"/>
                      </a:solidFill>
                      <a:prstDash val="solid"/>
                      <a:round/>
                      <a:headEnd type="none" w="med" len="med"/>
                      <a:tailEnd type="none" w="med" len="med"/>
                    </a:lnR>
                    <a:lnT w="12700" cap="flat" cmpd="sng" algn="ctr">
                      <a:solidFill>
                        <a:srgbClr val="171310"/>
                      </a:solidFill>
                      <a:prstDash val="solid"/>
                      <a:round/>
                      <a:headEnd type="none" w="med" len="med"/>
                      <a:tailEnd type="none" w="med" len="med"/>
                    </a:lnT>
                    <a:lnB w="12700" cap="flat" cmpd="sng" algn="ctr">
                      <a:solidFill>
                        <a:srgbClr val="171310"/>
                      </a:solidFill>
                      <a:prstDash val="solid"/>
                      <a:round/>
                      <a:headEnd type="none" w="med" len="med"/>
                      <a:tailEnd type="none" w="med" len="med"/>
                    </a:lnB>
                    <a:solidFill>
                      <a:srgbClr val="211B16"/>
                    </a:solidFill>
                  </a:tcPr>
                </a:tc>
              </a:tr>
              <a:tr h="777240">
                <a:tc>
                  <a:txBody>
                    <a:bodyPr/>
                    <a:lstStyle/>
                    <a:p>
                      <a:pPr indent="0" marL="0">
                        <a:buNone/>
                      </a:pPr>
                      <a:r>
                        <a:rPr lang="en-US" sz="1700" b="1" dirty="0">
                          <a:solidFill>
                            <a:srgbClr val="F1E9DD"/>
                          </a:solidFill>
                          <a:latin typeface="Arial" pitchFamily="34" charset="0"/>
                          <a:ea typeface="Arial" pitchFamily="34" charset="-122"/>
                          <a:cs typeface="Arial" pitchFamily="34" charset="-120"/>
                        </a:rPr>
                        <a:t>MS Teams captions</a:t>
                      </a:r>
                      <a:endParaRPr lang="en-US" sz="1700" dirty="0">
                        <a:latin typeface="Arial" charset="0"/>
                        <a:ea typeface="Arial" charset="0"/>
                        <a:cs typeface="Arial" charset="0"/>
                      </a:endParaRPr>
                    </a:p>
                  </a:txBody>
                  <a:tcPr marL="137160" marR="137160" marT="91440" marB="91440" anchor="ctr">
                    <a:lnL w="12700" cap="flat" cmpd="sng" algn="ctr">
                      <a:solidFill>
                        <a:srgbClr val="171310"/>
                      </a:solidFill>
                      <a:prstDash val="solid"/>
                      <a:round/>
                      <a:headEnd type="none" w="med" len="med"/>
                      <a:tailEnd type="none" w="med" len="med"/>
                    </a:lnL>
                    <a:lnR w="12700" cap="flat" cmpd="sng" algn="ctr">
                      <a:solidFill>
                        <a:srgbClr val="171310"/>
                      </a:solidFill>
                      <a:prstDash val="solid"/>
                      <a:round/>
                      <a:headEnd type="none" w="med" len="med"/>
                      <a:tailEnd type="none" w="med" len="med"/>
                    </a:lnR>
                    <a:lnT w="12700" cap="flat" cmpd="sng" algn="ctr">
                      <a:solidFill>
                        <a:srgbClr val="171310"/>
                      </a:solidFill>
                      <a:prstDash val="solid"/>
                      <a:round/>
                      <a:headEnd type="none" w="med" len="med"/>
                      <a:tailEnd type="none" w="med" len="med"/>
                    </a:lnT>
                    <a:lnB w="12700" cap="flat" cmpd="sng" algn="ctr">
                      <a:solidFill>
                        <a:srgbClr val="171310"/>
                      </a:solidFill>
                      <a:prstDash val="solid"/>
                      <a:round/>
                      <a:headEnd type="none" w="med" len="med"/>
                      <a:tailEnd type="none" w="med" len="med"/>
                    </a:lnB>
                    <a:solidFill>
                      <a:srgbClr val="211B16"/>
                    </a:solidFill>
                  </a:tcPr>
                </a:tc>
                <a:tc>
                  <a:txBody>
                    <a:bodyPr/>
                    <a:lstStyle/>
                    <a:p>
                      <a:pPr indent="0" marL="0">
                        <a:buNone/>
                      </a:pPr>
                      <a:r>
                        <a:rPr lang="en-US" sz="1700" dirty="0">
                          <a:solidFill>
                            <a:srgbClr val="F1E9DD"/>
                          </a:solidFill>
                          <a:latin typeface="Arial" pitchFamily="34" charset="0"/>
                          <a:ea typeface="Arial" pitchFamily="34" charset="-122"/>
                          <a:cs typeface="Arial" pitchFamily="34" charset="-120"/>
                        </a:rPr>
                        <a:t>Live captions, logged-in speaker names</a:t>
                      </a:r>
                      <a:endParaRPr lang="en-US" sz="1700" dirty="0">
                        <a:latin typeface="Arial" charset="0"/>
                        <a:ea typeface="Arial" charset="0"/>
                        <a:cs typeface="Arial" charset="0"/>
                      </a:endParaRPr>
                    </a:p>
                  </a:txBody>
                  <a:tcPr marL="137160" marR="137160" marT="91440" marB="91440" anchor="ctr">
                    <a:lnL w="12700" cap="flat" cmpd="sng" algn="ctr">
                      <a:solidFill>
                        <a:srgbClr val="171310"/>
                      </a:solidFill>
                      <a:prstDash val="solid"/>
                      <a:round/>
                      <a:headEnd type="none" w="med" len="med"/>
                      <a:tailEnd type="none" w="med" len="med"/>
                    </a:lnL>
                    <a:lnR w="12700" cap="flat" cmpd="sng" algn="ctr">
                      <a:solidFill>
                        <a:srgbClr val="171310"/>
                      </a:solidFill>
                      <a:prstDash val="solid"/>
                      <a:round/>
                      <a:headEnd type="none" w="med" len="med"/>
                      <a:tailEnd type="none" w="med" len="med"/>
                    </a:lnR>
                    <a:lnT w="12700" cap="flat" cmpd="sng" algn="ctr">
                      <a:solidFill>
                        <a:srgbClr val="171310"/>
                      </a:solidFill>
                      <a:prstDash val="solid"/>
                      <a:round/>
                      <a:headEnd type="none" w="med" len="med"/>
                      <a:tailEnd type="none" w="med" len="med"/>
                    </a:lnT>
                    <a:lnB w="12700" cap="flat" cmpd="sng" algn="ctr">
                      <a:solidFill>
                        <a:srgbClr val="171310"/>
                      </a:solidFill>
                      <a:prstDash val="solid"/>
                      <a:round/>
                      <a:headEnd type="none" w="med" len="med"/>
                      <a:tailEnd type="none" w="med" len="med"/>
                    </a:lnB>
                    <a:solidFill>
                      <a:srgbClr val="211B16"/>
                    </a:solidFill>
                  </a:tcPr>
                </a:tc>
                <a:tc>
                  <a:txBody>
                    <a:bodyPr/>
                    <a:lstStyle/>
                    <a:p>
                      <a:pPr indent="0" marL="0">
                        <a:buNone/>
                      </a:pPr>
                      <a:r>
                        <a:rPr lang="en-US" sz="1700" dirty="0">
                          <a:solidFill>
                            <a:srgbClr val="F1E9DD"/>
                          </a:solidFill>
                          <a:latin typeface="Arial" pitchFamily="34" charset="0"/>
                          <a:ea typeface="Arial" pitchFamily="34" charset="-122"/>
                          <a:cs typeface="Arial" pitchFamily="34" charset="-120"/>
                        </a:rPr>
                        <a:t>Breaks on overlap. Nothing addressed to you.</a:t>
                      </a:r>
                      <a:endParaRPr lang="en-US" sz="1700" dirty="0">
                        <a:latin typeface="Arial" charset="0"/>
                        <a:ea typeface="Arial" charset="0"/>
                        <a:cs typeface="Arial" charset="0"/>
                      </a:endParaRPr>
                    </a:p>
                  </a:txBody>
                  <a:tcPr marL="137160" marR="137160" marT="91440" marB="91440" anchor="ctr">
                    <a:lnL w="12700" cap="flat" cmpd="sng" algn="ctr">
                      <a:solidFill>
                        <a:srgbClr val="171310"/>
                      </a:solidFill>
                      <a:prstDash val="solid"/>
                      <a:round/>
                      <a:headEnd type="none" w="med" len="med"/>
                      <a:tailEnd type="none" w="med" len="med"/>
                    </a:lnL>
                    <a:lnR w="12700" cap="flat" cmpd="sng" algn="ctr">
                      <a:solidFill>
                        <a:srgbClr val="171310"/>
                      </a:solidFill>
                      <a:prstDash val="solid"/>
                      <a:round/>
                      <a:headEnd type="none" w="med" len="med"/>
                      <a:tailEnd type="none" w="med" len="med"/>
                    </a:lnR>
                    <a:lnT w="12700" cap="flat" cmpd="sng" algn="ctr">
                      <a:solidFill>
                        <a:srgbClr val="171310"/>
                      </a:solidFill>
                      <a:prstDash val="solid"/>
                      <a:round/>
                      <a:headEnd type="none" w="med" len="med"/>
                      <a:tailEnd type="none" w="med" len="med"/>
                    </a:lnT>
                    <a:lnB w="12700" cap="flat" cmpd="sng" algn="ctr">
                      <a:solidFill>
                        <a:srgbClr val="171310"/>
                      </a:solidFill>
                      <a:prstDash val="solid"/>
                      <a:round/>
                      <a:headEnd type="none" w="med" len="med"/>
                      <a:tailEnd type="none" w="med" len="med"/>
                    </a:lnB>
                    <a:solidFill>
                      <a:srgbClr val="211B16"/>
                    </a:solidFill>
                  </a:tcPr>
                </a:tc>
              </a:tr>
              <a:tr h="777240">
                <a:tc>
                  <a:txBody>
                    <a:bodyPr/>
                    <a:lstStyle/>
                    <a:p>
                      <a:pPr indent="0" marL="0">
                        <a:buNone/>
                      </a:pPr>
                      <a:r>
                        <a:rPr lang="en-US" sz="1700" b="1" dirty="0">
                          <a:solidFill>
                            <a:srgbClr val="F1E9DD"/>
                          </a:solidFill>
                          <a:latin typeface="Arial" pitchFamily="34" charset="0"/>
                          <a:ea typeface="Arial" pitchFamily="34" charset="-122"/>
                          <a:cs typeface="Arial" pitchFamily="34" charset="-120"/>
                        </a:rPr>
                        <a:t>Caption glasses (XRAI, Captify, AirCaps)</a:t>
                      </a:r>
                      <a:endParaRPr lang="en-US" sz="1700" dirty="0">
                        <a:latin typeface="Arial" charset="0"/>
                        <a:ea typeface="Arial" charset="0"/>
                        <a:cs typeface="Arial" charset="0"/>
                      </a:endParaRPr>
                    </a:p>
                  </a:txBody>
                  <a:tcPr marL="137160" marR="137160" marT="91440" marB="91440" anchor="ctr">
                    <a:lnL w="12700" cap="flat" cmpd="sng" algn="ctr">
                      <a:solidFill>
                        <a:srgbClr val="171310"/>
                      </a:solidFill>
                      <a:prstDash val="solid"/>
                      <a:round/>
                      <a:headEnd type="none" w="med" len="med"/>
                      <a:tailEnd type="none" w="med" len="med"/>
                    </a:lnL>
                    <a:lnR w="12700" cap="flat" cmpd="sng" algn="ctr">
                      <a:solidFill>
                        <a:srgbClr val="171310"/>
                      </a:solidFill>
                      <a:prstDash val="solid"/>
                      <a:round/>
                      <a:headEnd type="none" w="med" len="med"/>
                      <a:tailEnd type="none" w="med" len="med"/>
                    </a:lnR>
                    <a:lnT w="12700" cap="flat" cmpd="sng" algn="ctr">
                      <a:solidFill>
                        <a:srgbClr val="171310"/>
                      </a:solidFill>
                      <a:prstDash val="solid"/>
                      <a:round/>
                      <a:headEnd type="none" w="med" len="med"/>
                      <a:tailEnd type="none" w="med" len="med"/>
                    </a:lnT>
                    <a:lnB w="12700" cap="flat" cmpd="sng" algn="ctr">
                      <a:solidFill>
                        <a:srgbClr val="171310"/>
                      </a:solidFill>
                      <a:prstDash val="solid"/>
                      <a:round/>
                      <a:headEnd type="none" w="med" len="med"/>
                      <a:tailEnd type="none" w="med" len="med"/>
                    </a:lnB>
                    <a:solidFill>
                      <a:srgbClr val="211B16"/>
                    </a:solidFill>
                  </a:tcPr>
                </a:tc>
                <a:tc>
                  <a:txBody>
                    <a:bodyPr/>
                    <a:lstStyle/>
                    <a:p>
                      <a:pPr indent="0" marL="0">
                        <a:buNone/>
                      </a:pPr>
                      <a:r>
                        <a:rPr lang="en-US" sz="1700" dirty="0">
                          <a:solidFill>
                            <a:srgbClr val="F1E9DD"/>
                          </a:solidFill>
                          <a:latin typeface="Arial" pitchFamily="34" charset="0"/>
                          <a:ea typeface="Arial" pitchFamily="34" charset="-122"/>
                          <a:cs typeface="Arial" pitchFamily="34" charset="-120"/>
                        </a:rPr>
                        <a:t>Captions in your line of sight</a:t>
                      </a:r>
                      <a:endParaRPr lang="en-US" sz="1700" dirty="0">
                        <a:latin typeface="Arial" charset="0"/>
                        <a:ea typeface="Arial" charset="0"/>
                        <a:cs typeface="Arial" charset="0"/>
                      </a:endParaRPr>
                    </a:p>
                  </a:txBody>
                  <a:tcPr marL="137160" marR="137160" marT="91440" marB="91440" anchor="ctr">
                    <a:lnL w="12700" cap="flat" cmpd="sng" algn="ctr">
                      <a:solidFill>
                        <a:srgbClr val="171310"/>
                      </a:solidFill>
                      <a:prstDash val="solid"/>
                      <a:round/>
                      <a:headEnd type="none" w="med" len="med"/>
                      <a:tailEnd type="none" w="med" len="med"/>
                    </a:lnL>
                    <a:lnR w="12700" cap="flat" cmpd="sng" algn="ctr">
                      <a:solidFill>
                        <a:srgbClr val="171310"/>
                      </a:solidFill>
                      <a:prstDash val="solid"/>
                      <a:round/>
                      <a:headEnd type="none" w="med" len="med"/>
                      <a:tailEnd type="none" w="med" len="med"/>
                    </a:lnR>
                    <a:lnT w="12700" cap="flat" cmpd="sng" algn="ctr">
                      <a:solidFill>
                        <a:srgbClr val="171310"/>
                      </a:solidFill>
                      <a:prstDash val="solid"/>
                      <a:round/>
                      <a:headEnd type="none" w="med" len="med"/>
                      <a:tailEnd type="none" w="med" len="med"/>
                    </a:lnT>
                    <a:lnB w="12700" cap="flat" cmpd="sng" algn="ctr">
                      <a:solidFill>
                        <a:srgbClr val="171310"/>
                      </a:solidFill>
                      <a:prstDash val="solid"/>
                      <a:round/>
                      <a:headEnd type="none" w="med" len="med"/>
                      <a:tailEnd type="none" w="med" len="med"/>
                    </a:lnB>
                    <a:solidFill>
                      <a:srgbClr val="211B16"/>
                    </a:solidFill>
                  </a:tcPr>
                </a:tc>
                <a:tc>
                  <a:txBody>
                    <a:bodyPr/>
                    <a:lstStyle/>
                    <a:p>
                      <a:pPr indent="0" marL="0">
                        <a:buNone/>
                      </a:pPr>
                      <a:r>
                        <a:rPr lang="en-US" sz="1700" dirty="0">
                          <a:solidFill>
                            <a:srgbClr val="F1E9DD"/>
                          </a:solidFill>
                          <a:latin typeface="Arial" pitchFamily="34" charset="0"/>
                          <a:ea typeface="Arial" pitchFamily="34" charset="-122"/>
                          <a:cs typeface="Arial" pitchFamily="34" charset="-120"/>
                        </a:rPr>
                        <a:t>Arms clash with hearing aids. Still just words.</a:t>
                      </a:r>
                      <a:endParaRPr lang="en-US" sz="1700" dirty="0">
                        <a:latin typeface="Arial" charset="0"/>
                        <a:ea typeface="Arial" charset="0"/>
                        <a:cs typeface="Arial" charset="0"/>
                      </a:endParaRPr>
                    </a:p>
                  </a:txBody>
                  <a:tcPr marL="137160" marR="137160" marT="91440" marB="91440" anchor="ctr">
                    <a:lnL w="12700" cap="flat" cmpd="sng" algn="ctr">
                      <a:solidFill>
                        <a:srgbClr val="171310"/>
                      </a:solidFill>
                      <a:prstDash val="solid"/>
                      <a:round/>
                      <a:headEnd type="none" w="med" len="med"/>
                      <a:tailEnd type="none" w="med" len="med"/>
                    </a:lnL>
                    <a:lnR w="12700" cap="flat" cmpd="sng" algn="ctr">
                      <a:solidFill>
                        <a:srgbClr val="171310"/>
                      </a:solidFill>
                      <a:prstDash val="solid"/>
                      <a:round/>
                      <a:headEnd type="none" w="med" len="med"/>
                      <a:tailEnd type="none" w="med" len="med"/>
                    </a:lnR>
                    <a:lnT w="12700" cap="flat" cmpd="sng" algn="ctr">
                      <a:solidFill>
                        <a:srgbClr val="171310"/>
                      </a:solidFill>
                      <a:prstDash val="solid"/>
                      <a:round/>
                      <a:headEnd type="none" w="med" len="med"/>
                      <a:tailEnd type="none" w="med" len="med"/>
                    </a:lnT>
                    <a:lnB w="12700" cap="flat" cmpd="sng" algn="ctr">
                      <a:solidFill>
                        <a:srgbClr val="171310"/>
                      </a:solidFill>
                      <a:prstDash val="solid"/>
                      <a:round/>
                      <a:headEnd type="none" w="med" len="med"/>
                      <a:tailEnd type="none" w="med" len="med"/>
                    </a:lnB>
                    <a:solidFill>
                      <a:srgbClr val="211B16"/>
                    </a:solidFill>
                  </a:tcPr>
                </a:tc>
              </a:tr>
              <a:tr h="868680">
                <a:tc>
                  <a:txBody>
                    <a:bodyPr/>
                    <a:lstStyle/>
                    <a:p>
                      <a:pPr indent="0" marL="0">
                        <a:buNone/>
                      </a:pPr>
                      <a:r>
                        <a:rPr lang="en-US" sz="1700" b="1" dirty="0">
                          <a:solidFill>
                            <a:srgbClr val="7FB4FF"/>
                          </a:solidFill>
                          <a:latin typeface="Arial" pitchFamily="34" charset="0"/>
                          <a:ea typeface="Arial" pitchFamily="34" charset="-122"/>
                          <a:cs typeface="Arial" pitchFamily="34" charset="-120"/>
                        </a:rPr>
                        <a:t>I Missed That</a:t>
                      </a:r>
                      <a:endParaRPr lang="en-US" sz="1700" dirty="0">
                        <a:latin typeface="Arial" charset="0"/>
                        <a:ea typeface="Arial" charset="0"/>
                        <a:cs typeface="Arial" charset="0"/>
                      </a:endParaRPr>
                    </a:p>
                  </a:txBody>
                  <a:tcPr marL="137160" marR="137160" marT="91440" marB="91440" anchor="ctr">
                    <a:lnL w="12700" cap="flat" cmpd="sng" algn="ctr">
                      <a:solidFill>
                        <a:srgbClr val="171310"/>
                      </a:solidFill>
                      <a:prstDash val="solid"/>
                      <a:round/>
                      <a:headEnd type="none" w="med" len="med"/>
                      <a:tailEnd type="none" w="med" len="med"/>
                    </a:lnL>
                    <a:lnR w="12700" cap="flat" cmpd="sng" algn="ctr">
                      <a:solidFill>
                        <a:srgbClr val="171310"/>
                      </a:solidFill>
                      <a:prstDash val="solid"/>
                      <a:round/>
                      <a:headEnd type="none" w="med" len="med"/>
                      <a:tailEnd type="none" w="med" len="med"/>
                    </a:lnR>
                    <a:lnT w="12700" cap="flat" cmpd="sng" algn="ctr">
                      <a:solidFill>
                        <a:srgbClr val="171310"/>
                      </a:solidFill>
                      <a:prstDash val="solid"/>
                      <a:round/>
                      <a:headEnd type="none" w="med" len="med"/>
                      <a:tailEnd type="none" w="med" len="med"/>
                    </a:lnT>
                    <a:lnB w="12700" cap="flat" cmpd="sng" algn="ctr">
                      <a:solidFill>
                        <a:srgbClr val="171310"/>
                      </a:solidFill>
                      <a:prstDash val="solid"/>
                      <a:round/>
                      <a:headEnd type="none" w="med" len="med"/>
                      <a:tailEnd type="none" w="med" len="med"/>
                    </a:lnB>
                    <a:solidFill>
                      <a:srgbClr val="1E2530"/>
                    </a:solidFill>
                  </a:tcPr>
                </a:tc>
                <a:tc>
                  <a:txBody>
                    <a:bodyPr/>
                    <a:lstStyle/>
                    <a:p>
                      <a:pPr indent="0" marL="0">
                        <a:buNone/>
                      </a:pPr>
                      <a:r>
                        <a:rPr lang="en-US" sz="1700" dirty="0">
                          <a:solidFill>
                            <a:srgbClr val="F1E9DD"/>
                          </a:solidFill>
                          <a:latin typeface="Arial" pitchFamily="34" charset="0"/>
                          <a:ea typeface="Arial" pitchFamily="34" charset="-122"/>
                          <a:cs typeface="Arial" pitchFamily="34" charset="-120"/>
                        </a:rPr>
                        <a:t>Phones as mics, like Ava</a:t>
                      </a:r>
                      <a:endParaRPr lang="en-US" sz="1700" dirty="0">
                        <a:latin typeface="Arial" charset="0"/>
                        <a:ea typeface="Arial" charset="0"/>
                        <a:cs typeface="Arial" charset="0"/>
                      </a:endParaRPr>
                    </a:p>
                  </a:txBody>
                  <a:tcPr marL="137160" marR="137160" marT="91440" marB="91440" anchor="ctr">
                    <a:lnL w="12700" cap="flat" cmpd="sng" algn="ctr">
                      <a:solidFill>
                        <a:srgbClr val="171310"/>
                      </a:solidFill>
                      <a:prstDash val="solid"/>
                      <a:round/>
                      <a:headEnd type="none" w="med" len="med"/>
                      <a:tailEnd type="none" w="med" len="med"/>
                    </a:lnL>
                    <a:lnR w="12700" cap="flat" cmpd="sng" algn="ctr">
                      <a:solidFill>
                        <a:srgbClr val="171310"/>
                      </a:solidFill>
                      <a:prstDash val="solid"/>
                      <a:round/>
                      <a:headEnd type="none" w="med" len="med"/>
                      <a:tailEnd type="none" w="med" len="med"/>
                    </a:lnR>
                    <a:lnT w="12700" cap="flat" cmpd="sng" algn="ctr">
                      <a:solidFill>
                        <a:srgbClr val="171310"/>
                      </a:solidFill>
                      <a:prstDash val="solid"/>
                      <a:round/>
                      <a:headEnd type="none" w="med" len="med"/>
                      <a:tailEnd type="none" w="med" len="med"/>
                    </a:lnT>
                    <a:lnB w="12700" cap="flat" cmpd="sng" algn="ctr">
                      <a:solidFill>
                        <a:srgbClr val="171310"/>
                      </a:solidFill>
                      <a:prstDash val="solid"/>
                      <a:round/>
                      <a:headEnd type="none" w="med" len="med"/>
                      <a:tailEnd type="none" w="med" len="med"/>
                    </a:lnB>
                    <a:solidFill>
                      <a:srgbClr val="1E2530"/>
                    </a:solidFill>
                  </a:tcPr>
                </a:tc>
                <a:tc>
                  <a:txBody>
                    <a:bodyPr/>
                    <a:lstStyle/>
                    <a:p>
                      <a:pPr indent="0" marL="0">
                        <a:buNone/>
                      </a:pPr>
                      <a:r>
                        <a:rPr lang="en-US" sz="1700" dirty="0">
                          <a:solidFill>
                            <a:srgbClr val="7FB4FF"/>
                          </a:solidFill>
                          <a:latin typeface="Arial" pitchFamily="34" charset="0"/>
                          <a:ea typeface="Arial" pitchFamily="34" charset="-122"/>
                          <a:cs typeface="Arial" pitchFamily="34" charset="-120"/>
                        </a:rPr>
                        <a:t>Plans with why · asked you · why they laughed · look-away catch-up · say it as text</a:t>
                      </a:r>
                      <a:endParaRPr lang="en-US" sz="1700" dirty="0">
                        <a:latin typeface="Arial" charset="0"/>
                        <a:ea typeface="Arial" charset="0"/>
                        <a:cs typeface="Arial" charset="0"/>
                      </a:endParaRPr>
                    </a:p>
                  </a:txBody>
                  <a:tcPr marL="137160" marR="137160" marT="91440" marB="91440" anchor="ctr">
                    <a:lnL w="12700" cap="flat" cmpd="sng" algn="ctr">
                      <a:solidFill>
                        <a:srgbClr val="171310"/>
                      </a:solidFill>
                      <a:prstDash val="solid"/>
                      <a:round/>
                      <a:headEnd type="none" w="med" len="med"/>
                      <a:tailEnd type="none" w="med" len="med"/>
                    </a:lnL>
                    <a:lnR w="12700" cap="flat" cmpd="sng" algn="ctr">
                      <a:solidFill>
                        <a:srgbClr val="171310"/>
                      </a:solidFill>
                      <a:prstDash val="solid"/>
                      <a:round/>
                      <a:headEnd type="none" w="med" len="med"/>
                      <a:tailEnd type="none" w="med" len="med"/>
                    </a:lnR>
                    <a:lnT w="12700" cap="flat" cmpd="sng" algn="ctr">
                      <a:solidFill>
                        <a:srgbClr val="171310"/>
                      </a:solidFill>
                      <a:prstDash val="solid"/>
                      <a:round/>
                      <a:headEnd type="none" w="med" len="med"/>
                      <a:tailEnd type="none" w="med" len="med"/>
                    </a:lnT>
                    <a:lnB w="12700" cap="flat" cmpd="sng" algn="ctr">
                      <a:solidFill>
                        <a:srgbClr val="171310"/>
                      </a:solidFill>
                      <a:prstDash val="solid"/>
                      <a:round/>
                      <a:headEnd type="none" w="med" len="med"/>
                      <a:tailEnd type="none" w="med" len="med"/>
                    </a:lnB>
                    <a:solidFill>
                      <a:srgbClr val="1E2530"/>
                    </a:solidFill>
                  </a:tcPr>
                </a:tc>
              </a:tr>
            </a:tbl>
          </a:graphicData>
        </a:graphic>
      </p:graphicFrame>
      <p:sp>
        <p:nvSpPr>
          <p:cNvPr id="6" name="Text 2"/>
          <p:cNvSpPr/>
          <p:nvPr/>
        </p:nvSpPr>
        <p:spPr>
          <a:xfrm>
            <a:off x="548640" y="6400800"/>
            <a:ext cx="7315200" cy="274320"/>
          </a:xfrm>
          <a:prstGeom prst="rect">
            <a:avLst/>
          </a:prstGeom>
          <a:noFill/>
          <a:ln/>
        </p:spPr>
        <p:txBody>
          <a:bodyPr wrap="square" lIns="0" tIns="0" rIns="0" bIns="0" rtlCol="0" anchor="ctr"/>
          <a:lstStyle/>
          <a:p>
            <a:pPr indent="0" marL="0">
              <a:buNone/>
            </a:pPr>
            <a:r>
              <a:rPr lang="en-US" sz="1100" dirty="0">
                <a:solidFill>
                  <a:srgbClr val="6F6457"/>
                </a:solidFill>
                <a:latin typeface="Arial" pitchFamily="34" charset="0"/>
                <a:ea typeface="Arial" pitchFamily="34" charset="-122"/>
                <a:cs typeface="Arial" pitchFamily="34" charset="-120"/>
              </a:rPr>
              <a:t>Sources: research/06-github-landscape.md, research/04-final-synthesis.md</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71310"/>
        </a:solidFill>
      </p:bgPr>
    </p:bg>
    <p:spTree>
      <p:nvGrpSpPr>
        <p:cNvPr id="1" name=""/>
        <p:cNvGrpSpPr/>
        <p:nvPr/>
      </p:nvGrpSpPr>
      <p:grpSpPr>
        <a:xfrm>
          <a:off x="0" y="0"/>
          <a:ext cx="0" cy="0"/>
          <a:chOff x="0" y="0"/>
          <a:chExt cx="0" cy="0"/>
        </a:xfrm>
      </p:grpSpPr>
      <p:sp>
        <p:nvSpPr>
          <p:cNvPr id="3" name="Text 0"/>
          <p:cNvSpPr/>
          <p:nvPr/>
        </p:nvSpPr>
        <p:spPr>
          <a:xfrm>
            <a:off x="548640" y="411480"/>
            <a:ext cx="7315200" cy="320040"/>
          </a:xfrm>
          <a:prstGeom prst="rect">
            <a:avLst/>
          </a:prstGeom>
          <a:noFill/>
          <a:ln/>
        </p:spPr>
        <p:txBody>
          <a:bodyPr wrap="square" lIns="0" tIns="0" rIns="0" bIns="0" rtlCol="0" anchor="ctr"/>
          <a:lstStyle/>
          <a:p>
            <a:pPr indent="0" marL="0">
              <a:buNone/>
            </a:pPr>
            <a:r>
              <a:rPr lang="en-US" sz="1300" b="1" spc="400" kern="0" dirty="0">
                <a:solidFill>
                  <a:srgbClr val="A89B8A"/>
                </a:solidFill>
                <a:latin typeface="Arial" pitchFamily="34" charset="0"/>
                <a:ea typeface="Arial" pitchFamily="34" charset="-122"/>
                <a:cs typeface="Arial" pitchFamily="34" charset="-120"/>
              </a:rPr>
              <a:t>HOW IT WORKS</a:t>
            </a:r>
            <a:endParaRPr lang="en-US" sz="1300" dirty="0"/>
          </a:p>
        </p:txBody>
      </p:sp>
      <p:sp>
        <p:nvSpPr>
          <p:cNvPr id="4" name="Text 1"/>
          <p:cNvSpPr/>
          <p:nvPr/>
        </p:nvSpPr>
        <p:spPr>
          <a:xfrm>
            <a:off x="548640" y="731520"/>
            <a:ext cx="11094415" cy="731520"/>
          </a:xfrm>
          <a:prstGeom prst="rect">
            <a:avLst/>
          </a:prstGeom>
          <a:noFill/>
          <a:ln/>
        </p:spPr>
        <p:txBody>
          <a:bodyPr wrap="square" lIns="0" tIns="0" rIns="0" bIns="0" rtlCol="0" anchor="t"/>
          <a:lstStyle/>
          <a:p>
            <a:pPr indent="0" marL="0">
              <a:buNone/>
            </a:pPr>
            <a:r>
              <a:rPr lang="en-US" sz="4000" dirty="0">
                <a:solidFill>
                  <a:srgbClr val="F1E9DD"/>
                </a:solidFill>
                <a:latin typeface="Georgia" pitchFamily="34" charset="0"/>
                <a:ea typeface="Georgia" pitchFamily="34" charset="-122"/>
                <a:cs typeface="Georgia" pitchFamily="34" charset="-120"/>
              </a:rPr>
              <a:t>From the table to a card, in seconds.</a:t>
            </a:r>
            <a:endParaRPr lang="en-US" sz="4000" dirty="0"/>
          </a:p>
        </p:txBody>
      </p:sp>
      <p:sp>
        <p:nvSpPr>
          <p:cNvPr id="5" name="Shape 2"/>
          <p:cNvSpPr/>
          <p:nvPr/>
        </p:nvSpPr>
        <p:spPr>
          <a:xfrm>
            <a:off x="548640" y="1920240"/>
            <a:ext cx="2240280" cy="2103120"/>
          </a:xfrm>
          <a:prstGeom prst="roundRect">
            <a:avLst>
              <a:gd name="adj" fmla="val 5217"/>
            </a:avLst>
          </a:prstGeom>
          <a:solidFill>
            <a:srgbClr val="211B16"/>
          </a:solidFill>
          <a:ln w="15875">
            <a:solidFill>
              <a:srgbClr val="3A3029"/>
            </a:solidFill>
            <a:prstDash val="solid"/>
          </a:ln>
        </p:spPr>
      </p:sp>
      <p:sp>
        <p:nvSpPr>
          <p:cNvPr id="6" name="Text 3"/>
          <p:cNvSpPr/>
          <p:nvPr/>
        </p:nvSpPr>
        <p:spPr>
          <a:xfrm>
            <a:off x="749808" y="2121408"/>
            <a:ext cx="1874520" cy="731520"/>
          </a:xfrm>
          <a:prstGeom prst="rect">
            <a:avLst/>
          </a:prstGeom>
          <a:noFill/>
          <a:ln/>
        </p:spPr>
        <p:txBody>
          <a:bodyPr wrap="square" lIns="0" tIns="0" rIns="0" bIns="0" rtlCol="0" anchor="t"/>
          <a:lstStyle/>
          <a:p>
            <a:pPr indent="0" marL="0">
              <a:buNone/>
            </a:pPr>
            <a:r>
              <a:rPr lang="en-US" sz="2000" b="1" dirty="0">
                <a:solidFill>
                  <a:srgbClr val="F1E9DD"/>
                </a:solidFill>
                <a:latin typeface="Arial" pitchFamily="34" charset="0"/>
                <a:ea typeface="Arial" pitchFamily="34" charset="-122"/>
                <a:cs typeface="Arial" pitchFamily="34" charset="-120"/>
              </a:rPr>
              <a:t>Phones on the table</a:t>
            </a:r>
            <a:endParaRPr lang="en-US" sz="2000" dirty="0"/>
          </a:p>
        </p:txBody>
      </p:sp>
      <p:sp>
        <p:nvSpPr>
          <p:cNvPr id="7" name="Text 4"/>
          <p:cNvSpPr/>
          <p:nvPr/>
        </p:nvSpPr>
        <p:spPr>
          <a:xfrm>
            <a:off x="749808" y="2880360"/>
            <a:ext cx="1874520" cy="1051560"/>
          </a:xfrm>
          <a:prstGeom prst="rect">
            <a:avLst/>
          </a:prstGeom>
          <a:noFill/>
          <a:ln/>
        </p:spPr>
        <p:txBody>
          <a:bodyPr wrap="square" lIns="0" tIns="0" rIns="0" bIns="0" rtlCol="0" anchor="t"/>
          <a:lstStyle/>
          <a:p>
            <a:pPr indent="0" marL="0">
              <a:buNone/>
            </a:pPr>
            <a:r>
              <a:rPr lang="en-US" sz="1500" dirty="0">
                <a:solidFill>
                  <a:srgbClr val="A89B8A"/>
                </a:solidFill>
                <a:latin typeface="Arial" pitchFamily="34" charset="0"/>
                <a:ea typeface="Arial" pitchFamily="34" charset="-122"/>
                <a:cs typeface="Arial" pitchFamily="34" charset="-120"/>
              </a:rPr>
              <a:t>One mic per person, joined by QR</a:t>
            </a:r>
            <a:endParaRPr lang="en-US" sz="1500" dirty="0"/>
          </a:p>
        </p:txBody>
      </p:sp>
      <p:sp>
        <p:nvSpPr>
          <p:cNvPr id="8" name="Shape 5"/>
          <p:cNvSpPr/>
          <p:nvPr/>
        </p:nvSpPr>
        <p:spPr>
          <a:xfrm>
            <a:off x="2834640" y="2971800"/>
            <a:ext cx="246888" cy="0"/>
          </a:xfrm>
          <a:prstGeom prst="line">
            <a:avLst/>
          </a:prstGeom>
          <a:noFill/>
          <a:ln w="25400">
            <a:solidFill>
              <a:srgbClr val="7FB4FF"/>
            </a:solidFill>
            <a:prstDash val="solid"/>
            <a:tailEnd type="triangle"/>
          </a:ln>
        </p:spPr>
      </p:sp>
      <p:sp>
        <p:nvSpPr>
          <p:cNvPr id="9" name="Shape 6"/>
          <p:cNvSpPr/>
          <p:nvPr/>
        </p:nvSpPr>
        <p:spPr>
          <a:xfrm>
            <a:off x="3127248" y="1920240"/>
            <a:ext cx="2423160" cy="2103120"/>
          </a:xfrm>
          <a:prstGeom prst="roundRect">
            <a:avLst>
              <a:gd name="adj" fmla="val 5217"/>
            </a:avLst>
          </a:prstGeom>
          <a:solidFill>
            <a:srgbClr val="211B16"/>
          </a:solidFill>
          <a:ln w="15875">
            <a:solidFill>
              <a:srgbClr val="3A3029"/>
            </a:solidFill>
            <a:prstDash val="solid"/>
          </a:ln>
        </p:spPr>
      </p:sp>
      <p:sp>
        <p:nvSpPr>
          <p:cNvPr id="10" name="Text 7"/>
          <p:cNvSpPr/>
          <p:nvPr/>
        </p:nvSpPr>
        <p:spPr>
          <a:xfrm>
            <a:off x="3328416" y="2121408"/>
            <a:ext cx="2057400" cy="731520"/>
          </a:xfrm>
          <a:prstGeom prst="rect">
            <a:avLst/>
          </a:prstGeom>
          <a:noFill/>
          <a:ln/>
        </p:spPr>
        <p:txBody>
          <a:bodyPr wrap="square" lIns="0" tIns="0" rIns="0" bIns="0" rtlCol="0" anchor="t"/>
          <a:lstStyle/>
          <a:p>
            <a:pPr indent="0" marL="0">
              <a:buNone/>
            </a:pPr>
            <a:r>
              <a:rPr lang="en-US" sz="2000" b="1" dirty="0">
                <a:solidFill>
                  <a:srgbClr val="F1E9DD"/>
                </a:solidFill>
                <a:latin typeface="Arial" pitchFamily="34" charset="0"/>
                <a:ea typeface="Arial" pitchFamily="34" charset="-122"/>
                <a:cs typeface="Arial" pitchFamily="34" charset="-120"/>
              </a:rPr>
              <a:t>Deepgram nova-3</a:t>
            </a:r>
            <a:endParaRPr lang="en-US" sz="2000" dirty="0"/>
          </a:p>
        </p:txBody>
      </p:sp>
      <p:sp>
        <p:nvSpPr>
          <p:cNvPr id="11" name="Text 8"/>
          <p:cNvSpPr/>
          <p:nvPr/>
        </p:nvSpPr>
        <p:spPr>
          <a:xfrm>
            <a:off x="3328416" y="2880360"/>
            <a:ext cx="2057400" cy="1051560"/>
          </a:xfrm>
          <a:prstGeom prst="rect">
            <a:avLst/>
          </a:prstGeom>
          <a:noFill/>
          <a:ln/>
        </p:spPr>
        <p:txBody>
          <a:bodyPr wrap="square" lIns="0" tIns="0" rIns="0" bIns="0" rtlCol="0" anchor="t"/>
          <a:lstStyle/>
          <a:p>
            <a:pPr indent="0" marL="0">
              <a:buNone/>
            </a:pPr>
            <a:r>
              <a:rPr lang="en-US" sz="1500" dirty="0">
                <a:solidFill>
                  <a:srgbClr val="A89B8A"/>
                </a:solidFill>
                <a:latin typeface="Arial" pitchFamily="34" charset="0"/>
                <a:ea typeface="Arial" pitchFamily="34" charset="-122"/>
                <a:cs typeface="Arial" pitchFamily="34" charset="-120"/>
              </a:rPr>
              <a:t>Streaming ASR per phone. English, Italian, Turkish.</a:t>
            </a:r>
            <a:endParaRPr lang="en-US" sz="1500" dirty="0"/>
          </a:p>
        </p:txBody>
      </p:sp>
      <p:sp>
        <p:nvSpPr>
          <p:cNvPr id="12" name="Shape 9"/>
          <p:cNvSpPr/>
          <p:nvPr/>
        </p:nvSpPr>
        <p:spPr>
          <a:xfrm>
            <a:off x="5596128" y="2971800"/>
            <a:ext cx="246888" cy="0"/>
          </a:xfrm>
          <a:prstGeom prst="line">
            <a:avLst/>
          </a:prstGeom>
          <a:noFill/>
          <a:ln w="25400">
            <a:solidFill>
              <a:srgbClr val="7FB4FF"/>
            </a:solidFill>
            <a:prstDash val="solid"/>
            <a:tailEnd type="triangle"/>
          </a:ln>
        </p:spPr>
      </p:sp>
      <p:sp>
        <p:nvSpPr>
          <p:cNvPr id="13" name="Shape 10"/>
          <p:cNvSpPr/>
          <p:nvPr/>
        </p:nvSpPr>
        <p:spPr>
          <a:xfrm>
            <a:off x="5888736" y="1920240"/>
            <a:ext cx="2240280" cy="2103120"/>
          </a:xfrm>
          <a:prstGeom prst="roundRect">
            <a:avLst>
              <a:gd name="adj" fmla="val 5217"/>
            </a:avLst>
          </a:prstGeom>
          <a:solidFill>
            <a:srgbClr val="211B16"/>
          </a:solidFill>
          <a:ln w="15875">
            <a:solidFill>
              <a:srgbClr val="3A3029"/>
            </a:solidFill>
            <a:prstDash val="solid"/>
          </a:ln>
        </p:spPr>
      </p:sp>
      <p:sp>
        <p:nvSpPr>
          <p:cNvPr id="14" name="Text 11"/>
          <p:cNvSpPr/>
          <p:nvPr/>
        </p:nvSpPr>
        <p:spPr>
          <a:xfrm>
            <a:off x="6089904" y="2121408"/>
            <a:ext cx="1874520" cy="731520"/>
          </a:xfrm>
          <a:prstGeom prst="rect">
            <a:avLst/>
          </a:prstGeom>
          <a:noFill/>
          <a:ln/>
        </p:spPr>
        <p:txBody>
          <a:bodyPr wrap="square" lIns="0" tIns="0" rIns="0" bIns="0" rtlCol="0" anchor="t"/>
          <a:lstStyle/>
          <a:p>
            <a:pPr indent="0" marL="0">
              <a:buNone/>
            </a:pPr>
            <a:r>
              <a:rPr lang="en-US" sz="2000" b="1" dirty="0">
                <a:solidFill>
                  <a:srgbClr val="F1E9DD"/>
                </a:solidFill>
                <a:latin typeface="Arial" pitchFamily="34" charset="0"/>
                <a:ea typeface="Arial" pitchFamily="34" charset="-122"/>
                <a:cs typeface="Arial" pitchFamily="34" charset="-120"/>
              </a:rPr>
              <a:t>Browser ledger</a:t>
            </a:r>
            <a:endParaRPr lang="en-US" sz="2000" dirty="0"/>
          </a:p>
        </p:txBody>
      </p:sp>
      <p:sp>
        <p:nvSpPr>
          <p:cNvPr id="15" name="Text 12"/>
          <p:cNvSpPr/>
          <p:nvPr/>
        </p:nvSpPr>
        <p:spPr>
          <a:xfrm>
            <a:off x="6089904" y="2880360"/>
            <a:ext cx="1874520" cy="1051560"/>
          </a:xfrm>
          <a:prstGeom prst="rect">
            <a:avLst/>
          </a:prstGeom>
          <a:noFill/>
          <a:ln/>
        </p:spPr>
        <p:txBody>
          <a:bodyPr wrap="square" lIns="0" tIns="0" rIns="0" bIns="0" rtlCol="0" anchor="t"/>
          <a:lstStyle/>
          <a:p>
            <a:pPr indent="0" marL="0">
              <a:buNone/>
            </a:pPr>
            <a:r>
              <a:rPr lang="en-US" sz="1500" dirty="0">
                <a:solidFill>
                  <a:srgbClr val="A89B8A"/>
                </a:solidFill>
                <a:latin typeface="Arial" pitchFamily="34" charset="0"/>
                <a:ea typeface="Arial" pitchFamily="34" charset="-122"/>
                <a:cs typeface="Arial" pitchFamily="34" charset="-120"/>
              </a:rPr>
              <a:t>Who said what, when. Lives in memory.</a:t>
            </a:r>
            <a:endParaRPr lang="en-US" sz="1500" dirty="0"/>
          </a:p>
        </p:txBody>
      </p:sp>
      <p:sp>
        <p:nvSpPr>
          <p:cNvPr id="16" name="Shape 13"/>
          <p:cNvSpPr/>
          <p:nvPr/>
        </p:nvSpPr>
        <p:spPr>
          <a:xfrm>
            <a:off x="8174736" y="2971800"/>
            <a:ext cx="246888" cy="0"/>
          </a:xfrm>
          <a:prstGeom prst="line">
            <a:avLst/>
          </a:prstGeom>
          <a:noFill/>
          <a:ln w="25400">
            <a:solidFill>
              <a:srgbClr val="7FB4FF"/>
            </a:solidFill>
            <a:prstDash val="solid"/>
            <a:tailEnd type="triangle"/>
          </a:ln>
        </p:spPr>
      </p:sp>
      <p:sp>
        <p:nvSpPr>
          <p:cNvPr id="17" name="Shape 14"/>
          <p:cNvSpPr/>
          <p:nvPr/>
        </p:nvSpPr>
        <p:spPr>
          <a:xfrm>
            <a:off x="8467344" y="1920240"/>
            <a:ext cx="3063240" cy="2103120"/>
          </a:xfrm>
          <a:prstGeom prst="roundRect">
            <a:avLst>
              <a:gd name="adj" fmla="val 5217"/>
            </a:avLst>
          </a:prstGeom>
          <a:solidFill>
            <a:srgbClr val="211B16"/>
          </a:solidFill>
          <a:ln w="15875">
            <a:solidFill>
              <a:srgbClr val="7FB4FF"/>
            </a:solidFill>
            <a:prstDash val="solid"/>
          </a:ln>
        </p:spPr>
      </p:sp>
      <p:sp>
        <p:nvSpPr>
          <p:cNvPr id="18" name="Text 15"/>
          <p:cNvSpPr/>
          <p:nvPr/>
        </p:nvSpPr>
        <p:spPr>
          <a:xfrm>
            <a:off x="8668512" y="2121408"/>
            <a:ext cx="2697480" cy="731520"/>
          </a:xfrm>
          <a:prstGeom prst="rect">
            <a:avLst/>
          </a:prstGeom>
          <a:noFill/>
          <a:ln/>
        </p:spPr>
        <p:txBody>
          <a:bodyPr wrap="square" lIns="0" tIns="0" rIns="0" bIns="0" rtlCol="0" anchor="t"/>
          <a:lstStyle/>
          <a:p>
            <a:pPr indent="0" marL="0">
              <a:buNone/>
            </a:pPr>
            <a:r>
              <a:rPr lang="en-US" sz="2000" b="1" dirty="0">
                <a:solidFill>
                  <a:srgbClr val="7FB4FF"/>
                </a:solidFill>
                <a:latin typeface="Arial" pitchFamily="34" charset="0"/>
                <a:ea typeface="Arial" pitchFamily="34" charset="-122"/>
                <a:cs typeface="Arial" pitchFamily="34" charset="-120"/>
              </a:rPr>
              <a:t>Claude, structured calls</a:t>
            </a:r>
            <a:endParaRPr lang="en-US" sz="2000" dirty="0"/>
          </a:p>
        </p:txBody>
      </p:sp>
      <p:sp>
        <p:nvSpPr>
          <p:cNvPr id="19" name="Text 16"/>
          <p:cNvSpPr/>
          <p:nvPr/>
        </p:nvSpPr>
        <p:spPr>
          <a:xfrm>
            <a:off x="8668512" y="2880360"/>
            <a:ext cx="2697480" cy="1051560"/>
          </a:xfrm>
          <a:prstGeom prst="rect">
            <a:avLst/>
          </a:prstGeom>
          <a:noFill/>
          <a:ln/>
        </p:spPr>
        <p:txBody>
          <a:bodyPr wrap="square" lIns="0" tIns="0" rIns="0" bIns="0" rtlCol="0" anchor="t"/>
          <a:lstStyle/>
          <a:p>
            <a:pPr indent="0" marL="0">
              <a:buNone/>
            </a:pPr>
            <a:r>
              <a:rPr lang="en-US" sz="1500" dirty="0">
                <a:solidFill>
                  <a:srgbClr val="A89B8A"/>
                </a:solidFill>
                <a:latin typeface="Arial" pitchFamily="34" charset="0"/>
                <a:ea typeface="Arial" pitchFamily="34" charset="-122"/>
                <a:cs typeface="Arial" pitchFamily="34" charset="-120"/>
              </a:rPr>
              <a:t>gate 0.7 s · ledger 4–6 s · catch-up 4 s. Returns fields, never prose.</a:t>
            </a:r>
            <a:endParaRPr lang="en-US" sz="1500" dirty="0"/>
          </a:p>
        </p:txBody>
      </p:sp>
      <p:sp>
        <p:nvSpPr>
          <p:cNvPr id="20" name="Shape 17"/>
          <p:cNvSpPr/>
          <p:nvPr/>
        </p:nvSpPr>
        <p:spPr>
          <a:xfrm flipV="1">
            <a:off x="7008876" y="4709160"/>
            <a:ext cx="0" cy="-640080"/>
          </a:xfrm>
          <a:prstGeom prst="line">
            <a:avLst/>
          </a:prstGeom>
          <a:noFill/>
          <a:ln w="25400">
            <a:solidFill>
              <a:srgbClr val="7FB4FF"/>
            </a:solidFill>
            <a:prstDash val="solid"/>
            <a:tailEnd type="triangle"/>
          </a:ln>
        </p:spPr>
      </p:sp>
      <p:sp>
        <p:nvSpPr>
          <p:cNvPr id="21" name="Shape 18"/>
          <p:cNvSpPr/>
          <p:nvPr/>
        </p:nvSpPr>
        <p:spPr>
          <a:xfrm>
            <a:off x="548640" y="4709160"/>
            <a:ext cx="7580376" cy="960120"/>
          </a:xfrm>
          <a:prstGeom prst="roundRect">
            <a:avLst>
              <a:gd name="adj" fmla="val 11429"/>
            </a:avLst>
          </a:prstGeom>
          <a:solidFill>
            <a:srgbClr val="211B16"/>
          </a:solidFill>
          <a:ln w="15875">
            <a:solidFill>
              <a:srgbClr val="3A3029"/>
            </a:solidFill>
            <a:prstDash val="solid"/>
          </a:ln>
        </p:spPr>
      </p:sp>
      <p:sp>
        <p:nvSpPr>
          <p:cNvPr id="22" name="Text 19"/>
          <p:cNvSpPr/>
          <p:nvPr/>
        </p:nvSpPr>
        <p:spPr>
          <a:xfrm>
            <a:off x="749808" y="4709160"/>
            <a:ext cx="7214616" cy="960120"/>
          </a:xfrm>
          <a:prstGeom prst="rect">
            <a:avLst/>
          </a:prstGeom>
          <a:noFill/>
          <a:ln/>
        </p:spPr>
        <p:txBody>
          <a:bodyPr wrap="square" lIns="0" tIns="0" rIns="0" bIns="0" rtlCol="0" anchor="ctr"/>
          <a:lstStyle/>
          <a:p>
            <a:pPr indent="0" marL="0">
              <a:buNone/>
            </a:pPr>
            <a:r>
              <a:rPr lang="en-US" sz="1800" b="1" dirty="0">
                <a:solidFill>
                  <a:srgbClr val="F1E9DD"/>
                </a:solidFill>
                <a:latin typeface="Arial" pitchFamily="34" charset="0"/>
                <a:ea typeface="Arial" pitchFamily="34" charset="-122"/>
                <a:cs typeface="Arial" pitchFamily="34" charset="-120"/>
              </a:rPr>
              <a:t>On-device camera  </a:t>
            </a:r>
            <a:pPr indent="0" marL="0">
              <a:buNone/>
            </a:pPr>
            <a:r>
              <a:rPr lang="en-US" sz="1800" dirty="0">
                <a:solidFill>
                  <a:srgbClr val="A89B8A"/>
                </a:solidFill>
                <a:latin typeface="Arial" pitchFamily="34" charset="0"/>
                <a:ea typeface="Arial" pitchFamily="34" charset="-122"/>
                <a:cs typeface="Arial" pitchFamily="34" charset="-120"/>
              </a:rPr>
              <a:t>sends only “away” / “back.” No video leaves the phone.</a:t>
            </a:r>
            <a:endParaRPr lang="en-US" sz="1800" dirty="0"/>
          </a:p>
        </p:txBody>
      </p:sp>
      <p:sp>
        <p:nvSpPr>
          <p:cNvPr id="23" name="Shape 20"/>
          <p:cNvSpPr/>
          <p:nvPr/>
        </p:nvSpPr>
        <p:spPr>
          <a:xfrm>
            <a:off x="9998964" y="4069080"/>
            <a:ext cx="0" cy="594360"/>
          </a:xfrm>
          <a:prstGeom prst="line">
            <a:avLst/>
          </a:prstGeom>
          <a:noFill/>
          <a:ln w="25400">
            <a:solidFill>
              <a:srgbClr val="7FB4FF"/>
            </a:solidFill>
            <a:prstDash val="solid"/>
            <a:tailEnd type="triangle"/>
          </a:ln>
        </p:spPr>
      </p:sp>
      <p:pic>
        <p:nvPicPr>
          <p:cNvPr id="24" name="Image 0" descr="/Users/bera/Documents/GitHub/bainsahack/pitch/build/assets/note.png">    </p:cNvPr>
          <p:cNvPicPr>
            <a:picLocks noChangeAspect="1"/>
          </p:cNvPicPr>
          <p:nvPr/>
        </p:nvPicPr>
        <p:blipFill>
          <a:blip r:embed="rId1"/>
          <a:stretch>
            <a:fillRect/>
          </a:stretch>
        </p:blipFill>
        <p:spPr>
          <a:xfrm>
            <a:off x="8485632" y="4754880"/>
            <a:ext cx="566928" cy="566928"/>
          </a:xfrm>
          <a:prstGeom prst="rect">
            <a:avLst/>
          </a:prstGeom>
        </p:spPr>
      </p:pic>
      <p:pic>
        <p:nvPicPr>
          <p:cNvPr id="25" name="Image 1" descr="/Users/bera/Documents/GitHub/bainsahack/pitch/build/assets/bell.png">    </p:cNvPr>
          <p:cNvPicPr>
            <a:picLocks noChangeAspect="1"/>
          </p:cNvPicPr>
          <p:nvPr/>
        </p:nvPicPr>
        <p:blipFill>
          <a:blip r:embed="rId2"/>
          <a:stretch>
            <a:fillRect/>
          </a:stretch>
        </p:blipFill>
        <p:spPr>
          <a:xfrm>
            <a:off x="9089136" y="4754880"/>
            <a:ext cx="566928" cy="566928"/>
          </a:xfrm>
          <a:prstGeom prst="rect">
            <a:avLst/>
          </a:prstGeom>
        </p:spPr>
      </p:pic>
      <p:pic>
        <p:nvPicPr>
          <p:cNvPr id="26" name="Image 2" descr="/Users/bera/Documents/GitHub/bainsahack/pitch/build/assets/popper.png">    </p:cNvPr>
          <p:cNvPicPr>
            <a:picLocks noChangeAspect="1"/>
          </p:cNvPicPr>
          <p:nvPr/>
        </p:nvPicPr>
        <p:blipFill>
          <a:blip r:embed="rId3"/>
          <a:stretch>
            <a:fillRect/>
          </a:stretch>
        </p:blipFill>
        <p:spPr>
          <a:xfrm>
            <a:off x="9692640" y="4754880"/>
            <a:ext cx="566928" cy="566928"/>
          </a:xfrm>
          <a:prstGeom prst="rect">
            <a:avLst/>
          </a:prstGeom>
        </p:spPr>
      </p:pic>
      <p:pic>
        <p:nvPicPr>
          <p:cNvPr id="27" name="Image 3" descr="/Users/bera/Documents/GitHub/bainsahack/pitch/build/assets/mug.png">    </p:cNvPr>
          <p:cNvPicPr>
            <a:picLocks noChangeAspect="1"/>
          </p:cNvPicPr>
          <p:nvPr/>
        </p:nvPicPr>
        <p:blipFill>
          <a:blip r:embed="rId4"/>
          <a:stretch>
            <a:fillRect/>
          </a:stretch>
        </p:blipFill>
        <p:spPr>
          <a:xfrm>
            <a:off x="10296144" y="4754880"/>
            <a:ext cx="566928" cy="566928"/>
          </a:xfrm>
          <a:prstGeom prst="rect">
            <a:avLst/>
          </a:prstGeom>
        </p:spPr>
      </p:pic>
      <p:pic>
        <p:nvPicPr>
          <p:cNvPr id="28" name="Image 4" descr="/Users/bera/Documents/GitHub/bainsahack/pitch/build/assets/card.png">    </p:cNvPr>
          <p:cNvPicPr>
            <a:picLocks noChangeAspect="1"/>
          </p:cNvPicPr>
          <p:nvPr/>
        </p:nvPicPr>
        <p:blipFill>
          <a:blip r:embed="rId5"/>
          <a:stretch>
            <a:fillRect/>
          </a:stretch>
        </p:blipFill>
        <p:spPr>
          <a:xfrm>
            <a:off x="10899648" y="4754880"/>
            <a:ext cx="566928" cy="566928"/>
          </a:xfrm>
          <a:prstGeom prst="rect">
            <a:avLst/>
          </a:prstGeom>
        </p:spPr>
      </p:pic>
      <p:sp>
        <p:nvSpPr>
          <p:cNvPr id="29" name="Text 21"/>
          <p:cNvSpPr/>
          <p:nvPr/>
        </p:nvSpPr>
        <p:spPr>
          <a:xfrm>
            <a:off x="8467344" y="5349240"/>
            <a:ext cx="3063240" cy="320040"/>
          </a:xfrm>
          <a:prstGeom prst="rect">
            <a:avLst/>
          </a:prstGeom>
          <a:noFill/>
          <a:ln/>
        </p:spPr>
        <p:txBody>
          <a:bodyPr wrap="square" lIns="0" tIns="0" rIns="0" bIns="0" rtlCol="0" anchor="ctr"/>
          <a:lstStyle/>
          <a:p>
            <a:pPr algn="ctr" indent="0" marL="0">
              <a:buNone/>
            </a:pPr>
            <a:r>
              <a:rPr lang="en-US" sz="1400" dirty="0">
                <a:solidFill>
                  <a:srgbClr val="A89B8A"/>
                </a:solidFill>
                <a:latin typeface="Arial" pitchFamily="34" charset="0"/>
                <a:ea typeface="Arial" pitchFamily="34" charset="-122"/>
                <a:cs typeface="Arial" pitchFamily="34" charset="-120"/>
              </a:rPr>
              <a:t>the cards</a:t>
            </a:r>
            <a:endParaRPr lang="en-US" sz="1400" dirty="0"/>
          </a:p>
        </p:txBody>
      </p:sp>
      <p:sp>
        <p:nvSpPr>
          <p:cNvPr id="30" name="Text 22"/>
          <p:cNvSpPr/>
          <p:nvPr/>
        </p:nvSpPr>
        <p:spPr>
          <a:xfrm>
            <a:off x="548640" y="6035040"/>
            <a:ext cx="11094415" cy="411480"/>
          </a:xfrm>
          <a:prstGeom prst="rect">
            <a:avLst/>
          </a:prstGeom>
          <a:noFill/>
          <a:ln/>
        </p:spPr>
        <p:txBody>
          <a:bodyPr wrap="square" lIns="0" tIns="0" rIns="0" bIns="0" rtlCol="0" anchor="ctr"/>
          <a:lstStyle/>
          <a:p>
            <a:pPr indent="0" marL="0">
              <a:buNone/>
            </a:pPr>
            <a:r>
              <a:rPr lang="en-US" sz="2000" b="1" dirty="0">
                <a:solidFill>
                  <a:srgbClr val="F1E9DD"/>
                </a:solidFill>
                <a:latin typeface="Arial" pitchFamily="34" charset="0"/>
                <a:ea typeface="Arial" pitchFamily="34" charset="-122"/>
                <a:cs typeface="Arial" pitchFamily="34" charset="-120"/>
              </a:rPr>
              <a:t>Nothing stored. </a:t>
            </a:r>
            <a:pPr indent="0" marL="0">
              <a:buNone/>
            </a:pPr>
            <a:r>
              <a:rPr lang="en-US" sz="2000" dirty="0">
                <a:solidFill>
                  <a:srgbClr val="A89B8A"/>
                </a:solidFill>
                <a:latin typeface="Arial" pitchFamily="34" charset="0"/>
                <a:ea typeface="Arial" pitchFamily="34" charset="-122"/>
                <a:cs typeface="Arial" pitchFamily="34" charset="-120"/>
              </a:rPr>
              <a:t>In memory only, gone when the session closes.</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71310"/>
        </a:solidFill>
      </p:bgPr>
    </p:bg>
    <p:spTree>
      <p:nvGrpSpPr>
        <p:cNvPr id="1" name=""/>
        <p:cNvGrpSpPr/>
        <p:nvPr/>
      </p:nvGrpSpPr>
      <p:grpSpPr>
        <a:xfrm>
          <a:off x="0" y="0"/>
          <a:ext cx="0" cy="0"/>
          <a:chOff x="0" y="0"/>
          <a:chExt cx="0" cy="0"/>
        </a:xfrm>
      </p:grpSpPr>
      <p:sp>
        <p:nvSpPr>
          <p:cNvPr id="3" name="Text 0"/>
          <p:cNvSpPr/>
          <p:nvPr/>
        </p:nvSpPr>
        <p:spPr>
          <a:xfrm>
            <a:off x="548640" y="411480"/>
            <a:ext cx="7315200" cy="320040"/>
          </a:xfrm>
          <a:prstGeom prst="rect">
            <a:avLst/>
          </a:prstGeom>
          <a:noFill/>
          <a:ln/>
        </p:spPr>
        <p:txBody>
          <a:bodyPr wrap="square" lIns="0" tIns="0" rIns="0" bIns="0" rtlCol="0" anchor="ctr"/>
          <a:lstStyle/>
          <a:p>
            <a:pPr indent="0" marL="0">
              <a:buNone/>
            </a:pPr>
            <a:r>
              <a:rPr lang="en-US" sz="1300" b="1" spc="400" kern="0" dirty="0">
                <a:solidFill>
                  <a:srgbClr val="A89B8A"/>
                </a:solidFill>
                <a:latin typeface="Arial" pitchFamily="34" charset="0"/>
                <a:ea typeface="Arial" pitchFamily="34" charset="-122"/>
                <a:cs typeface="Arial" pitchFamily="34" charset="-120"/>
              </a:rPr>
              <a:t>SCOPE, LIMITS, NEXT</a:t>
            </a:r>
            <a:endParaRPr lang="en-US" sz="1300" dirty="0"/>
          </a:p>
        </p:txBody>
      </p:sp>
      <p:sp>
        <p:nvSpPr>
          <p:cNvPr id="4" name="Text 1"/>
          <p:cNvSpPr/>
          <p:nvPr/>
        </p:nvSpPr>
        <p:spPr>
          <a:xfrm>
            <a:off x="548640" y="731520"/>
            <a:ext cx="6035040" cy="731520"/>
          </a:xfrm>
          <a:prstGeom prst="rect">
            <a:avLst/>
          </a:prstGeom>
          <a:noFill/>
          <a:ln/>
        </p:spPr>
        <p:txBody>
          <a:bodyPr wrap="square" lIns="0" tIns="0" rIns="0" bIns="0" rtlCol="0" anchor="t"/>
          <a:lstStyle/>
          <a:p>
            <a:pPr indent="0" marL="0">
              <a:buNone/>
            </a:pPr>
            <a:r>
              <a:rPr lang="en-US" sz="4000" dirty="0">
                <a:solidFill>
                  <a:srgbClr val="F1E9DD"/>
                </a:solidFill>
                <a:latin typeface="Georgia" pitchFamily="34" charset="0"/>
                <a:ea typeface="Georgia" pitchFamily="34" charset="-122"/>
                <a:cs typeface="Georgia" pitchFamily="34" charset="-120"/>
              </a:rPr>
              <a:t>What this is, and isn't.</a:t>
            </a:r>
            <a:endParaRPr lang="en-US" sz="4000" dirty="0"/>
          </a:p>
        </p:txBody>
      </p:sp>
      <p:sp>
        <p:nvSpPr>
          <p:cNvPr id="5" name="Text 2"/>
          <p:cNvSpPr/>
          <p:nvPr/>
        </p:nvSpPr>
        <p:spPr>
          <a:xfrm>
            <a:off x="548640" y="1728216"/>
            <a:ext cx="1417320" cy="320040"/>
          </a:xfrm>
          <a:prstGeom prst="rect">
            <a:avLst/>
          </a:prstGeom>
          <a:noFill/>
          <a:ln/>
        </p:spPr>
        <p:txBody>
          <a:bodyPr wrap="square" lIns="0" tIns="0" rIns="0" bIns="0" rtlCol="0" anchor="t"/>
          <a:lstStyle/>
          <a:p>
            <a:pPr indent="0" marL="0">
              <a:buNone/>
            </a:pPr>
            <a:r>
              <a:rPr lang="en-US" sz="1300" b="1" spc="200" kern="0" dirty="0">
                <a:solidFill>
                  <a:srgbClr val="A89B8A"/>
                </a:solidFill>
                <a:latin typeface="Arial" pitchFamily="34" charset="0"/>
                <a:ea typeface="Arial" pitchFamily="34" charset="-122"/>
                <a:cs typeface="Arial" pitchFamily="34" charset="-120"/>
              </a:rPr>
              <a:t>BUILT FOR</a:t>
            </a:r>
            <a:endParaRPr lang="en-US" sz="1300" dirty="0"/>
          </a:p>
        </p:txBody>
      </p:sp>
      <p:sp>
        <p:nvSpPr>
          <p:cNvPr id="6" name="Text 3"/>
          <p:cNvSpPr/>
          <p:nvPr/>
        </p:nvSpPr>
        <p:spPr>
          <a:xfrm>
            <a:off x="2011680" y="1691640"/>
            <a:ext cx="4572000" cy="777240"/>
          </a:xfrm>
          <a:prstGeom prst="rect">
            <a:avLst/>
          </a:prstGeom>
          <a:noFill/>
          <a:ln/>
        </p:spPr>
        <p:txBody>
          <a:bodyPr wrap="square" lIns="0" tIns="0" rIns="0" bIns="0" rtlCol="0" anchor="t"/>
          <a:lstStyle/>
          <a:p>
            <a:pPr indent="0" marL="0">
              <a:buNone/>
            </a:pPr>
            <a:r>
              <a:rPr lang="en-US" sz="2000" dirty="0">
                <a:solidFill>
                  <a:srgbClr val="F1E9DD"/>
                </a:solidFill>
                <a:latin typeface="Arial" pitchFamily="34" charset="0"/>
                <a:ea typeface="Arial" pitchFamily="34" charset="-122"/>
                <a:cs typeface="Arial" pitchFamily="34" charset="-120"/>
              </a:rPr>
              <a:t>hard-of-hearing and late-deafened adults at a hearing family's table.</a:t>
            </a:r>
            <a:endParaRPr lang="en-US" sz="2000" dirty="0"/>
          </a:p>
        </p:txBody>
      </p:sp>
      <p:sp>
        <p:nvSpPr>
          <p:cNvPr id="7" name="Text 4"/>
          <p:cNvSpPr/>
          <p:nvPr/>
        </p:nvSpPr>
        <p:spPr>
          <a:xfrm>
            <a:off x="548640" y="2624328"/>
            <a:ext cx="1417320" cy="320040"/>
          </a:xfrm>
          <a:prstGeom prst="rect">
            <a:avLst/>
          </a:prstGeom>
          <a:noFill/>
          <a:ln/>
        </p:spPr>
        <p:txBody>
          <a:bodyPr wrap="square" lIns="0" tIns="0" rIns="0" bIns="0" rtlCol="0" anchor="t"/>
          <a:lstStyle/>
          <a:p>
            <a:pPr indent="0" marL="0">
              <a:buNone/>
            </a:pPr>
            <a:r>
              <a:rPr lang="en-US" sz="1300" b="1" spc="200" kern="0" dirty="0">
                <a:solidFill>
                  <a:srgbClr val="A89B8A"/>
                </a:solidFill>
                <a:latin typeface="Arial" pitchFamily="34" charset="0"/>
                <a:ea typeface="Arial" pitchFamily="34" charset="-122"/>
                <a:cs typeface="Arial" pitchFamily="34" charset="-120"/>
              </a:rPr>
              <a:t>NOT FOR</a:t>
            </a:r>
            <a:endParaRPr lang="en-US" sz="1300" dirty="0"/>
          </a:p>
        </p:txBody>
      </p:sp>
      <p:sp>
        <p:nvSpPr>
          <p:cNvPr id="8" name="Text 5"/>
          <p:cNvSpPr/>
          <p:nvPr/>
        </p:nvSpPr>
        <p:spPr>
          <a:xfrm>
            <a:off x="2011680" y="2587752"/>
            <a:ext cx="4572000" cy="777240"/>
          </a:xfrm>
          <a:prstGeom prst="rect">
            <a:avLst/>
          </a:prstGeom>
          <a:noFill/>
          <a:ln/>
        </p:spPr>
        <p:txBody>
          <a:bodyPr wrap="square" lIns="0" tIns="0" rIns="0" bIns="0" rtlCol="0" anchor="t"/>
          <a:lstStyle/>
          <a:p>
            <a:pPr indent="0" marL="0">
              <a:buNone/>
            </a:pPr>
            <a:r>
              <a:rPr lang="en-US" sz="2000" dirty="0">
                <a:solidFill>
                  <a:srgbClr val="F1E9DD"/>
                </a:solidFill>
                <a:latin typeface="Arial" pitchFamily="34" charset="0"/>
                <a:ea typeface="Arial" pitchFamily="34" charset="-122"/>
                <a:cs typeface="Arial" pitchFamily="34" charset="-120"/>
              </a:rPr>
              <a:t>sign-first Deaf users.</a:t>
            </a:r>
            <a:endParaRPr lang="en-US" sz="2000" dirty="0"/>
          </a:p>
        </p:txBody>
      </p:sp>
      <p:sp>
        <p:nvSpPr>
          <p:cNvPr id="9" name="Text 6"/>
          <p:cNvSpPr/>
          <p:nvPr/>
        </p:nvSpPr>
        <p:spPr>
          <a:xfrm>
            <a:off x="548640" y="3520440"/>
            <a:ext cx="1417320" cy="320040"/>
          </a:xfrm>
          <a:prstGeom prst="rect">
            <a:avLst/>
          </a:prstGeom>
          <a:noFill/>
          <a:ln/>
        </p:spPr>
        <p:txBody>
          <a:bodyPr wrap="square" lIns="0" tIns="0" rIns="0" bIns="0" rtlCol="0" anchor="t"/>
          <a:lstStyle/>
          <a:p>
            <a:pPr indent="0" marL="0">
              <a:buNone/>
            </a:pPr>
            <a:r>
              <a:rPr lang="en-US" sz="1300" b="1" spc="200" kern="0" dirty="0">
                <a:solidFill>
                  <a:srgbClr val="A89B8A"/>
                </a:solidFill>
                <a:latin typeface="Arial" pitchFamily="34" charset="0"/>
                <a:ea typeface="Arial" pitchFamily="34" charset="-122"/>
                <a:cs typeface="Arial" pitchFamily="34" charset="-120"/>
              </a:rPr>
              <a:t>TESTED</a:t>
            </a:r>
            <a:endParaRPr lang="en-US" sz="1300" dirty="0"/>
          </a:p>
        </p:txBody>
      </p:sp>
      <p:sp>
        <p:nvSpPr>
          <p:cNvPr id="10" name="Text 7"/>
          <p:cNvSpPr/>
          <p:nvPr/>
        </p:nvSpPr>
        <p:spPr>
          <a:xfrm>
            <a:off x="2011680" y="3483864"/>
            <a:ext cx="4572000" cy="777240"/>
          </a:xfrm>
          <a:prstGeom prst="rect">
            <a:avLst/>
          </a:prstGeom>
          <a:noFill/>
          <a:ln/>
        </p:spPr>
        <p:txBody>
          <a:bodyPr wrap="square" lIns="0" tIns="0" rIns="0" bIns="0" rtlCol="0" anchor="t"/>
          <a:lstStyle/>
          <a:p>
            <a:pPr indent="0" marL="0">
              <a:buNone/>
            </a:pPr>
            <a:r>
              <a:rPr lang="en-US" sz="2000" dirty="0">
                <a:solidFill>
                  <a:srgbClr val="F1E9DD"/>
                </a:solidFill>
                <a:latin typeface="Arial" pitchFamily="34" charset="0"/>
                <a:ea typeface="Arial" pitchFamily="34" charset="-122"/>
                <a:cs typeface="Arial" pitchFamily="34" charset="-120"/>
              </a:rPr>
              <a:t>not yet with a hard-of-hearing user.</a:t>
            </a:r>
            <a:endParaRPr lang="en-US" sz="2000" dirty="0"/>
          </a:p>
        </p:txBody>
      </p:sp>
      <p:sp>
        <p:nvSpPr>
          <p:cNvPr id="11" name="Text 8"/>
          <p:cNvSpPr/>
          <p:nvPr/>
        </p:nvSpPr>
        <p:spPr>
          <a:xfrm>
            <a:off x="548640" y="4416552"/>
            <a:ext cx="1417320" cy="320040"/>
          </a:xfrm>
          <a:prstGeom prst="rect">
            <a:avLst/>
          </a:prstGeom>
          <a:noFill/>
          <a:ln/>
        </p:spPr>
        <p:txBody>
          <a:bodyPr wrap="square" lIns="0" tIns="0" rIns="0" bIns="0" rtlCol="0" anchor="t"/>
          <a:lstStyle/>
          <a:p>
            <a:pPr indent="0" marL="0">
              <a:buNone/>
            </a:pPr>
            <a:r>
              <a:rPr lang="en-US" sz="1300" b="1" spc="200" kern="0" dirty="0">
                <a:solidFill>
                  <a:srgbClr val="A89B8A"/>
                </a:solidFill>
                <a:latin typeface="Arial" pitchFamily="34" charset="0"/>
                <a:ea typeface="Arial" pitchFamily="34" charset="-122"/>
                <a:cs typeface="Arial" pitchFamily="34" charset="-120"/>
              </a:rPr>
              <a:t>REACH</a:t>
            </a:r>
            <a:endParaRPr lang="en-US" sz="1300" dirty="0"/>
          </a:p>
        </p:txBody>
      </p:sp>
      <p:sp>
        <p:nvSpPr>
          <p:cNvPr id="12" name="Text 9"/>
          <p:cNvSpPr/>
          <p:nvPr/>
        </p:nvSpPr>
        <p:spPr>
          <a:xfrm>
            <a:off x="2011680" y="4379976"/>
            <a:ext cx="4572000" cy="777240"/>
          </a:xfrm>
          <a:prstGeom prst="rect">
            <a:avLst/>
          </a:prstGeom>
          <a:noFill/>
          <a:ln/>
        </p:spPr>
        <p:txBody>
          <a:bodyPr wrap="square" lIns="0" tIns="0" rIns="0" bIns="0" rtlCol="0" anchor="t"/>
          <a:lstStyle/>
          <a:p>
            <a:pPr indent="0" marL="0">
              <a:buNone/>
            </a:pPr>
            <a:r>
              <a:rPr lang="en-US" sz="2000" dirty="0">
                <a:solidFill>
                  <a:srgbClr val="F1E9DD"/>
                </a:solidFill>
                <a:latin typeface="Arial" pitchFamily="34" charset="0"/>
                <a:ea typeface="Arial" pitchFamily="34" charset="-122"/>
                <a:cs typeface="Arial" pitchFamily="34" charset="-120"/>
              </a:rPr>
              <a:t>~10M in the EU could use it. Tonight it reaches tens.</a:t>
            </a:r>
            <a:endParaRPr lang="en-US" sz="2000" dirty="0"/>
          </a:p>
        </p:txBody>
      </p:sp>
      <p:sp>
        <p:nvSpPr>
          <p:cNvPr id="13" name="Text 10"/>
          <p:cNvSpPr/>
          <p:nvPr/>
        </p:nvSpPr>
        <p:spPr>
          <a:xfrm>
            <a:off x="548640" y="5312664"/>
            <a:ext cx="1417320" cy="320040"/>
          </a:xfrm>
          <a:prstGeom prst="rect">
            <a:avLst/>
          </a:prstGeom>
          <a:noFill/>
          <a:ln/>
        </p:spPr>
        <p:txBody>
          <a:bodyPr wrap="square" lIns="0" tIns="0" rIns="0" bIns="0" rtlCol="0" anchor="t"/>
          <a:lstStyle/>
          <a:p>
            <a:pPr indent="0" marL="0">
              <a:buNone/>
            </a:pPr>
            <a:r>
              <a:rPr lang="en-US" sz="1300" b="1" spc="200" kern="0" dirty="0">
                <a:solidFill>
                  <a:srgbClr val="7FB4FF"/>
                </a:solidFill>
                <a:latin typeface="Arial" pitchFamily="34" charset="0"/>
                <a:ea typeface="Arial" pitchFamily="34" charset="-122"/>
                <a:cs typeface="Arial" pitchFamily="34" charset="-120"/>
              </a:rPr>
              <a:t>NEXT</a:t>
            </a:r>
            <a:endParaRPr lang="en-US" sz="1300" dirty="0"/>
          </a:p>
        </p:txBody>
      </p:sp>
      <p:sp>
        <p:nvSpPr>
          <p:cNvPr id="14" name="Text 11"/>
          <p:cNvSpPr/>
          <p:nvPr/>
        </p:nvSpPr>
        <p:spPr>
          <a:xfrm>
            <a:off x="2011680" y="5276088"/>
            <a:ext cx="4572000" cy="777240"/>
          </a:xfrm>
          <a:prstGeom prst="rect">
            <a:avLst/>
          </a:prstGeom>
          <a:noFill/>
          <a:ln/>
        </p:spPr>
        <p:txBody>
          <a:bodyPr wrap="square" lIns="0" tIns="0" rIns="0" bIns="0" rtlCol="0" anchor="t"/>
          <a:lstStyle/>
          <a:p>
            <a:pPr indent="0" marL="0">
              <a:buNone/>
            </a:pPr>
            <a:r>
              <a:rPr lang="en-US" sz="2000" dirty="0">
                <a:solidFill>
                  <a:srgbClr val="F1E9DD"/>
                </a:solidFill>
                <a:latin typeface="Arial" pitchFamily="34" charset="0"/>
                <a:ea typeface="Arial" pitchFamily="34" charset="-122"/>
                <a:cs typeface="Arial" pitchFamily="34" charset="-120"/>
              </a:rPr>
              <a:t>HoH user tests, a table mode for 65+, glasses as a display.</a:t>
            </a:r>
            <a:endParaRPr lang="en-US" sz="2000" dirty="0"/>
          </a:p>
        </p:txBody>
      </p:sp>
      <p:pic>
        <p:nvPicPr>
          <p:cNvPr id="15" name="Image 0" descr="/Users/bera/Documents/GitHub/bainsahack/pitch/build/assets/chair.png">    </p:cNvPr>
          <p:cNvPicPr>
            <a:picLocks noChangeAspect="1"/>
          </p:cNvPicPr>
          <p:nvPr/>
        </p:nvPicPr>
        <p:blipFill>
          <a:blip r:embed="rId1"/>
          <a:stretch>
            <a:fillRect/>
          </a:stretch>
        </p:blipFill>
        <p:spPr>
          <a:xfrm>
            <a:off x="548640" y="5989320"/>
            <a:ext cx="685800" cy="685800"/>
          </a:xfrm>
          <a:prstGeom prst="rect">
            <a:avLst/>
          </a:prstGeom>
        </p:spPr>
      </p:pic>
      <p:sp>
        <p:nvSpPr>
          <p:cNvPr id="16" name="Shape 12"/>
          <p:cNvSpPr/>
          <p:nvPr/>
        </p:nvSpPr>
        <p:spPr>
          <a:xfrm>
            <a:off x="6675120" y="411480"/>
            <a:ext cx="5150815" cy="6080760"/>
          </a:xfrm>
          <a:prstGeom prst="rect">
            <a:avLst/>
          </a:prstGeom>
          <a:solidFill>
            <a:srgbClr val="211B16"/>
          </a:solidFill>
          <a:ln w="9525">
            <a:solidFill>
              <a:srgbClr val="3A3029"/>
            </a:solidFill>
            <a:prstDash val="solid"/>
          </a:ln>
        </p:spPr>
      </p:sp>
      <p:sp>
        <p:nvSpPr>
          <p:cNvPr id="17" name="Text 13"/>
          <p:cNvSpPr/>
          <p:nvPr/>
        </p:nvSpPr>
        <p:spPr>
          <a:xfrm>
            <a:off x="6903720" y="594360"/>
            <a:ext cx="4739335" cy="274320"/>
          </a:xfrm>
          <a:prstGeom prst="rect">
            <a:avLst/>
          </a:prstGeom>
          <a:noFill/>
          <a:ln/>
        </p:spPr>
        <p:txBody>
          <a:bodyPr wrap="square" lIns="0" tIns="0" rIns="0" bIns="0" rtlCol="0" anchor="ctr"/>
          <a:lstStyle/>
          <a:p>
            <a:pPr indent="0" marL="0">
              <a:buNone/>
            </a:pPr>
            <a:r>
              <a:rPr lang="en-US" sz="1300" b="1" spc="300" kern="0" dirty="0">
                <a:solidFill>
                  <a:srgbClr val="A89B8A"/>
                </a:solidFill>
                <a:latin typeface="Arial" pitchFamily="34" charset="0"/>
                <a:ea typeface="Arial" pitchFamily="34" charset="-122"/>
                <a:cs typeface="Arial" pitchFamily="34" charset="-120"/>
              </a:rPr>
              <a:t>SOURCES</a:t>
            </a:r>
            <a:endParaRPr lang="en-US" sz="1300" dirty="0"/>
          </a:p>
        </p:txBody>
      </p:sp>
      <p:sp>
        <p:nvSpPr>
          <p:cNvPr id="18" name="Text 14"/>
          <p:cNvSpPr/>
          <p:nvPr/>
        </p:nvSpPr>
        <p:spPr>
          <a:xfrm>
            <a:off x="6903720" y="960120"/>
            <a:ext cx="4739335" cy="5394960"/>
          </a:xfrm>
          <a:prstGeom prst="rect">
            <a:avLst/>
          </a:prstGeom>
          <a:noFill/>
          <a:ln/>
        </p:spPr>
        <p:txBody>
          <a:bodyPr wrap="square" lIns="0" tIns="0" rIns="0" bIns="0" rtlCol="0" anchor="t"/>
          <a:lstStyle/>
          <a:p>
            <a:pPr indent="0" marL="0">
              <a:buNone/>
            </a:pPr>
            <a:r>
              <a:rPr lang="en-US" sz="1300" dirty="0">
                <a:solidFill>
                  <a:srgbClr val="F1E9DD"/>
                </a:solidFill>
                <a:latin typeface="Arial" pitchFamily="34" charset="0"/>
                <a:ea typeface="Arial" pitchFamily="34" charset="-122"/>
                <a:cs typeface="Arial" pitchFamily="34" charset="-120"/>
              </a:rPr>
              <a:t>1  AEA / EFHOH / EHIMA (EuroTrak), Getting the numbers right on hearing loss in Europe, 2024</a:t>
            </a:r>
            <a:endParaRPr lang="en-US" sz="1300" dirty="0"/>
          </a:p>
          <a:p>
            <a:pPr indent="0" marL="0">
              <a:spcAft>
                <a:spcPts val="800"/>
              </a:spcAft>
              <a:buNone/>
            </a:pPr>
            <a:r>
              <a:rPr lang="en-US" sz="1050" u="sng" dirty="0">
                <a:solidFill>
                  <a:srgbClr val="7FB4FF"/>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https://www.ehima.com/wp-content/uploads/2024/03/Getting-the-numbers-right-on-Hearing-Loss-Hearing-Care-and-Hearing-Aid-Use-in-Europe-2024.pdf</a:t>
            </a:r>
            <a:endParaRPr lang="en-US" sz="1300" dirty="0"/>
          </a:p>
          <a:p>
            <a:pPr indent="0" marL="0">
              <a:buNone/>
            </a:pPr>
            <a:r>
              <a:rPr lang="en-US" sz="1300" dirty="0">
                <a:solidFill>
                  <a:srgbClr val="F1E9DD"/>
                </a:solidFill>
                <a:latin typeface="Arial" pitchFamily="34" charset="0"/>
                <a:ea typeface="Arial" pitchFamily="34" charset="-122"/>
                <a:cs typeface="Arial" pitchFamily="34" charset="-120"/>
              </a:rPr>
              <a:t>2  EHIMA / Anovum, EuroTrak Italy 2022</a:t>
            </a:r>
            <a:endParaRPr lang="en-US" sz="1300" dirty="0"/>
          </a:p>
          <a:p>
            <a:pPr indent="0" marL="0">
              <a:spcAft>
                <a:spcPts val="800"/>
              </a:spcAft>
              <a:buNone/>
            </a:pPr>
            <a:r>
              <a:rPr lang="en-US" sz="1050" u="sng" dirty="0">
                <a:solidFill>
                  <a:srgbClr val="7FB4FF"/>
                </a:solidFill>
                <a:latin typeface="Arial" pitchFamily="34" charset="0"/>
                <a:ea typeface="Arial" pitchFamily="34" charset="-122"/>
                <a:cs typeface="Arial"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https://www.ehima.com/wp-content/uploads/2022/11/EuroTrak_Italy_2022.pdf</a:t>
            </a:r>
            <a:endParaRPr lang="en-US" sz="1300" dirty="0"/>
          </a:p>
          <a:p>
            <a:pPr indent="0" marL="0">
              <a:spcAft>
                <a:spcPts val="700"/>
              </a:spcAft>
              <a:buNone/>
            </a:pPr>
            <a:r>
              <a:rPr lang="en-US" sz="1300" dirty="0">
                <a:solidFill>
                  <a:srgbClr val="F1E9DD"/>
                </a:solidFill>
                <a:latin typeface="Arial" pitchFamily="34" charset="0"/>
                <a:ea typeface="Arial" pitchFamily="34" charset="-122"/>
                <a:cs typeface="Arial" pitchFamily="34" charset="-120"/>
              </a:rPr>
              <a:t>3  Live-caption quality and reading-speed metrics (51.9%, 170 wpm), via NotebookLM synthesis, research/05</a:t>
            </a:r>
            <a:endParaRPr lang="en-US" sz="1300" dirty="0"/>
          </a:p>
          <a:p>
            <a:pPr indent="0" marL="0">
              <a:buNone/>
            </a:pPr>
            <a:r>
              <a:rPr lang="en-US" sz="1300" dirty="0">
                <a:solidFill>
                  <a:srgbClr val="F1E9DD"/>
                </a:solidFill>
                <a:latin typeface="Arial" pitchFamily="34" charset="0"/>
                <a:ea typeface="Arial" pitchFamily="34" charset="-122"/>
                <a:cs typeface="Arial" pitchFamily="34" charset="-120"/>
              </a:rPr>
              <a:t>4  Non-speech information in captions, EEG study, PMC7040021; May et al. 2025</a:t>
            </a:r>
            <a:endParaRPr lang="en-US" sz="1300" dirty="0"/>
          </a:p>
          <a:p>
            <a:pPr indent="0" marL="0">
              <a:spcAft>
                <a:spcPts val="800"/>
              </a:spcAft>
              <a:buNone/>
            </a:pPr>
            <a:r>
              <a:rPr lang="en-US" sz="1050" u="sng" dirty="0">
                <a:solidFill>
                  <a:srgbClr val="7FB4FF"/>
                </a:solidFill>
                <a:latin typeface="Arial" pitchFamily="34" charset="0"/>
                <a:ea typeface="Arial" pitchFamily="34" charset="-122"/>
                <a:cs typeface="Arial"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https://pmc.ncbi.nlm.nih.gov/articles/PMC7040021/</a:t>
            </a:r>
            <a:endParaRPr lang="en-US" sz="1300" dirty="0"/>
          </a:p>
          <a:p>
            <a:pPr indent="0" marL="0">
              <a:buNone/>
            </a:pPr>
            <a:r>
              <a:rPr lang="en-US" sz="1300" dirty="0">
                <a:solidFill>
                  <a:srgbClr val="F1E9DD"/>
                </a:solidFill>
                <a:latin typeface="Arial" pitchFamily="34" charset="0"/>
                <a:ea typeface="Arial" pitchFamily="34" charset="-122"/>
                <a:cs typeface="Arial" pitchFamily="34" charset="-120"/>
              </a:rPr>
              <a:t>5  Mitchell &amp; Karchmer 2004, Sign Language Studies 4(2), US data</a:t>
            </a:r>
            <a:endParaRPr lang="en-US" sz="1300" dirty="0"/>
          </a:p>
          <a:p>
            <a:pPr indent="0" marL="0">
              <a:spcAft>
                <a:spcPts val="800"/>
              </a:spcAft>
              <a:buNone/>
            </a:pPr>
            <a:r>
              <a:rPr lang="en-US" sz="1050" u="sng" dirty="0">
                <a:solidFill>
                  <a:srgbClr val="7FB4FF"/>
                </a:solidFill>
                <a:latin typeface="Arial" pitchFamily="34" charset="0"/>
                <a:ea typeface="Arial" pitchFamily="34" charset="-122"/>
                <a:cs typeface="Arial"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https://eric.ed.gov/?id=EJ747626</a:t>
            </a:r>
            <a:endParaRPr lang="en-US" sz="1300" dirty="0"/>
          </a:p>
          <a:p>
            <a:pPr indent="0" marL="0">
              <a:buNone/>
            </a:pPr>
            <a:r>
              <a:rPr lang="en-US" sz="1300" dirty="0">
                <a:solidFill>
                  <a:srgbClr val="F1E9DD"/>
                </a:solidFill>
                <a:latin typeface="Arial" pitchFamily="34" charset="0"/>
                <a:ea typeface="Arial" pitchFamily="34" charset="-122"/>
                <a:cs typeface="Arial" pitchFamily="34" charset="-120"/>
              </a:rPr>
              <a:t>6  Meek 2020, Dinner Table Syndrome, The Qualitative Report 25(6)</a:t>
            </a:r>
            <a:endParaRPr lang="en-US" sz="1300" dirty="0"/>
          </a:p>
          <a:p>
            <a:pPr indent="0" marL="0">
              <a:spcAft>
                <a:spcPts val="800"/>
              </a:spcAft>
              <a:buNone/>
            </a:pPr>
            <a:r>
              <a:rPr lang="en-US" sz="1050" u="sng" dirty="0">
                <a:solidFill>
                  <a:srgbClr val="7FB4FF"/>
                </a:solidFill>
                <a:latin typeface="Arial" pitchFamily="34" charset="0"/>
                <a:ea typeface="Arial" pitchFamily="34" charset="-122"/>
                <a:cs typeface="Arial"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https://nsuworks.nova.edu/tqr/vol25/iss6/16/</a:t>
            </a:r>
            <a:endParaRPr lang="en-US" sz="1300" dirty="0"/>
          </a:p>
          <a:p>
            <a:pPr indent="0" marL="0">
              <a:buNone/>
            </a:pPr>
            <a:r>
              <a:rPr lang="en-US" sz="1300" dirty="0">
                <a:solidFill>
                  <a:srgbClr val="F1E9DD"/>
                </a:solidFill>
                <a:latin typeface="Arial" pitchFamily="34" charset="0"/>
                <a:ea typeface="Arial" pitchFamily="34" charset="-122"/>
                <a:cs typeface="Arial" pitchFamily="34" charset="-120"/>
              </a:rPr>
              <a:t>7  r/deaf and r/hardofhearing threads</a:t>
            </a:r>
            <a:endParaRPr lang="en-US" sz="1300" dirty="0"/>
          </a:p>
          <a:p>
            <a:pPr indent="0" marL="0">
              <a:buNone/>
            </a:pPr>
            <a:r>
              <a:rPr lang="en-US" sz="1050" u="sng" dirty="0">
                <a:solidFill>
                  <a:srgbClr val="7FB4FF"/>
                </a:solidFill>
                <a:latin typeface="Arial" pitchFamily="34" charset="0"/>
                <a:ea typeface="Arial" pitchFamily="34" charset="-122"/>
                <a:cs typeface="Arial"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https://www.reddit.com/r/deaf/comments/n8msyg/</a:t>
            </a:r>
            <a:endParaRPr lang="en-US" sz="1300" dirty="0"/>
          </a:p>
          <a:p>
            <a:pPr indent="0" marL="0">
              <a:buNone/>
            </a:pPr>
            <a:r>
              <a:rPr lang="en-US" sz="1050" u="sng" dirty="0">
                <a:solidFill>
                  <a:srgbClr val="7FB4FF"/>
                </a:solidFill>
                <a:latin typeface="Arial" pitchFamily="34" charset="0"/>
                <a:ea typeface="Arial" pitchFamily="34" charset="-122"/>
                <a:cs typeface="Arial"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https://www.reddit.com/r/deaf/comments/1fh8h7h/</a:t>
            </a:r>
            <a:endParaRPr lang="en-US" sz="1300" dirty="0"/>
          </a:p>
          <a:p>
            <a:pPr indent="0" marL="0">
              <a:buNone/>
            </a:pPr>
            <a:r>
              <a:rPr lang="en-US" sz="1050" u="sng" dirty="0">
                <a:solidFill>
                  <a:srgbClr val="7FB4FF"/>
                </a:solidFill>
                <a:latin typeface="Arial" pitchFamily="34" charset="0"/>
                <a:ea typeface="Arial" pitchFamily="34" charset="-122"/>
                <a:cs typeface="Arial"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https://www.reddit.com/r/deaf/comments/1pqqqbs/</a:t>
            </a:r>
            <a:endParaRPr lang="en-US" sz="1300" dirty="0"/>
          </a:p>
          <a:p>
            <a:pPr indent="0" marL="0">
              <a:spcAft>
                <a:spcPts val="800"/>
              </a:spcAft>
              <a:buNone/>
            </a:pPr>
            <a:r>
              <a:rPr lang="en-US" sz="1050" u="sng" dirty="0">
                <a:solidFill>
                  <a:srgbClr val="7FB4FF"/>
                </a:solidFill>
                <a:latin typeface="Arial" pitchFamily="34" charset="0"/>
                <a:ea typeface="Arial" pitchFamily="34" charset="-122"/>
                <a:cs typeface="Arial"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https://www.reddit.com/r/hardofhearing/comments/1tmpx4t/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 Missed That — BAINSA Hackathon 2026</dc:title>
  <dc:subject>PptxGenJS Presentation</dc:subject>
  <dc:creator>PptxGenJS</dc:creator>
  <cp:lastModifiedBy>PptxGenJS</cp:lastModifiedBy>
  <cp:revision>1</cp:revision>
  <dcterms:created xsi:type="dcterms:W3CDTF">2026-09-26T09:46:01Z</dcterms:created>
  <dcterms:modified xsi:type="dcterms:W3CDTF">2026-09-26T09:46:01Z</dcterms:modified>
</cp:coreProperties>
</file>